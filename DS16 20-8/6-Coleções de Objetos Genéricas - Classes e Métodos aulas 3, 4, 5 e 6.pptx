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7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18" r:id="rId14"/>
    <p:sldId id="265" r:id="rId15"/>
    <p:sldId id="267" r:id="rId16"/>
    <p:sldId id="298" r:id="rId17"/>
    <p:sldId id="266" r:id="rId18"/>
    <p:sldId id="315" r:id="rId19"/>
    <p:sldId id="268" r:id="rId20"/>
    <p:sldId id="304" r:id="rId21"/>
    <p:sldId id="308" r:id="rId22"/>
    <p:sldId id="305" r:id="rId23"/>
    <p:sldId id="306" r:id="rId24"/>
    <p:sldId id="312" r:id="rId25"/>
    <p:sldId id="311" r:id="rId26"/>
    <p:sldId id="309" r:id="rId27"/>
    <p:sldId id="310" r:id="rId28"/>
    <p:sldId id="314" r:id="rId29"/>
    <p:sldId id="319" r:id="rId30"/>
    <p:sldId id="321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316" r:id="rId41"/>
    <p:sldId id="320" r:id="rId42"/>
    <p:sldId id="278" r:id="rId43"/>
    <p:sldId id="279" r:id="rId44"/>
    <p:sldId id="280" r:id="rId45"/>
    <p:sldId id="281" r:id="rId46"/>
    <p:sldId id="282" r:id="rId47"/>
    <p:sldId id="283" r:id="rId48"/>
    <p:sldId id="284" r:id="rId49"/>
    <p:sldId id="285" r:id="rId50"/>
    <p:sldId id="286" r:id="rId51"/>
    <p:sldId id="300" r:id="rId52"/>
    <p:sldId id="287" r:id="rId53"/>
    <p:sldId id="288" r:id="rId54"/>
    <p:sldId id="289" r:id="rId55"/>
    <p:sldId id="290" r:id="rId56"/>
    <p:sldId id="291" r:id="rId57"/>
    <p:sldId id="292" r:id="rId58"/>
    <p:sldId id="313" r:id="rId59"/>
    <p:sldId id="301" r:id="rId60"/>
    <p:sldId id="322" r:id="rId61"/>
    <p:sldId id="302" r:id="rId62"/>
    <p:sldId id="303" r:id="rId63"/>
    <p:sldId id="317" r:id="rId64"/>
    <p:sldId id="295" r:id="rId65"/>
    <p:sldId id="296" r:id="rId66"/>
    <p:sldId id="307" r:id="rId67"/>
    <p:sldId id="297" r:id="rId68"/>
    <p:sldId id="299" r:id="rId69"/>
  </p:sldIdLst>
  <p:sldSz cx="9690100" cy="6845300"/>
  <p:notesSz cx="9690100" cy="68453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0" autoAdjust="0"/>
  </p:normalViewPr>
  <p:slideViewPr>
    <p:cSldViewPr>
      <p:cViewPr varScale="1">
        <p:scale>
          <a:sx n="105" d="100"/>
          <a:sy n="105" d="100"/>
        </p:scale>
        <p:origin x="161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9893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489575" y="0"/>
            <a:ext cx="4198938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9E5E9-6BEC-4820-8C66-5FF8ADDC50C2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209925" y="855663"/>
            <a:ext cx="3270250" cy="2309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68375" y="3294063"/>
            <a:ext cx="7753350" cy="2695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419893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489575" y="6502400"/>
            <a:ext cx="4198938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04976-C2B0-4856-B068-23F6863800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982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D04976-C2B0-4856-B068-23F68638005A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640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6757" y="2122043"/>
            <a:ext cx="8236585" cy="1437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53515" y="3833368"/>
            <a:ext cx="6783070" cy="1711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4505" y="1574419"/>
            <a:ext cx="4215193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990401" y="1574419"/>
            <a:ext cx="4215193" cy="45178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685020" cy="68412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1964" y="396061"/>
            <a:ext cx="852617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1891" y="3130422"/>
            <a:ext cx="5846317" cy="1671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94634" y="6366129"/>
            <a:ext cx="3100832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84505" y="6366129"/>
            <a:ext cx="2228723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976872" y="6366129"/>
            <a:ext cx="2228723" cy="342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2025650" y="1517650"/>
            <a:ext cx="5846317" cy="1671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Aula</a:t>
            </a:r>
            <a:r>
              <a:rPr spc="-45" dirty="0"/>
              <a:t> </a:t>
            </a:r>
            <a:endParaRPr dirty="0"/>
          </a:p>
          <a:p>
            <a:pPr marL="8255" marR="5080" algn="ctr">
              <a:lnSpc>
                <a:spcPct val="100000"/>
              </a:lnSpc>
            </a:pPr>
            <a:r>
              <a:rPr spc="-5" dirty="0"/>
              <a:t>Coleções </a:t>
            </a:r>
            <a:r>
              <a:rPr dirty="0"/>
              <a:t>de </a:t>
            </a:r>
            <a:r>
              <a:rPr spc="-10" dirty="0"/>
              <a:t>Objetos </a:t>
            </a:r>
            <a:r>
              <a:rPr spc="-5" dirty="0"/>
              <a:t>Genéricas </a:t>
            </a:r>
            <a:r>
              <a:rPr spc="-800" dirty="0"/>
              <a:t> </a:t>
            </a:r>
            <a:r>
              <a:rPr spc="-5" dirty="0"/>
              <a:t>Classes</a:t>
            </a:r>
            <a:r>
              <a:rPr spc="-30" dirty="0"/>
              <a:t> </a:t>
            </a:r>
            <a:r>
              <a:rPr dirty="0"/>
              <a:t>e</a:t>
            </a:r>
            <a:r>
              <a:rPr spc="-10" dirty="0"/>
              <a:t> Métodos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402411"/>
            <a:ext cx="2076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Conteúdo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110267"/>
            <a:ext cx="5253686" cy="514794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3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800" spc="-10" dirty="0">
                <a:latin typeface="Calibri"/>
                <a:cs typeface="Calibri"/>
              </a:rPr>
              <a:t>Coleções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Objetos</a:t>
            </a:r>
            <a:endParaRPr sz="28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2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600" spc="-15" dirty="0">
                <a:latin typeface="Calibri"/>
                <a:cs typeface="Calibri"/>
              </a:rPr>
              <a:t>Listas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Objetos</a:t>
            </a:r>
            <a:endParaRPr sz="26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10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15" dirty="0">
                <a:latin typeface="Calibri"/>
                <a:cs typeface="Calibri"/>
              </a:rPr>
              <a:t>ArrayList</a:t>
            </a:r>
            <a:endParaRPr sz="24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00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15" dirty="0">
                <a:latin typeface="Calibri"/>
                <a:cs typeface="Calibri"/>
              </a:rPr>
              <a:t>LinkedList</a:t>
            </a:r>
            <a:endParaRPr sz="24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9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600" spc="-10" dirty="0">
                <a:latin typeface="Calibri"/>
                <a:cs typeface="Calibri"/>
              </a:rPr>
              <a:t>Conjuntos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Objetos</a:t>
            </a:r>
            <a:r>
              <a:rPr lang="pt-BR" sz="2600" spc="-10" dirty="0">
                <a:latin typeface="Calibri"/>
                <a:cs typeface="Calibri"/>
              </a:rPr>
              <a:t> (SET)</a:t>
            </a:r>
            <a:endParaRPr sz="26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10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5" dirty="0">
                <a:latin typeface="Calibri"/>
                <a:cs typeface="Calibri"/>
              </a:rPr>
              <a:t>HashSet</a:t>
            </a:r>
            <a:endParaRPr sz="24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00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30" dirty="0">
                <a:latin typeface="Calibri"/>
                <a:cs typeface="Calibri"/>
              </a:rPr>
              <a:t>TreeSet</a:t>
            </a:r>
            <a:endParaRPr sz="24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9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600" dirty="0">
                <a:latin typeface="Calibri"/>
                <a:cs typeface="Calibri"/>
              </a:rPr>
              <a:t>Mapas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 err="1">
                <a:latin typeface="Calibri"/>
                <a:cs typeface="Calibri"/>
              </a:rPr>
              <a:t>Objetos</a:t>
            </a:r>
            <a:r>
              <a:rPr lang="pt-BR" sz="2600" spc="-10" dirty="0">
                <a:latin typeface="Calibri"/>
                <a:cs typeface="Calibri"/>
              </a:rPr>
              <a:t> (Chave, valor)</a:t>
            </a:r>
            <a:endParaRPr sz="26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05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5" dirty="0">
                <a:latin typeface="Calibri"/>
                <a:cs typeface="Calibri"/>
              </a:rPr>
              <a:t>HashMap</a:t>
            </a:r>
            <a:endParaRPr sz="2400" dirty="0">
              <a:latin typeface="Calibri"/>
              <a:cs typeface="Calibri"/>
            </a:endParaRPr>
          </a:p>
          <a:p>
            <a:pPr marL="1278890" lvl="2" indent="-352425">
              <a:lnSpc>
                <a:spcPct val="100000"/>
              </a:lnSpc>
              <a:spcBef>
                <a:spcPts val="900"/>
              </a:spcBef>
              <a:buClr>
                <a:srgbClr val="204F52"/>
              </a:buClr>
              <a:buFont typeface="Symbol"/>
              <a:buChar char=""/>
              <a:tabLst>
                <a:tab pos="1278890" algn="l"/>
                <a:tab pos="1279525" algn="l"/>
              </a:tabLst>
            </a:pPr>
            <a:r>
              <a:rPr sz="2400" spc="-30" dirty="0">
                <a:latin typeface="Calibri"/>
                <a:cs typeface="Calibri"/>
              </a:rPr>
              <a:t>TreeMap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189678"/>
            <a:ext cx="8755380" cy="5209760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32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lang="pt-BR" sz="2450" i="1" spc="-5" dirty="0" err="1">
                <a:latin typeface="Calibri"/>
                <a:cs typeface="Calibri"/>
              </a:rPr>
              <a:t>Arrays</a:t>
            </a:r>
            <a:r>
              <a:rPr lang="pt-BR" sz="2450" i="1" spc="-5" dirty="0">
                <a:latin typeface="Calibri"/>
                <a:cs typeface="Calibri"/>
              </a:rPr>
              <a:t> </a:t>
            </a:r>
            <a:r>
              <a:rPr lang="pt-BR" sz="2450" spc="-5" dirty="0">
                <a:latin typeface="Calibri"/>
                <a:cs typeface="Calibri"/>
              </a:rPr>
              <a:t>são</a:t>
            </a:r>
            <a:r>
              <a:rPr lang="pt-BR" sz="2450" dirty="0">
                <a:latin typeface="Calibri"/>
                <a:cs typeface="Calibri"/>
              </a:rPr>
              <a:t> </a:t>
            </a:r>
            <a:r>
              <a:rPr lang="pt-BR" sz="2450" spc="-10" dirty="0">
                <a:latin typeface="Calibri"/>
                <a:cs typeface="Calibri"/>
              </a:rPr>
              <a:t>muito</a:t>
            </a:r>
            <a:r>
              <a:rPr lang="pt-BR" sz="2450" spc="15" dirty="0">
                <a:latin typeface="Calibri"/>
                <a:cs typeface="Calibri"/>
              </a:rPr>
              <a:t> </a:t>
            </a:r>
            <a:r>
              <a:rPr lang="pt-BR" sz="2450" spc="-10" dirty="0">
                <a:latin typeface="Calibri"/>
                <a:cs typeface="Calibri"/>
              </a:rPr>
              <a:t>úteis,</a:t>
            </a:r>
            <a:r>
              <a:rPr lang="pt-BR" sz="2450" spc="10" dirty="0">
                <a:latin typeface="Calibri"/>
                <a:cs typeface="Calibri"/>
              </a:rPr>
              <a:t> </a:t>
            </a:r>
            <a:r>
              <a:rPr lang="pt-BR" sz="2450" spc="-15" dirty="0">
                <a:latin typeface="Calibri"/>
                <a:cs typeface="Calibri"/>
              </a:rPr>
              <a:t>porém</a:t>
            </a:r>
            <a:r>
              <a:rPr lang="pt-BR" sz="2450" spc="5" dirty="0">
                <a:latin typeface="Calibri"/>
                <a:cs typeface="Calibri"/>
              </a:rPr>
              <a:t> </a:t>
            </a:r>
            <a:r>
              <a:rPr lang="pt-BR" sz="2450" spc="-10" dirty="0">
                <a:latin typeface="Calibri"/>
                <a:cs typeface="Calibri"/>
              </a:rPr>
              <a:t>têm</a:t>
            </a:r>
            <a:r>
              <a:rPr lang="pt-BR" sz="2450" spc="15" dirty="0">
                <a:latin typeface="Calibri"/>
                <a:cs typeface="Calibri"/>
              </a:rPr>
              <a:t> </a:t>
            </a:r>
            <a:r>
              <a:rPr lang="pt-BR" sz="2450" spc="-5" dirty="0">
                <a:latin typeface="Calibri"/>
                <a:cs typeface="Calibri"/>
              </a:rPr>
              <a:t>algumas</a:t>
            </a:r>
            <a:r>
              <a:rPr lang="pt-BR" sz="2450" spc="5" dirty="0">
                <a:latin typeface="Calibri"/>
                <a:cs typeface="Calibri"/>
              </a:rPr>
              <a:t> </a:t>
            </a:r>
            <a:r>
              <a:rPr lang="pt-BR" sz="2450" spc="-10" dirty="0">
                <a:latin typeface="Calibri"/>
                <a:cs typeface="Calibri"/>
              </a:rPr>
              <a:t>limitações:</a:t>
            </a:r>
            <a:endParaRPr lang="pt-BR" sz="245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lang="pt-BR" sz="2400" dirty="0">
                <a:latin typeface="Calibri"/>
                <a:cs typeface="Calibri"/>
              </a:rPr>
              <a:t>Não</a:t>
            </a:r>
            <a:r>
              <a:rPr lang="pt-BR" sz="2400" spc="-5" dirty="0">
                <a:latin typeface="Calibri"/>
                <a:cs typeface="Calibri"/>
              </a:rPr>
              <a:t> </a:t>
            </a:r>
            <a:r>
              <a:rPr lang="pt-BR" sz="2400" dirty="0">
                <a:latin typeface="Calibri"/>
                <a:cs typeface="Calibri"/>
              </a:rPr>
              <a:t>é </a:t>
            </a:r>
            <a:r>
              <a:rPr lang="pt-BR" sz="2400" spc="-10" dirty="0">
                <a:latin typeface="Calibri"/>
                <a:cs typeface="Calibri"/>
              </a:rPr>
              <a:t>possível</a:t>
            </a:r>
            <a:r>
              <a:rPr lang="pt-BR" sz="2400" spc="10" dirty="0">
                <a:latin typeface="Calibri"/>
                <a:cs typeface="Calibri"/>
              </a:rPr>
              <a:t> 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aumentar</a:t>
            </a:r>
            <a:r>
              <a:rPr lang="pt-BR" sz="24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spc="-5" dirty="0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spc="-5" dirty="0">
                <a:solidFill>
                  <a:srgbClr val="FF0000"/>
                </a:solidFill>
                <a:latin typeface="Calibri"/>
                <a:cs typeface="Calibri"/>
              </a:rPr>
              <a:t>diminuir</a:t>
            </a:r>
            <a:r>
              <a:rPr lang="pt-BR"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spc="-5" dirty="0">
                <a:solidFill>
                  <a:srgbClr val="FF0000"/>
                </a:solidFill>
                <a:latin typeface="Calibri"/>
                <a:cs typeface="Calibri"/>
              </a:rPr>
              <a:t>seu 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tamanho</a:t>
            </a:r>
            <a:r>
              <a:rPr lang="pt-BR" sz="2400" spc="-10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lang="pt-BR" sz="2400" dirty="0">
                <a:latin typeface="Calibri"/>
                <a:cs typeface="Calibri"/>
              </a:rPr>
              <a:t>A</a:t>
            </a:r>
            <a:r>
              <a:rPr lang="pt-BR" sz="2400" spc="-25" dirty="0">
                <a:latin typeface="Calibri"/>
                <a:cs typeface="Calibri"/>
              </a:rPr>
              <a:t> </a:t>
            </a:r>
            <a:r>
              <a:rPr lang="pt-BR" sz="2400" spc="-10" dirty="0">
                <a:latin typeface="Calibri"/>
                <a:cs typeface="Calibri"/>
              </a:rPr>
              <a:t>ordenação dos</a:t>
            </a:r>
            <a:r>
              <a:rPr lang="pt-BR" sz="2400" spc="-5" dirty="0">
                <a:latin typeface="Calibri"/>
                <a:cs typeface="Calibri"/>
              </a:rPr>
              <a:t> elementos</a:t>
            </a:r>
            <a:r>
              <a:rPr lang="pt-BR" sz="2400" spc="-30" dirty="0">
                <a:latin typeface="Calibri"/>
                <a:cs typeface="Calibri"/>
              </a:rPr>
              <a:t> </a:t>
            </a:r>
            <a:r>
              <a:rPr lang="pt-BR" sz="2400" spc="-5" dirty="0">
                <a:latin typeface="Calibri"/>
                <a:cs typeface="Calibri"/>
              </a:rPr>
              <a:t>de</a:t>
            </a:r>
            <a:r>
              <a:rPr lang="pt-BR" sz="2400" spc="-15" dirty="0">
                <a:latin typeface="Calibri"/>
                <a:cs typeface="Calibri"/>
              </a:rPr>
              <a:t> </a:t>
            </a:r>
            <a:r>
              <a:rPr lang="pt-BR" sz="2400" spc="-5" dirty="0">
                <a:latin typeface="Calibri"/>
                <a:cs typeface="Calibri"/>
              </a:rPr>
              <a:t>um</a:t>
            </a:r>
            <a:r>
              <a:rPr lang="pt-BR" sz="2400" spc="15" dirty="0">
                <a:latin typeface="Calibri"/>
                <a:cs typeface="Calibri"/>
              </a:rPr>
              <a:t> </a:t>
            </a:r>
            <a:r>
              <a:rPr lang="pt-BR" sz="2400" i="1" dirty="0" err="1">
                <a:solidFill>
                  <a:srgbClr val="FF0000"/>
                </a:solidFill>
                <a:latin typeface="Calibri"/>
                <a:cs typeface="Calibri"/>
              </a:rPr>
              <a:t>array</a:t>
            </a:r>
            <a:r>
              <a:rPr lang="pt-BR" sz="2400" i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spc="-5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pt-BR" sz="2400" spc="-5" dirty="0">
                <a:solidFill>
                  <a:srgbClr val="FF0000"/>
                </a:solidFill>
                <a:latin typeface="Calibri"/>
                <a:cs typeface="Calibri"/>
              </a:rPr>
              <a:t>simples</a:t>
            </a:r>
            <a:r>
              <a:rPr lang="pt-BR" sz="2400" spc="-5" dirty="0">
                <a:latin typeface="Calibri"/>
                <a:cs typeface="Calibri"/>
              </a:rPr>
              <a:t>.</a:t>
            </a:r>
            <a:endParaRPr lang="pt-BR" sz="2400" dirty="0">
              <a:latin typeface="Calibri"/>
              <a:cs typeface="Calibri"/>
            </a:endParaRPr>
          </a:p>
          <a:p>
            <a:pPr marL="821690" marR="119380" lvl="1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lang="pt-BR" sz="2400" spc="-5" dirty="0">
                <a:latin typeface="Calibri"/>
                <a:cs typeface="Calibri"/>
              </a:rPr>
              <a:t>Seus </a:t>
            </a:r>
            <a:r>
              <a:rPr lang="pt-BR" sz="2400" dirty="0">
                <a:solidFill>
                  <a:srgbClr val="FF0000"/>
                </a:solidFill>
                <a:latin typeface="Calibri"/>
                <a:cs typeface="Calibri"/>
              </a:rPr>
              <a:t>índices</a:t>
            </a:r>
            <a:r>
              <a:rPr lang="pt-BR" sz="2400" dirty="0">
                <a:latin typeface="Calibri"/>
                <a:cs typeface="Calibri"/>
              </a:rPr>
              <a:t> </a:t>
            </a:r>
            <a:r>
              <a:rPr lang="pt-BR" sz="2400" spc="-5" dirty="0">
                <a:latin typeface="Calibri"/>
                <a:cs typeface="Calibri"/>
              </a:rPr>
              <a:t>precisam ser </a:t>
            </a:r>
            <a:r>
              <a:rPr lang="pt-BR" sz="2400" spc="-10" dirty="0">
                <a:solidFill>
                  <a:srgbClr val="FF0000"/>
                </a:solidFill>
                <a:latin typeface="Calibri"/>
                <a:cs typeface="Calibri"/>
              </a:rPr>
              <a:t>sempre números </a:t>
            </a:r>
            <a:r>
              <a:rPr lang="pt-BR" sz="2400" spc="-15" dirty="0">
                <a:solidFill>
                  <a:srgbClr val="FF0000"/>
                </a:solidFill>
                <a:latin typeface="Calibri"/>
                <a:cs typeface="Calibri"/>
              </a:rPr>
              <a:t>inteiros </a:t>
            </a:r>
            <a:r>
              <a:rPr lang="pt-BR" sz="2400" spc="-15" dirty="0">
                <a:latin typeface="Calibri"/>
                <a:cs typeface="Calibri"/>
              </a:rPr>
              <a:t>para </a:t>
            </a:r>
            <a:r>
              <a:rPr lang="pt-BR" sz="2400" spc="-5" dirty="0">
                <a:latin typeface="Calibri"/>
                <a:cs typeface="Calibri"/>
              </a:rPr>
              <a:t>que os </a:t>
            </a:r>
            <a:r>
              <a:rPr lang="pt-BR" sz="2400" spc="-530" dirty="0">
                <a:latin typeface="Calibri"/>
                <a:cs typeface="Calibri"/>
              </a:rPr>
              <a:t> </a:t>
            </a:r>
            <a:r>
              <a:rPr lang="pt-BR" sz="2400" spc="-5" dirty="0">
                <a:latin typeface="Calibri"/>
                <a:cs typeface="Calibri"/>
              </a:rPr>
              <a:t>dados</a:t>
            </a:r>
            <a:r>
              <a:rPr lang="pt-BR" sz="2400" spc="-15" dirty="0">
                <a:latin typeface="Calibri"/>
                <a:cs typeface="Calibri"/>
              </a:rPr>
              <a:t> </a:t>
            </a:r>
            <a:r>
              <a:rPr lang="pt-BR" sz="2400" spc="-5" dirty="0">
                <a:latin typeface="Calibri"/>
                <a:cs typeface="Calibri"/>
              </a:rPr>
              <a:t>possam ser </a:t>
            </a:r>
            <a:r>
              <a:rPr lang="pt-BR" sz="2400" dirty="0">
                <a:latin typeface="Calibri"/>
                <a:cs typeface="Calibri"/>
              </a:rPr>
              <a:t>acessados.</a:t>
            </a:r>
            <a:endParaRPr lang="pt-BR" sz="2450" spc="-5" dirty="0">
              <a:latin typeface="Calibri"/>
              <a:cs typeface="Calibri"/>
            </a:endParaRPr>
          </a:p>
          <a:p>
            <a:pPr marL="364490" marR="196215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 </a:t>
            </a:r>
            <a:r>
              <a:rPr sz="2450" spc="-10" dirty="0">
                <a:latin typeface="Calibri"/>
                <a:cs typeface="Calibri"/>
              </a:rPr>
              <a:t>coleções</a:t>
            </a:r>
            <a:r>
              <a:rPr sz="2450" spc="-5" dirty="0">
                <a:latin typeface="Calibri"/>
                <a:cs typeface="Calibri"/>
              </a:rPr>
              <a:t> visam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facilitar </a:t>
            </a:r>
            <a:r>
              <a:rPr sz="2450" spc="-5" dirty="0">
                <a:latin typeface="Calibri"/>
                <a:cs typeface="Calibri"/>
              </a:rPr>
              <a:t>o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uso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estruturas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dados </a:t>
            </a:r>
            <a:r>
              <a:rPr sz="2450" spc="-15" dirty="0">
                <a:latin typeface="Calibri"/>
                <a:cs typeface="Calibri"/>
              </a:rPr>
              <a:t>como </a:t>
            </a:r>
            <a:r>
              <a:rPr sz="2450" spc="-10" dirty="0">
                <a:latin typeface="Calibri"/>
                <a:cs typeface="Calibri"/>
              </a:rPr>
              <a:t> listas,</a:t>
            </a:r>
            <a:r>
              <a:rPr sz="2450" spc="-5" dirty="0">
                <a:latin typeface="Calibri"/>
                <a:cs typeface="Calibri"/>
              </a:rPr>
              <a:t> filas, pilhas,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conjuntos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outras,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tornando</a:t>
            </a:r>
            <a:r>
              <a:rPr sz="2450" spc="-5" dirty="0">
                <a:latin typeface="Calibri"/>
                <a:cs typeface="Calibri"/>
              </a:rPr>
              <a:t> sua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manipulação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muito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mais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simples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intuitiva.</a:t>
            </a:r>
            <a:endParaRPr sz="2450" dirty="0">
              <a:latin typeface="Calibri"/>
              <a:cs typeface="Calibri"/>
            </a:endParaRPr>
          </a:p>
          <a:p>
            <a:pPr marL="364490" marR="5080" indent="-352425" algn="just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 </a:t>
            </a:r>
            <a:r>
              <a:rPr sz="2450" spc="-10" dirty="0">
                <a:latin typeface="Calibri"/>
                <a:cs typeface="Calibri"/>
              </a:rPr>
              <a:t>coleções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objetos </a:t>
            </a:r>
            <a:r>
              <a:rPr sz="2450" spc="-5" dirty="0">
                <a:latin typeface="Calibri"/>
                <a:cs typeface="Calibri"/>
              </a:rPr>
              <a:t>são </a:t>
            </a:r>
            <a:r>
              <a:rPr sz="2450" spc="-10" dirty="0">
                <a:latin typeface="Calibri"/>
                <a:cs typeface="Calibri"/>
              </a:rPr>
              <a:t>implementadas </a:t>
            </a:r>
            <a:r>
              <a:rPr sz="2450" spc="-5" dirty="0">
                <a:latin typeface="Calibri"/>
                <a:cs typeface="Calibri"/>
              </a:rPr>
              <a:t>por meio de </a:t>
            </a:r>
            <a:r>
              <a:rPr sz="245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interfaces 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 </a:t>
            </a:r>
            <a:r>
              <a:rPr sz="245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classes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presentes </a:t>
            </a:r>
            <a:r>
              <a:rPr sz="2450" spc="-5" dirty="0">
                <a:latin typeface="Calibri"/>
                <a:cs typeface="Calibri"/>
              </a:rPr>
              <a:t>no </a:t>
            </a:r>
            <a:r>
              <a:rPr sz="2450" spc="-15" dirty="0">
                <a:latin typeface="Calibri"/>
                <a:cs typeface="Calibri"/>
              </a:rPr>
              <a:t>pacote </a:t>
            </a:r>
            <a:r>
              <a:rPr sz="2450" b="1" spc="-15" dirty="0">
                <a:solidFill>
                  <a:srgbClr val="FF0000"/>
                </a:solidFill>
                <a:latin typeface="Calibri"/>
                <a:cs typeface="Calibri"/>
              </a:rPr>
              <a:t>java.util </a:t>
            </a:r>
            <a:r>
              <a:rPr sz="2450" spc="-5" dirty="0">
                <a:latin typeface="Calibri"/>
                <a:cs typeface="Calibri"/>
              </a:rPr>
              <a:t>da API </a:t>
            </a:r>
            <a:r>
              <a:rPr sz="2450" spc="-20" dirty="0">
                <a:latin typeface="Calibri"/>
                <a:cs typeface="Calibri"/>
              </a:rPr>
              <a:t>Java, </a:t>
            </a:r>
            <a:r>
              <a:rPr sz="2450" spc="-5" dirty="0">
                <a:latin typeface="Calibri"/>
                <a:cs typeface="Calibri"/>
              </a:rPr>
              <a:t>o qual </a:t>
            </a:r>
            <a:r>
              <a:rPr sz="2450" spc="-15" dirty="0">
                <a:latin typeface="Calibri"/>
                <a:cs typeface="Calibri"/>
              </a:rPr>
              <a:t>deve </a:t>
            </a:r>
            <a:r>
              <a:rPr sz="2450" spc="-5" dirty="0">
                <a:latin typeface="Calibri"/>
                <a:cs typeface="Calibri"/>
              </a:rPr>
              <a:t>ser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importado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pelas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</a:t>
            </a:r>
            <a:r>
              <a:rPr sz="2450" spc="-5" dirty="0">
                <a:latin typeface="Calibri"/>
                <a:cs typeface="Calibri"/>
              </a:rPr>
              <a:t> que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as </a:t>
            </a:r>
            <a:r>
              <a:rPr sz="2450" spc="-10" dirty="0">
                <a:latin typeface="Calibri"/>
                <a:cs typeface="Calibri"/>
              </a:rPr>
              <a:t>utilizarem.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29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Coleções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5" dirty="0"/>
              <a:t> Objetos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422272"/>
            <a:ext cx="8501380" cy="3622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27749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antigas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coleções</a:t>
            </a:r>
            <a:r>
              <a:rPr sz="2450" spc="-5" dirty="0">
                <a:latin typeface="Calibri"/>
                <a:cs typeface="Calibri"/>
              </a:rPr>
              <a:t> da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API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Java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não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eram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genéricas</a:t>
            </a:r>
            <a:r>
              <a:rPr sz="2450" spc="-10" dirty="0">
                <a:latin typeface="Calibri"/>
                <a:cs typeface="Calibri"/>
              </a:rPr>
              <a:t>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pois </a:t>
            </a:r>
            <a:r>
              <a:rPr sz="2450" spc="-15" dirty="0">
                <a:latin typeface="Calibri"/>
                <a:cs typeface="Calibri"/>
              </a:rPr>
              <a:t>eram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capazes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armazenar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apenas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instâncias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da </a:t>
            </a:r>
            <a:r>
              <a:rPr sz="2450" dirty="0">
                <a:latin typeface="Calibri"/>
                <a:cs typeface="Calibri"/>
              </a:rPr>
              <a:t>classe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Object</a:t>
            </a:r>
            <a:r>
              <a:rPr sz="2450" spc="-5" dirty="0"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364490" marR="192405" indent="-352425">
              <a:lnSpc>
                <a:spcPct val="100000"/>
              </a:lnSpc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Com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isso,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ao</a:t>
            </a:r>
            <a:r>
              <a:rPr sz="2450" spc="-10" dirty="0">
                <a:latin typeface="Calibri"/>
                <a:cs typeface="Calibri"/>
              </a:rPr>
              <a:t> armazenar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 </a:t>
            </a:r>
            <a:r>
              <a:rPr sz="2450" spc="-10" dirty="0">
                <a:latin typeface="Calibri"/>
                <a:cs typeface="Calibri"/>
              </a:rPr>
              <a:t>elemento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na </a:t>
            </a:r>
            <a:r>
              <a:rPr sz="2450" spc="-15" dirty="0">
                <a:latin typeface="Calibri"/>
                <a:cs typeface="Calibri"/>
              </a:rPr>
              <a:t>coleção,</a:t>
            </a:r>
            <a:r>
              <a:rPr sz="2450" dirty="0">
                <a:latin typeface="Calibri"/>
                <a:cs typeface="Calibri"/>
              </a:rPr>
              <a:t> essas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precisavam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converter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 de dado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elemento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para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b="1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Object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e,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recuperá-los,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precisam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fazer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operação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inversa.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364490" marR="5080" indent="-352425" algn="just">
              <a:lnSpc>
                <a:spcPct val="100000"/>
              </a:lnSpc>
              <a:buClr>
                <a:srgbClr val="204F52"/>
              </a:buClr>
              <a:buFont typeface="Symbol"/>
              <a:buChar char=""/>
              <a:tabLst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 atuais </a:t>
            </a:r>
            <a:r>
              <a:rPr sz="2450" spc="-10" dirty="0">
                <a:latin typeface="Calibri"/>
                <a:cs typeface="Calibri"/>
              </a:rPr>
              <a:t>coleções </a:t>
            </a:r>
            <a:r>
              <a:rPr sz="2450" spc="-5" dirty="0">
                <a:latin typeface="Calibri"/>
                <a:cs typeface="Calibri"/>
              </a:rPr>
              <a:t>não </a:t>
            </a:r>
            <a:r>
              <a:rPr sz="2450" spc="-15" dirty="0">
                <a:latin typeface="Calibri"/>
                <a:cs typeface="Calibri"/>
              </a:rPr>
              <a:t>estão </a:t>
            </a:r>
            <a:r>
              <a:rPr sz="2450" spc="-5" dirty="0">
                <a:latin typeface="Calibri"/>
                <a:cs typeface="Calibri"/>
              </a:rPr>
              <a:t>vinculadas ao tipo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Object</a:t>
            </a:r>
            <a:r>
              <a:rPr sz="2450" spc="-5" dirty="0">
                <a:latin typeface="Calibri"/>
                <a:cs typeface="Calibri"/>
              </a:rPr>
              <a:t>, o que </a:t>
            </a:r>
            <a:r>
              <a:rPr sz="2450" dirty="0">
                <a:latin typeface="Calibri"/>
                <a:cs typeface="Calibri"/>
              </a:rPr>
              <a:t>as 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torna </a:t>
            </a:r>
            <a:r>
              <a:rPr sz="2450" spc="-15" dirty="0">
                <a:latin typeface="Calibri"/>
                <a:cs typeface="Calibri"/>
              </a:rPr>
              <a:t>capazes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armazenar </a:t>
            </a:r>
            <a:r>
              <a:rPr sz="2450" spc="-5" dirty="0">
                <a:latin typeface="Calibri"/>
                <a:cs typeface="Calibri"/>
              </a:rPr>
              <a:t>qualquer tipo de dado. </a:t>
            </a:r>
            <a:r>
              <a:rPr sz="2450" spc="-20" dirty="0">
                <a:latin typeface="Calibri"/>
                <a:cs typeface="Calibri"/>
              </a:rPr>
              <a:t>Por </a:t>
            </a:r>
            <a:r>
              <a:rPr sz="2450" spc="-10" dirty="0">
                <a:latin typeface="Calibri"/>
                <a:cs typeface="Calibri"/>
              </a:rPr>
              <a:t>isso, </a:t>
            </a:r>
            <a:r>
              <a:rPr sz="2450" spc="-5" dirty="0">
                <a:latin typeface="Calibri"/>
                <a:cs typeface="Calibri"/>
              </a:rPr>
              <a:t>são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consideradas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“coleções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genéricas”.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473202"/>
            <a:ext cx="429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Coleções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602" y="5354954"/>
            <a:ext cx="9168130" cy="1017144"/>
            <a:chOff x="252602" y="5354954"/>
            <a:chExt cx="9168130" cy="740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127" y="5364479"/>
              <a:ext cx="9148572" cy="720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57365" y="5359717"/>
              <a:ext cx="9158605" cy="730885"/>
            </a:xfrm>
            <a:custGeom>
              <a:avLst/>
              <a:gdLst/>
              <a:ahLst/>
              <a:cxnLst/>
              <a:rect l="l" t="t" r="r" b="b"/>
              <a:pathLst>
                <a:path w="9158605" h="730885">
                  <a:moveTo>
                    <a:pt x="0" y="730376"/>
                  </a:moveTo>
                  <a:lnTo>
                    <a:pt x="9158097" y="730376"/>
                  </a:lnTo>
                  <a:lnTo>
                    <a:pt x="9158097" y="0"/>
                  </a:lnTo>
                  <a:lnTo>
                    <a:pt x="0" y="0"/>
                  </a:lnTo>
                  <a:lnTo>
                    <a:pt x="0" y="73037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494281"/>
            <a:ext cx="8677910" cy="2197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63182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</a:t>
            </a:r>
            <a:r>
              <a:rPr sz="2450" dirty="0">
                <a:latin typeface="Calibri"/>
                <a:cs typeface="Calibri"/>
              </a:rPr>
              <a:t> classes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API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Java</a:t>
            </a:r>
            <a:r>
              <a:rPr sz="2450" spc="-5" dirty="0">
                <a:latin typeface="Calibri"/>
                <a:cs typeface="Calibri"/>
              </a:rPr>
              <a:t> que </a:t>
            </a:r>
            <a:r>
              <a:rPr sz="2450" spc="-15" dirty="0">
                <a:latin typeface="Calibri"/>
                <a:cs typeface="Calibri"/>
              </a:rPr>
              <a:t>representam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coleções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armazenam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somente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instâncias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dirty="0">
                <a:latin typeface="Calibri"/>
                <a:cs typeface="Calibri"/>
              </a:rPr>
              <a:t>classes.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364490" marR="5080" indent="-352425">
              <a:lnSpc>
                <a:spcPct val="100000"/>
              </a:lnSpc>
              <a:spcBef>
                <a:spcPts val="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Assim,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para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coleção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possa </a:t>
            </a:r>
            <a:r>
              <a:rPr sz="2450" spc="-10" dirty="0">
                <a:latin typeface="Calibri"/>
                <a:cs typeface="Calibri"/>
              </a:rPr>
              <a:t>armazenar</a:t>
            </a:r>
            <a:r>
              <a:rPr sz="2450" spc="-5" dirty="0">
                <a:latin typeface="Calibri"/>
                <a:cs typeface="Calibri"/>
              </a:rPr>
              <a:t> um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tipo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dado 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nativo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(int,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float,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double,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char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etc),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é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preciso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associá-la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à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classe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da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API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Java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equivale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15" dirty="0">
                <a:latin typeface="Calibri"/>
                <a:cs typeface="Calibri"/>
              </a:rPr>
              <a:t>este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tipo de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dado.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467944"/>
            <a:ext cx="429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Coleções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5" dirty="0"/>
              <a:t> Objetos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6214" y="4490783"/>
            <a:ext cx="9307830" cy="563245"/>
            <a:chOff x="196214" y="4490783"/>
            <a:chExt cx="9307830" cy="5632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39" y="4500371"/>
              <a:ext cx="9288780" cy="5440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0977" y="4495545"/>
              <a:ext cx="9298305" cy="553720"/>
            </a:xfrm>
            <a:custGeom>
              <a:avLst/>
              <a:gdLst/>
              <a:ahLst/>
              <a:cxnLst/>
              <a:rect l="l" t="t" r="r" b="b"/>
              <a:pathLst>
                <a:path w="9298305" h="553720">
                  <a:moveTo>
                    <a:pt x="0" y="553593"/>
                  </a:moveTo>
                  <a:lnTo>
                    <a:pt x="9298305" y="553593"/>
                  </a:lnTo>
                  <a:lnTo>
                    <a:pt x="9298305" y="0"/>
                  </a:lnTo>
                  <a:lnTo>
                    <a:pt x="0" y="0"/>
                  </a:lnTo>
                  <a:lnTo>
                    <a:pt x="0" y="55359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9705"/>
            <a:ext cx="8468360" cy="77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Cada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tipo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nativo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tem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sua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respectiva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capaz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converter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manipular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valores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do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seu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tipo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correspondente.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1964" y="4307585"/>
            <a:ext cx="8716645" cy="114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25" dirty="0">
                <a:latin typeface="Calibri"/>
                <a:cs typeface="Calibri"/>
              </a:rPr>
              <a:t>Isso </a:t>
            </a:r>
            <a:r>
              <a:rPr sz="2450" spc="-5" dirty="0">
                <a:latin typeface="Calibri"/>
                <a:cs typeface="Calibri"/>
              </a:rPr>
              <a:t>é </a:t>
            </a:r>
            <a:r>
              <a:rPr sz="2450" spc="-30" dirty="0">
                <a:latin typeface="Calibri"/>
                <a:cs typeface="Calibri"/>
              </a:rPr>
              <a:t>possível </a:t>
            </a:r>
            <a:r>
              <a:rPr sz="2450" spc="-35" dirty="0">
                <a:latin typeface="Calibri"/>
                <a:cs typeface="Calibri"/>
              </a:rPr>
              <a:t>graças </a:t>
            </a:r>
            <a:r>
              <a:rPr sz="2450" spc="-15" dirty="0">
                <a:latin typeface="Calibri"/>
                <a:cs typeface="Calibri"/>
              </a:rPr>
              <a:t>aos </a:t>
            </a:r>
            <a:r>
              <a:rPr sz="2450" spc="-30" dirty="0">
                <a:latin typeface="Calibri"/>
                <a:cs typeface="Calibri"/>
              </a:rPr>
              <a:t>mecanismos </a:t>
            </a:r>
            <a:r>
              <a:rPr sz="2450" b="1" i="1" spc="-30" dirty="0">
                <a:solidFill>
                  <a:srgbClr val="FF0000"/>
                </a:solidFill>
                <a:latin typeface="Calibri"/>
                <a:cs typeface="Calibri"/>
              </a:rPr>
              <a:t>autoboxing</a:t>
            </a:r>
            <a:r>
              <a:rPr sz="2450" b="1" i="1" spc="-30" dirty="0">
                <a:latin typeface="Calibri"/>
                <a:cs typeface="Calibri"/>
              </a:rPr>
              <a:t> </a:t>
            </a:r>
            <a:r>
              <a:rPr sz="2450" i="1" spc="-5" dirty="0">
                <a:latin typeface="Calibri"/>
                <a:cs typeface="Calibri"/>
              </a:rPr>
              <a:t>e </a:t>
            </a:r>
            <a:r>
              <a:rPr sz="2450" b="1" i="1" spc="-30" dirty="0">
                <a:solidFill>
                  <a:srgbClr val="FF0000"/>
                </a:solidFill>
                <a:latin typeface="Calibri"/>
                <a:cs typeface="Calibri"/>
              </a:rPr>
              <a:t>autounboxing</a:t>
            </a:r>
            <a:r>
              <a:rPr sz="2450" spc="-30" dirty="0">
                <a:latin typeface="Calibri"/>
                <a:cs typeface="Calibri"/>
              </a:rPr>
              <a:t>,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que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permitem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30" dirty="0">
                <a:latin typeface="Calibri"/>
                <a:cs typeface="Calibri"/>
              </a:rPr>
              <a:t>atribuir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tipos</a:t>
            </a:r>
            <a:r>
              <a:rPr sz="245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50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nativos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-30" dirty="0">
                <a:latin typeface="Calibri"/>
                <a:cs typeface="Calibri"/>
              </a:rPr>
              <a:t> </a:t>
            </a:r>
            <a:r>
              <a:rPr sz="2450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instâncias</a:t>
            </a:r>
            <a:r>
              <a:rPr sz="245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5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50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50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classes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</a:t>
            </a:r>
            <a:r>
              <a:rPr sz="2450" spc="-40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vice- 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35" dirty="0">
                <a:latin typeface="Calibri"/>
                <a:cs typeface="Calibri"/>
              </a:rPr>
              <a:t>versa.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29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Coleções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5" dirty="0"/>
              <a:t> Objetos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113527"/>
              </p:ext>
            </p:extLst>
          </p:nvPr>
        </p:nvGraphicFramePr>
        <p:xfrm>
          <a:off x="2963291" y="2122500"/>
          <a:ext cx="4472559" cy="2194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49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6235">
                <a:tc>
                  <a:txBody>
                    <a:bodyPr/>
                    <a:lstStyle/>
                    <a:p>
                      <a:pPr marL="137160" algn="l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Tipo</a:t>
                      </a:r>
                      <a:r>
                        <a:rPr sz="24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5" dirty="0">
                          <a:latin typeface="Calibri"/>
                          <a:cs typeface="Calibri"/>
                        </a:rPr>
                        <a:t>Nativo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207645" algn="l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Calibri"/>
                          <a:cs typeface="Calibri"/>
                        </a:rPr>
                        <a:t>Classe</a:t>
                      </a:r>
                      <a:r>
                        <a:rPr sz="24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5" dirty="0">
                          <a:latin typeface="Calibri"/>
                          <a:cs typeface="Calibri"/>
                        </a:rPr>
                        <a:t>Equivalente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7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int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Integer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77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float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Float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7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double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Double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long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Long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778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char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Character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776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boolean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Boolean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2857182" y="5578982"/>
            <a:ext cx="3902710" cy="918210"/>
            <a:chOff x="2857182" y="5578982"/>
            <a:chExt cx="3902710" cy="9182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6644" y="5588507"/>
              <a:ext cx="3883152" cy="8991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61945" y="5583745"/>
              <a:ext cx="3893185" cy="908685"/>
            </a:xfrm>
            <a:custGeom>
              <a:avLst/>
              <a:gdLst/>
              <a:ahLst/>
              <a:cxnLst/>
              <a:rect l="l" t="t" r="r" b="b"/>
              <a:pathLst>
                <a:path w="3893184" h="908685">
                  <a:moveTo>
                    <a:pt x="0" y="908684"/>
                  </a:moveTo>
                  <a:lnTo>
                    <a:pt x="3892677" y="908684"/>
                  </a:lnTo>
                  <a:lnTo>
                    <a:pt x="3892677" y="0"/>
                  </a:lnTo>
                  <a:lnTo>
                    <a:pt x="0" y="0"/>
                  </a:lnTo>
                  <a:lnTo>
                    <a:pt x="0" y="90868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273505"/>
            <a:ext cx="884301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00" dirty="0">
                <a:latin typeface="Calibri"/>
                <a:cs typeface="Calibri"/>
              </a:rPr>
              <a:t>Uma </a:t>
            </a:r>
            <a:r>
              <a:rPr sz="2400" spc="-5" dirty="0">
                <a:latin typeface="Calibri"/>
                <a:cs typeface="Calibri"/>
              </a:rPr>
              <a:t>boa </a:t>
            </a:r>
            <a:r>
              <a:rPr sz="2400" spc="-15" dirty="0">
                <a:latin typeface="Calibri"/>
                <a:cs typeface="Calibri"/>
              </a:rPr>
              <a:t>prática </a:t>
            </a:r>
            <a:r>
              <a:rPr sz="2400" dirty="0">
                <a:latin typeface="Calibri"/>
                <a:cs typeface="Calibri"/>
              </a:rPr>
              <a:t>é </a:t>
            </a:r>
            <a:r>
              <a:rPr sz="2400" spc="-10" dirty="0">
                <a:latin typeface="Calibri"/>
                <a:cs typeface="Calibri"/>
              </a:rPr>
              <a:t>declarar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coleção com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interface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ela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implementa,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definir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classe</a:t>
            </a:r>
            <a:r>
              <a:rPr sz="2400" u="heavy" spc="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u="heavy" spc="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implementação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instanciá-la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palavra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new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2919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Coleções</a:t>
            </a:r>
            <a:r>
              <a:rPr spc="-30" dirty="0"/>
              <a:t> </a:t>
            </a:r>
            <a:r>
              <a:rPr spc="-5" dirty="0"/>
              <a:t>de</a:t>
            </a:r>
            <a:r>
              <a:rPr spc="-15" dirty="0"/>
              <a:t> Objetos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174174" y="5152516"/>
            <a:ext cx="4126229" cy="774700"/>
            <a:chOff x="3174174" y="5152516"/>
            <a:chExt cx="4126229" cy="7747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3635" y="5522975"/>
              <a:ext cx="4107179" cy="3947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78936" y="5518213"/>
              <a:ext cx="4116704" cy="404495"/>
            </a:xfrm>
            <a:custGeom>
              <a:avLst/>
              <a:gdLst/>
              <a:ahLst/>
              <a:cxnLst/>
              <a:rect l="l" t="t" r="r" b="b"/>
              <a:pathLst>
                <a:path w="4116704" h="404495">
                  <a:moveTo>
                    <a:pt x="0" y="404241"/>
                  </a:moveTo>
                  <a:lnTo>
                    <a:pt x="4116705" y="404241"/>
                  </a:lnTo>
                  <a:lnTo>
                    <a:pt x="4116705" y="0"/>
                  </a:lnTo>
                  <a:lnTo>
                    <a:pt x="0" y="0"/>
                  </a:lnTo>
                  <a:lnTo>
                    <a:pt x="0" y="40424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74312" y="5165216"/>
              <a:ext cx="956944" cy="447040"/>
            </a:xfrm>
            <a:custGeom>
              <a:avLst/>
              <a:gdLst/>
              <a:ahLst/>
              <a:cxnLst/>
              <a:rect l="l" t="t" r="r" b="b"/>
              <a:pathLst>
                <a:path w="956945" h="447039">
                  <a:moveTo>
                    <a:pt x="45592" y="0"/>
                  </a:moveTo>
                  <a:lnTo>
                    <a:pt x="0" y="1524"/>
                  </a:lnTo>
                  <a:lnTo>
                    <a:pt x="956563" y="446735"/>
                  </a:lnTo>
                </a:path>
              </a:pathLst>
            </a:custGeom>
            <a:ln w="253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2820923" y="3374008"/>
            <a:ext cx="5969000" cy="789940"/>
            <a:chOff x="2820923" y="3374008"/>
            <a:chExt cx="5969000" cy="78994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77895" y="3759707"/>
              <a:ext cx="5801867" cy="39471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973196" y="3754881"/>
              <a:ext cx="5811520" cy="404495"/>
            </a:xfrm>
            <a:custGeom>
              <a:avLst/>
              <a:gdLst/>
              <a:ahLst/>
              <a:cxnLst/>
              <a:rect l="l" t="t" r="r" b="b"/>
              <a:pathLst>
                <a:path w="5811520" h="404495">
                  <a:moveTo>
                    <a:pt x="0" y="404240"/>
                  </a:moveTo>
                  <a:lnTo>
                    <a:pt x="5811393" y="404240"/>
                  </a:lnTo>
                  <a:lnTo>
                    <a:pt x="5811393" y="0"/>
                  </a:lnTo>
                  <a:lnTo>
                    <a:pt x="0" y="0"/>
                  </a:lnTo>
                  <a:lnTo>
                    <a:pt x="0" y="40424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833623" y="3386708"/>
              <a:ext cx="471805" cy="419734"/>
            </a:xfrm>
            <a:custGeom>
              <a:avLst/>
              <a:gdLst/>
              <a:ahLst/>
              <a:cxnLst/>
              <a:rect l="l" t="t" r="r" b="b"/>
              <a:pathLst>
                <a:path w="471804" h="419735">
                  <a:moveTo>
                    <a:pt x="37211" y="0"/>
                  </a:moveTo>
                  <a:lnTo>
                    <a:pt x="0" y="1524"/>
                  </a:lnTo>
                  <a:lnTo>
                    <a:pt x="471677" y="419481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283714" y="4335017"/>
            <a:ext cx="2987040" cy="774571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06680" marR="100330" algn="ctr">
              <a:lnSpc>
                <a:spcPct val="100000"/>
              </a:lnSpc>
              <a:spcBef>
                <a:spcPts val="280"/>
              </a:spcBef>
            </a:pPr>
            <a:r>
              <a:rPr sz="1600" spc="-5" dirty="0">
                <a:latin typeface="Calibri"/>
                <a:cs typeface="Calibri"/>
              </a:rPr>
              <a:t>Assim, se </a:t>
            </a:r>
            <a:r>
              <a:rPr sz="1600" spc="-15" dirty="0">
                <a:latin typeface="Calibri"/>
                <a:cs typeface="Calibri"/>
              </a:rPr>
              <a:t>for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preciso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alterar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u="sng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classe de </a:t>
            </a:r>
            <a:r>
              <a:rPr sz="1600" u="sng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implementação</a:t>
            </a:r>
            <a:r>
              <a:rPr sz="1600" spc="-10" dirty="0">
                <a:latin typeface="Calibri"/>
                <a:cs typeface="Calibri"/>
              </a:rPr>
              <a:t>, </a:t>
            </a:r>
            <a:r>
              <a:rPr sz="1600" spc="-15" dirty="0">
                <a:latin typeface="Calibri"/>
                <a:cs typeface="Calibri"/>
              </a:rPr>
              <a:t>bastará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instanciar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esta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nova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classe.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4786" y="2556509"/>
            <a:ext cx="4716780" cy="774571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102870" marR="97155" algn="ctr">
              <a:lnSpc>
                <a:spcPct val="100000"/>
              </a:lnSpc>
              <a:spcBef>
                <a:spcPts val="280"/>
              </a:spcBef>
            </a:pPr>
            <a:r>
              <a:rPr sz="1600" b="1" spc="-10" dirty="0">
                <a:latin typeface="Calibri"/>
                <a:cs typeface="Calibri"/>
              </a:rPr>
              <a:t>List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uma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u="sng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interface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define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o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conjunto</a:t>
            </a:r>
            <a:r>
              <a:rPr sz="1600" spc="-5" dirty="0">
                <a:latin typeface="Calibri"/>
                <a:cs typeface="Calibri"/>
              </a:rPr>
              <a:t> 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métodos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das </a:t>
            </a:r>
            <a:r>
              <a:rPr sz="1600" spc="-10" dirty="0">
                <a:latin typeface="Calibri"/>
                <a:cs typeface="Calibri"/>
              </a:rPr>
              <a:t>coleções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listas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API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Java.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b="1" spc="-15" dirty="0">
                <a:solidFill>
                  <a:srgbClr val="FF0000"/>
                </a:solidFill>
                <a:latin typeface="Calibri"/>
                <a:cs typeface="Calibri"/>
              </a:rPr>
              <a:t>ArrayList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é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uma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das 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implementações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desta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interface*.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468" y="6092748"/>
            <a:ext cx="5420360" cy="544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*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35" dirty="0">
                <a:solidFill>
                  <a:srgbClr val="C00000"/>
                </a:solidFill>
                <a:latin typeface="Calibri"/>
                <a:cs typeface="Calibri"/>
              </a:rPr>
              <a:t>Todas</a:t>
            </a:r>
            <a:r>
              <a:rPr sz="17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as classes</a:t>
            </a:r>
            <a:r>
              <a:rPr sz="17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que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implementam</a:t>
            </a:r>
            <a:r>
              <a:rPr sz="17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a 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interface </a:t>
            </a:r>
            <a:r>
              <a:rPr sz="1700" b="1" spc="-5" dirty="0">
                <a:solidFill>
                  <a:srgbClr val="C00000"/>
                </a:solidFill>
                <a:latin typeface="Calibri"/>
                <a:cs typeface="Calibri"/>
              </a:rPr>
              <a:t>List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https://docs.oracle.com/javase/8/docs/api/java/util/List.html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50009"/>
            <a:ext cx="8832850" cy="4789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15" dirty="0">
                <a:latin typeface="Calibri"/>
                <a:cs typeface="Calibri"/>
              </a:rPr>
              <a:t>Listas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objetos</a:t>
            </a:r>
            <a:r>
              <a:rPr sz="2450" spc="-5" dirty="0">
                <a:latin typeface="Calibri"/>
                <a:cs typeface="Calibri"/>
              </a:rPr>
              <a:t> funcionam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forma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similiar</a:t>
            </a:r>
            <a:r>
              <a:rPr sz="2450" spc="-5" dirty="0">
                <a:latin typeface="Calibri"/>
                <a:cs typeface="Calibri"/>
              </a:rPr>
              <a:t> 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i="1" spc="-5" dirty="0">
                <a:latin typeface="Calibri"/>
                <a:cs typeface="Calibri"/>
              </a:rPr>
              <a:t>array</a:t>
            </a:r>
            <a:r>
              <a:rPr sz="2450" i="1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comum, </a:t>
            </a:r>
            <a:r>
              <a:rPr sz="2450" spc="-10" dirty="0">
                <a:latin typeface="Calibri"/>
                <a:cs typeface="Calibri"/>
              </a:rPr>
              <a:t> porém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com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FF0000"/>
                </a:solidFill>
                <a:latin typeface="Calibri"/>
                <a:cs typeface="Calibri"/>
              </a:rPr>
              <a:t>recursos </a:t>
            </a:r>
            <a:r>
              <a:rPr sz="2450" dirty="0">
                <a:solidFill>
                  <a:srgbClr val="FF0000"/>
                </a:solidFill>
                <a:latin typeface="Calibri"/>
                <a:cs typeface="Calibri"/>
              </a:rPr>
              <a:t>adicionais</a:t>
            </a:r>
            <a:r>
              <a:rPr sz="245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e a </a:t>
            </a:r>
            <a:r>
              <a:rPr sz="2450" spc="-20" dirty="0">
                <a:latin typeface="Calibri"/>
                <a:cs typeface="Calibri"/>
              </a:rPr>
              <a:t>diferença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que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Calibri"/>
                <a:cs typeface="Calibri"/>
              </a:rPr>
              <a:t>alocação</a:t>
            </a:r>
            <a:r>
              <a:rPr sz="2450" spc="-5" dirty="0">
                <a:solidFill>
                  <a:srgbClr val="FF0000"/>
                </a:solidFill>
                <a:latin typeface="Calibri"/>
                <a:cs typeface="Calibri"/>
              </a:rPr>
              <a:t> dos </a:t>
            </a:r>
            <a:r>
              <a:rPr sz="2450" spc="-5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245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FF0000"/>
                </a:solidFill>
                <a:latin typeface="Calibri"/>
                <a:cs typeface="Calibri"/>
              </a:rPr>
              <a:t>na </a:t>
            </a:r>
            <a:r>
              <a:rPr sz="2450" dirty="0">
                <a:solidFill>
                  <a:srgbClr val="FF0000"/>
                </a:solidFill>
                <a:latin typeface="Calibri"/>
                <a:cs typeface="Calibri"/>
              </a:rPr>
              <a:t>memória </a:t>
            </a:r>
            <a:r>
              <a:rPr sz="2450" spc="-5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4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FF0000"/>
                </a:solidFill>
                <a:latin typeface="Calibri"/>
                <a:cs typeface="Calibri"/>
              </a:rPr>
              <a:t>feita</a:t>
            </a:r>
            <a:r>
              <a:rPr sz="245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FF0000"/>
                </a:solidFill>
                <a:latin typeface="Calibri"/>
                <a:cs typeface="Calibri"/>
              </a:rPr>
              <a:t>dinamicamente</a:t>
            </a:r>
            <a:r>
              <a:rPr sz="2450" spc="-10" dirty="0"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  <a:p>
            <a:pPr marL="364490" marR="259079" indent="-352425">
              <a:lnSpc>
                <a:spcPct val="100000"/>
              </a:lnSpc>
              <a:spcBef>
                <a:spcPts val="150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listas</a:t>
            </a:r>
            <a:r>
              <a:rPr sz="2450" spc="-5" dirty="0">
                <a:latin typeface="Calibri"/>
                <a:cs typeface="Calibri"/>
              </a:rPr>
              <a:t> 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definidas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implementam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interface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List</a:t>
            </a:r>
            <a:r>
              <a:rPr sz="2450" spc="-10" dirty="0">
                <a:latin typeface="Calibri"/>
                <a:cs typeface="Calibri"/>
              </a:rPr>
              <a:t>,</a:t>
            </a:r>
            <a:r>
              <a:rPr sz="2450" dirty="0">
                <a:latin typeface="Calibri"/>
                <a:cs typeface="Calibri"/>
              </a:rPr>
              <a:t> a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qual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declara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métodos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específicos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para 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manipulação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listas.</a:t>
            </a:r>
            <a:endParaRPr sz="2450" dirty="0">
              <a:latin typeface="Calibri"/>
              <a:cs typeface="Calibri"/>
            </a:endParaRPr>
          </a:p>
          <a:p>
            <a:pPr marL="364490" indent="-352425">
              <a:lnSpc>
                <a:spcPct val="100000"/>
              </a:lnSpc>
              <a:spcBef>
                <a:spcPts val="15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características:</a:t>
            </a:r>
            <a:endParaRPr sz="2450" dirty="0">
              <a:latin typeface="Calibri"/>
              <a:cs typeface="Calibri"/>
            </a:endParaRPr>
          </a:p>
          <a:p>
            <a:pPr marL="821690" marR="203835" lvl="1" indent="-352425">
              <a:lnSpc>
                <a:spcPct val="100000"/>
              </a:lnSpc>
              <a:spcBef>
                <a:spcPts val="12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dirty="0">
                <a:latin typeface="Calibri"/>
                <a:cs typeface="Calibri"/>
              </a:rPr>
              <a:t>Ao </a:t>
            </a:r>
            <a:r>
              <a:rPr sz="2400" dirty="0" err="1">
                <a:latin typeface="Calibri"/>
                <a:cs typeface="Calibri"/>
              </a:rPr>
              <a:t>criar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uma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lista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5" dirty="0" err="1">
                <a:solidFill>
                  <a:srgbClr val="FF0000"/>
                </a:solidFill>
                <a:latin typeface="Calibri"/>
                <a:cs typeface="Calibri"/>
              </a:rPr>
              <a:t>seu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Calibri"/>
                <a:cs typeface="Calibri"/>
              </a:rPr>
              <a:t>tamanho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Calibri"/>
                <a:cs typeface="Calibri"/>
              </a:rPr>
              <a:t>precisa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ser </a:t>
            </a:r>
            <a:r>
              <a:rPr sz="2400" spc="-10" dirty="0" err="1">
                <a:solidFill>
                  <a:srgbClr val="FF0000"/>
                </a:solidFill>
                <a:latin typeface="Calibri"/>
                <a:cs typeface="Calibri"/>
              </a:rPr>
              <a:t>especificado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5" dirty="0" err="1">
                <a:latin typeface="Calibri"/>
                <a:cs typeface="Calibri"/>
              </a:rPr>
              <a:t>já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dirty="0" err="1">
                <a:latin typeface="Calibri"/>
                <a:cs typeface="Calibri"/>
              </a:rPr>
              <a:t>ele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aumenta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diminui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 err="1">
                <a:latin typeface="Calibri"/>
                <a:cs typeface="Calibri"/>
              </a:rPr>
              <a:t>conforme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elementos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são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inseridos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removidos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 </a:t>
            </a:r>
            <a:r>
              <a:rPr sz="2400" spc="-10" dirty="0" err="1">
                <a:latin typeface="Calibri"/>
                <a:cs typeface="Calibri"/>
              </a:rPr>
              <a:t>coleção</a:t>
            </a:r>
            <a:r>
              <a:rPr sz="2400" spc="-10" dirty="0">
                <a:latin typeface="Calibri"/>
                <a:cs typeface="Calibri"/>
              </a:rPr>
              <a:t>.</a:t>
            </a:r>
          </a:p>
          <a:p>
            <a:pPr marL="821690" lvl="1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dirty="0" err="1">
                <a:latin typeface="Calibri"/>
                <a:cs typeface="Calibri"/>
              </a:rPr>
              <a:t>Nas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listas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 err="1">
                <a:latin typeface="Calibri"/>
                <a:cs typeface="Calibri"/>
              </a:rPr>
              <a:t>objetos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alibri"/>
                <a:cs typeface="Calibri"/>
              </a:rPr>
              <a:t>elementos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 err="1">
                <a:solidFill>
                  <a:srgbClr val="FF0000"/>
                </a:solidFill>
                <a:latin typeface="Calibri"/>
                <a:cs typeface="Calibri"/>
              </a:rPr>
              <a:t>podem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35" dirty="0" err="1">
                <a:solidFill>
                  <a:srgbClr val="FF0000"/>
                </a:solidFill>
                <a:latin typeface="Calibri"/>
                <a:cs typeface="Calibri"/>
              </a:rPr>
              <a:t>repetir</a:t>
            </a:r>
            <a:r>
              <a:rPr sz="2400" spc="-3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590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Listas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136650"/>
            <a:ext cx="8589645" cy="504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47752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implementam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interface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List</a:t>
            </a:r>
            <a:r>
              <a:rPr sz="2450" b="1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visando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representação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listas:</a:t>
            </a:r>
            <a:endParaRPr sz="245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8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15" dirty="0">
                <a:latin typeface="Calibri"/>
                <a:cs typeface="Calibri"/>
              </a:rPr>
              <a:t>ArrayList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5" dirty="0">
                <a:latin typeface="Calibri"/>
                <a:cs typeface="Calibri"/>
              </a:rPr>
              <a:t>Possui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mecanismo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rápido</a:t>
            </a:r>
            <a:r>
              <a:rPr sz="2400" spc="-5" dirty="0">
                <a:latin typeface="Calibri"/>
                <a:cs typeface="Calibri"/>
              </a:rPr>
              <a:t> 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array</a:t>
            </a:r>
            <a:endParaRPr sz="24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comum,</a:t>
            </a:r>
            <a:r>
              <a:rPr sz="2400" spc="-20" dirty="0">
                <a:latin typeface="Calibri"/>
                <a:cs typeface="Calibri"/>
              </a:rPr>
              <a:t> exceto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5" dirty="0">
                <a:latin typeface="Calibri"/>
                <a:cs typeface="Calibri"/>
              </a:rPr>
              <a:t>operações</a:t>
            </a:r>
            <a:r>
              <a:rPr sz="2400" spc="-5" dirty="0">
                <a:latin typeface="Calibri"/>
                <a:cs typeface="Calibri"/>
              </a:rPr>
              <a:t> de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u="heavy" spc="-1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lang="pt-BR" sz="2400" spc="-10" dirty="0">
                <a:latin typeface="Calibri"/>
                <a:cs typeface="Calibri"/>
              </a:rPr>
              <a:t> </a:t>
            </a:r>
            <a:endParaRPr sz="2400" u="sng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15" dirty="0">
                <a:latin typeface="Calibri"/>
                <a:cs typeface="Calibri"/>
              </a:rPr>
              <a:t>LinkedList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Possui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mecanismo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mais</a:t>
            </a:r>
            <a:r>
              <a:rPr sz="2400" spc="-10" dirty="0">
                <a:solidFill>
                  <a:srgbClr val="FFC000"/>
                </a:solidFill>
                <a:latin typeface="Calibri"/>
                <a:cs typeface="Calibri"/>
              </a:rPr>
              <a:t> rápido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C000"/>
                </a:solidFill>
                <a:latin typeface="Calibri"/>
                <a:cs typeface="Calibri"/>
              </a:rPr>
              <a:t>para operações </a:t>
            </a:r>
            <a:r>
              <a:rPr sz="2400" spc="-5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u="heavy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</a:t>
            </a:r>
            <a:r>
              <a:rPr sz="2400" spc="-15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porém </a:t>
            </a:r>
            <a:r>
              <a:rPr sz="2400" dirty="0">
                <a:latin typeface="Calibri"/>
                <a:cs typeface="Calibri"/>
              </a:rPr>
              <a:t>é mais </a:t>
            </a:r>
            <a:r>
              <a:rPr sz="2400" spc="-10" dirty="0">
                <a:latin typeface="Calibri"/>
                <a:cs typeface="Calibri"/>
              </a:rPr>
              <a:t>lento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u="heavy" spc="-5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acesso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u="heavy" spc="-5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sequencial</a:t>
            </a:r>
            <a:r>
              <a:rPr lang="pt-BR" sz="2400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pt-BR" sz="2400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</a:t>
            </a:r>
            <a:r>
              <a:rPr lang="pt-BR" sz="2400" b="0" i="0" dirty="0" err="1">
                <a:effectLst/>
                <a:latin typeface="Source Serif Pro" panose="02040603050405020204" pitchFamily="18" charset="0"/>
              </a:rPr>
              <a:t>get</a:t>
            </a:r>
            <a:r>
              <a:rPr lang="pt-BR" sz="2400" b="0" i="0" dirty="0">
                <a:effectLst/>
                <a:latin typeface="Source Serif Pro" panose="02040603050405020204" pitchFamily="18" charset="0"/>
              </a:rPr>
              <a:t> e set)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lista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lang="pt-BR" sz="2400" spc="-10" dirty="0">
                <a:latin typeface="Calibri"/>
                <a:cs typeface="Calibri"/>
              </a:rPr>
              <a:t> </a:t>
            </a:r>
            <a:endParaRPr lang="pt-BR" sz="2400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50" spc="-5" dirty="0" err="1">
                <a:latin typeface="Calibri"/>
                <a:cs typeface="Calibri"/>
              </a:rPr>
              <a:t>Ao</a:t>
            </a:r>
            <a:r>
              <a:rPr sz="2450" spc="-5" dirty="0">
                <a:latin typeface="Calibri"/>
                <a:cs typeface="Calibri"/>
              </a:rPr>
              <a:t> criar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instância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destas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classes,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é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preciso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definir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tipo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(dado)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lista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irá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35" dirty="0">
                <a:latin typeface="Calibri"/>
                <a:cs typeface="Calibri"/>
              </a:rPr>
              <a:t>armazenar.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Por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exemplo: 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List&lt;</a:t>
            </a:r>
            <a:r>
              <a:rPr sz="2450" spc="-10" dirty="0">
                <a:solidFill>
                  <a:srgbClr val="FF0000"/>
                </a:solidFill>
                <a:latin typeface="Calibri"/>
                <a:cs typeface="Calibri"/>
              </a:rPr>
              <a:t>Integer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&gt;</a:t>
            </a:r>
            <a:r>
              <a:rPr sz="245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lista</a:t>
            </a:r>
            <a:r>
              <a:rPr sz="2450" spc="-5" dirty="0">
                <a:solidFill>
                  <a:srgbClr val="003399"/>
                </a:solidFill>
                <a:latin typeface="Calibri"/>
                <a:cs typeface="Calibri"/>
              </a:rPr>
              <a:t> = new</a:t>
            </a:r>
            <a:r>
              <a:rPr sz="24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ArrayList&lt;</a:t>
            </a:r>
            <a:r>
              <a:rPr sz="2450" spc="-15" dirty="0">
                <a:solidFill>
                  <a:srgbClr val="FF0000"/>
                </a:solidFill>
                <a:latin typeface="Calibri"/>
                <a:cs typeface="Calibri"/>
              </a:rPr>
              <a:t>Integer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&gt;();</a:t>
            </a:r>
            <a:endParaRPr lang="pt-BR" sz="2450" spc="-15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64490" marR="217170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endParaRPr lang="pt-BR" sz="2450" spc="-15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590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Listas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ADAAE20-EA1E-641F-5D95-196650893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75FCDF8-9E8E-D6BA-D319-5FA84A8DA3B4}"/>
              </a:ext>
            </a:extLst>
          </p:cNvPr>
          <p:cNvSpPr txBox="1"/>
          <p:nvPr/>
        </p:nvSpPr>
        <p:spPr>
          <a:xfrm>
            <a:off x="581964" y="1136650"/>
            <a:ext cx="8589645" cy="6152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47752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implementam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interface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List</a:t>
            </a:r>
            <a:r>
              <a:rPr sz="2450" b="1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visando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representação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listas:</a:t>
            </a:r>
            <a:endParaRPr sz="245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8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15" dirty="0">
                <a:latin typeface="Calibri"/>
                <a:cs typeface="Calibri"/>
              </a:rPr>
              <a:t>ArrayList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5" dirty="0">
                <a:latin typeface="Calibri"/>
                <a:cs typeface="Calibri"/>
              </a:rPr>
              <a:t>Possui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mecanismo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rápido</a:t>
            </a:r>
            <a:r>
              <a:rPr sz="2400" spc="-5" dirty="0">
                <a:latin typeface="Calibri"/>
                <a:cs typeface="Calibri"/>
              </a:rPr>
              <a:t> que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array</a:t>
            </a:r>
            <a:endParaRPr sz="24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400" spc="-10" dirty="0">
                <a:latin typeface="Calibri"/>
                <a:cs typeface="Calibri"/>
              </a:rPr>
              <a:t>comum,</a:t>
            </a:r>
            <a:r>
              <a:rPr sz="2400" spc="-20" dirty="0">
                <a:latin typeface="Calibri"/>
                <a:cs typeface="Calibri"/>
              </a:rPr>
              <a:t> exceto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400" spc="-15" dirty="0">
                <a:latin typeface="Calibri"/>
                <a:cs typeface="Calibri"/>
              </a:rPr>
              <a:t>operações</a:t>
            </a:r>
            <a:r>
              <a:rPr sz="2400" spc="-5" dirty="0">
                <a:latin typeface="Calibri"/>
                <a:cs typeface="Calibri"/>
              </a:rPr>
              <a:t> de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u="heavy" spc="-10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lang="pt-BR" sz="2400" spc="-10" dirty="0">
                <a:latin typeface="Calibri"/>
                <a:cs typeface="Calibri"/>
              </a:rPr>
              <a:t> I</a:t>
            </a:r>
            <a:r>
              <a:rPr lang="pt-BR" sz="2400" dirty="0">
                <a:latin typeface="Calibri"/>
                <a:cs typeface="Calibri"/>
              </a:rPr>
              <a:t>mplementação feita com um </a:t>
            </a:r>
            <a:r>
              <a:rPr lang="pt-BR" sz="2400" dirty="0" err="1">
                <a:solidFill>
                  <a:srgbClr val="FF0000"/>
                </a:solidFill>
                <a:latin typeface="Calibri"/>
                <a:cs typeface="Calibri"/>
              </a:rPr>
              <a:t>array</a:t>
            </a:r>
            <a:r>
              <a:rPr lang="pt-BR" sz="2400" dirty="0">
                <a:solidFill>
                  <a:srgbClr val="FF0000"/>
                </a:solidFill>
                <a:latin typeface="Calibri"/>
                <a:cs typeface="Calibri"/>
              </a:rPr>
              <a:t> de redimensionamento dinâmico</a:t>
            </a:r>
            <a:r>
              <a:rPr lang="pt-BR" sz="2400" dirty="0">
                <a:latin typeface="Calibri"/>
                <a:cs typeface="Calibri"/>
              </a:rPr>
              <a:t>. Bom para manipulação dos elementos</a:t>
            </a:r>
            <a:endParaRPr sz="2400" u="sng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15" dirty="0">
                <a:latin typeface="Calibri"/>
                <a:cs typeface="Calibri"/>
              </a:rPr>
              <a:t>LinkedList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Possui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mecanismo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mais</a:t>
            </a:r>
            <a:r>
              <a:rPr sz="2400" spc="-10" dirty="0">
                <a:solidFill>
                  <a:srgbClr val="FFC000"/>
                </a:solidFill>
                <a:latin typeface="Calibri"/>
                <a:cs typeface="Calibri"/>
              </a:rPr>
              <a:t> rápido</a:t>
            </a: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C000"/>
                </a:solidFill>
                <a:latin typeface="Calibri"/>
                <a:cs typeface="Calibri"/>
              </a:rPr>
              <a:t>para operações </a:t>
            </a:r>
            <a:r>
              <a:rPr sz="2400" spc="-5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u="heavy" spc="-1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</a:t>
            </a:r>
            <a:r>
              <a:rPr sz="2400" spc="-15" dirty="0">
                <a:latin typeface="Calibri"/>
                <a:cs typeface="Calibri"/>
              </a:rPr>
              <a:t>, </a:t>
            </a:r>
            <a:r>
              <a:rPr sz="2400" spc="-10" dirty="0">
                <a:latin typeface="Calibri"/>
                <a:cs typeface="Calibri"/>
              </a:rPr>
              <a:t>porém </a:t>
            </a:r>
            <a:r>
              <a:rPr sz="2400" dirty="0">
                <a:latin typeface="Calibri"/>
                <a:cs typeface="Calibri"/>
              </a:rPr>
              <a:t>é mais </a:t>
            </a:r>
            <a:r>
              <a:rPr sz="2400" spc="-10" dirty="0">
                <a:latin typeface="Calibri"/>
                <a:cs typeface="Calibri"/>
              </a:rPr>
              <a:t>lento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u="heavy" spc="-5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acesso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u="heavy" spc="-5" dirty="0" err="1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sequencial</a:t>
            </a:r>
            <a:r>
              <a:rPr lang="pt-BR" sz="2400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pt-BR" sz="2400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</a:t>
            </a:r>
            <a:r>
              <a:rPr lang="pt-BR" sz="2400" b="0" i="0" dirty="0" err="1">
                <a:effectLst/>
                <a:latin typeface="Source Serif Pro" panose="02040603050405020204" pitchFamily="18" charset="0"/>
              </a:rPr>
              <a:t>get</a:t>
            </a:r>
            <a:r>
              <a:rPr lang="pt-BR" sz="2400" b="0" i="0" dirty="0">
                <a:effectLst/>
                <a:latin typeface="Source Serif Pro" panose="02040603050405020204" pitchFamily="18" charset="0"/>
              </a:rPr>
              <a:t> e set)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lista</a:t>
            </a:r>
            <a:r>
              <a:rPr sz="2400" spc="-10" dirty="0">
                <a:latin typeface="Calibri"/>
                <a:cs typeface="Calibri"/>
              </a:rPr>
              <a:t>.</a:t>
            </a:r>
            <a:r>
              <a:rPr lang="pt-BR" sz="2400" spc="-10" dirty="0">
                <a:latin typeface="Calibri"/>
                <a:cs typeface="Calibri"/>
              </a:rPr>
              <a:t> I</a:t>
            </a:r>
            <a:r>
              <a:rPr lang="pt-BR" sz="2400" dirty="0">
                <a:latin typeface="Calibri"/>
                <a:cs typeface="Calibri"/>
              </a:rPr>
              <a:t>mplementação feita como uma lista duplamente ligada.</a:t>
            </a:r>
          </a:p>
          <a:p>
            <a:pPr marL="821690" marR="508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50" spc="-5" dirty="0" err="1">
                <a:latin typeface="Calibri"/>
                <a:cs typeface="Calibri"/>
              </a:rPr>
              <a:t>Ao</a:t>
            </a:r>
            <a:r>
              <a:rPr sz="2450" spc="-5" dirty="0">
                <a:latin typeface="Calibri"/>
                <a:cs typeface="Calibri"/>
              </a:rPr>
              <a:t> criar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instância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destas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classes,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é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preciso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definir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tipo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</a:t>
            </a:r>
            <a:r>
              <a:rPr sz="2450" spc="-2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(dado)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 </a:t>
            </a:r>
            <a:r>
              <a:rPr sz="2450" dirty="0">
                <a:latin typeface="Calibri"/>
                <a:cs typeface="Calibri"/>
              </a:rPr>
              <a:t>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lista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irá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35" dirty="0">
                <a:latin typeface="Calibri"/>
                <a:cs typeface="Calibri"/>
              </a:rPr>
              <a:t>armazenar.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Por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exemplo: 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List&lt;</a:t>
            </a:r>
            <a:r>
              <a:rPr sz="2450" spc="-10" dirty="0">
                <a:solidFill>
                  <a:srgbClr val="FF0000"/>
                </a:solidFill>
                <a:latin typeface="Calibri"/>
                <a:cs typeface="Calibri"/>
              </a:rPr>
              <a:t>Integer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&gt;</a:t>
            </a:r>
            <a:r>
              <a:rPr sz="245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lista</a:t>
            </a:r>
            <a:r>
              <a:rPr sz="2450" spc="-5" dirty="0">
                <a:solidFill>
                  <a:srgbClr val="003399"/>
                </a:solidFill>
                <a:latin typeface="Calibri"/>
                <a:cs typeface="Calibri"/>
              </a:rPr>
              <a:t> = new</a:t>
            </a:r>
            <a:r>
              <a:rPr sz="245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ArrayList&lt;</a:t>
            </a:r>
            <a:r>
              <a:rPr sz="2450" spc="-15" dirty="0">
                <a:solidFill>
                  <a:srgbClr val="FF0000"/>
                </a:solidFill>
                <a:latin typeface="Calibri"/>
                <a:cs typeface="Calibri"/>
              </a:rPr>
              <a:t>Integer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&gt;();</a:t>
            </a:r>
            <a:endParaRPr lang="pt-BR" sz="2450" spc="-15" dirty="0">
              <a:solidFill>
                <a:srgbClr val="003399"/>
              </a:solidFill>
              <a:latin typeface="Calibri"/>
              <a:cs typeface="Calibri"/>
            </a:endParaRPr>
          </a:p>
          <a:p>
            <a:pPr marL="364490" marR="217170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endParaRPr lang="pt-BR" sz="2450" spc="-15" dirty="0">
              <a:solidFill>
                <a:srgbClr val="003399"/>
              </a:solidFill>
              <a:latin typeface="Calibri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B7AEB6D-8BE0-6470-A4BC-34912DC2A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5902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Listas </a:t>
            </a:r>
            <a:r>
              <a:rPr spc="-5" dirty="0"/>
              <a:t>de</a:t>
            </a:r>
            <a:r>
              <a:rPr spc="-25" dirty="0"/>
              <a:t> </a:t>
            </a:r>
            <a:r>
              <a:rPr spc="-15" dirty="0"/>
              <a:t>Objetos</a:t>
            </a:r>
          </a:p>
        </p:txBody>
      </p:sp>
    </p:spTree>
    <p:extLst>
      <p:ext uri="{BB962C8B-B14F-4D97-AF65-F5344CB8AC3E}">
        <p14:creationId xmlns:p14="http://schemas.microsoft.com/office/powerpoint/2010/main" val="2171299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448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ArrayList</a:t>
            </a:r>
            <a:r>
              <a:rPr spc="-1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20" dirty="0"/>
              <a:t>LinkedList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168061"/>
            <a:ext cx="8406130" cy="532955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49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lang="pt-BR" sz="2500" spc="-5" dirty="0">
                <a:latin typeface="Calibri"/>
                <a:cs typeface="Calibri"/>
              </a:rPr>
              <a:t>Principais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métodos:</a:t>
            </a:r>
            <a:endParaRPr sz="25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add: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Adiciona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final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ou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em</a:t>
            </a:r>
            <a:r>
              <a:rPr sz="22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uma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dada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 </a:t>
            </a:r>
            <a:r>
              <a:rPr sz="2200" spc="-10" dirty="0">
                <a:latin typeface="Calibri"/>
                <a:cs typeface="Calibri"/>
              </a:rPr>
              <a:t>da</a:t>
            </a:r>
            <a:endParaRPr sz="22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lista,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considerando</a:t>
            </a:r>
            <a:r>
              <a:rPr sz="2200" spc="-5" dirty="0">
                <a:latin typeface="Calibri"/>
                <a:cs typeface="Calibri"/>
              </a:rPr>
              <a:t> que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1ª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posição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é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zero.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33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&lt;nome_lista&gt;.add(&lt;elemento&gt;)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&lt;nome_lista&gt;.add(&lt;posição&gt;,</a:t>
            </a:r>
            <a:r>
              <a:rPr sz="2200" spc="3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1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remove: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Remove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da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lista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por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meio</a:t>
            </a:r>
            <a:r>
              <a:rPr sz="22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de sua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ou</a:t>
            </a:r>
            <a:endParaRPr sz="2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por meio</a:t>
            </a:r>
            <a:r>
              <a:rPr sz="22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da 1ª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ocorrência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 </a:t>
            </a:r>
            <a:r>
              <a:rPr sz="2200" spc="-15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24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&lt;nome_lista&gt;.remove(&lt;posição&gt;)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&lt;nome_lista&gt;.remove(&lt;elemento&gt;)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9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get: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um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elemento</a:t>
            </a:r>
            <a:r>
              <a:rPr sz="22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meio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sua </a:t>
            </a:r>
            <a:r>
              <a:rPr sz="2200" spc="-10" dirty="0">
                <a:latin typeface="Calibri"/>
                <a:cs typeface="Calibri"/>
              </a:rPr>
              <a:t>posição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 </a:t>
            </a:r>
            <a:r>
              <a:rPr sz="2200" spc="-15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07720">
              <a:lnSpc>
                <a:spcPct val="100000"/>
              </a:lnSpc>
              <a:spcBef>
                <a:spcPts val="30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&lt;nome_lista&gt;.get(&lt;posição&gt;)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4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size: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quantos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lista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possui</a:t>
            </a:r>
            <a:r>
              <a:rPr sz="2200" spc="-10" dirty="0">
                <a:latin typeface="Calibri"/>
                <a:cs typeface="Calibri"/>
              </a:rPr>
              <a:t>.</a:t>
            </a:r>
            <a:r>
              <a:rPr lang="pt-BR" sz="2200" spc="-10" dirty="0">
                <a:latin typeface="Calibri"/>
                <a:cs typeface="Calibri"/>
              </a:rPr>
              <a:t> (tamanho)</a:t>
            </a:r>
            <a:endParaRPr sz="2200" dirty="0">
              <a:latin typeface="Calibri"/>
              <a:cs typeface="Calibri"/>
            </a:endParaRPr>
          </a:p>
          <a:p>
            <a:pPr marL="809625">
              <a:lnSpc>
                <a:spcPct val="100000"/>
              </a:lnSpc>
              <a:spcBef>
                <a:spcPts val="13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&lt;nome_lista&gt;.size()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4447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ArrayList</a:t>
            </a:r>
            <a:r>
              <a:rPr spc="-10" dirty="0"/>
              <a:t> </a:t>
            </a:r>
            <a:r>
              <a:rPr spc="-5" dirty="0"/>
              <a:t>e</a:t>
            </a:r>
            <a:r>
              <a:rPr spc="-40" dirty="0"/>
              <a:t> </a:t>
            </a:r>
            <a:r>
              <a:rPr spc="-20" dirty="0"/>
              <a:t>LinkedList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023662"/>
            <a:ext cx="8360409" cy="555498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49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Principais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métodos:</a:t>
            </a:r>
            <a:endParaRPr sz="25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set: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Substitui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em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dada posição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lista,</a:t>
            </a:r>
            <a:endParaRPr sz="22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200" spc="-10" dirty="0">
                <a:latin typeface="Calibri"/>
                <a:cs typeface="Calibri"/>
              </a:rPr>
              <a:t>considerando </a:t>
            </a:r>
            <a:r>
              <a:rPr sz="2200" spc="-5" dirty="0">
                <a:latin typeface="Calibri"/>
                <a:cs typeface="Calibri"/>
              </a:rPr>
              <a:t>que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1ª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0000"/>
                </a:solidFill>
                <a:latin typeface="Calibri"/>
                <a:cs typeface="Calibri"/>
              </a:rPr>
              <a:t>zero</a:t>
            </a:r>
            <a:r>
              <a:rPr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334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&lt;nome_lista&gt;.set(&lt;posição&gt;,</a:t>
            </a:r>
            <a:r>
              <a:rPr sz="2200" spc="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&lt;novo_elemento&gt;)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6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contains: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lista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contém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determinado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409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&lt;nome_lista&gt;.contains(&lt;elemento&gt;)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55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indexOf: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Retorna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da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1ª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ocorrência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elemento.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endParaRPr sz="2200" dirty="0">
              <a:latin typeface="Calibri"/>
              <a:cs typeface="Calibri"/>
            </a:endParaRPr>
          </a:p>
          <a:p>
            <a:pPr marL="821690">
              <a:lnSpc>
                <a:spcPts val="2640"/>
              </a:lnSpc>
              <a:spcBef>
                <a:spcPts val="5"/>
              </a:spcBef>
            </a:pP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não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existir,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-1.</a:t>
            </a:r>
            <a:endParaRPr sz="2200" dirty="0">
              <a:latin typeface="Calibri"/>
              <a:cs typeface="Calibri"/>
            </a:endParaRPr>
          </a:p>
          <a:p>
            <a:pPr marL="807720">
              <a:lnSpc>
                <a:spcPts val="264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&lt;nome_lista&gt;.indexOf(&lt;elemento&gt;)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96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lastIndexOf: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da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última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ocorrência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elemento.</a:t>
            </a:r>
            <a:endParaRPr sz="2200" dirty="0">
              <a:latin typeface="Calibri"/>
              <a:cs typeface="Calibri"/>
            </a:endParaRPr>
          </a:p>
          <a:p>
            <a:pPr marL="821690">
              <a:lnSpc>
                <a:spcPts val="2630"/>
              </a:lnSpc>
            </a:pP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não </a:t>
            </a:r>
            <a:r>
              <a:rPr sz="2200" spc="-35" dirty="0">
                <a:latin typeface="Calibri"/>
                <a:cs typeface="Calibri"/>
              </a:rPr>
              <a:t>existir,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-1.</a:t>
            </a:r>
            <a:endParaRPr sz="2200" dirty="0">
              <a:latin typeface="Calibri"/>
              <a:cs typeface="Calibri"/>
            </a:endParaRPr>
          </a:p>
          <a:p>
            <a:pPr marL="806450">
              <a:lnSpc>
                <a:spcPts val="263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&lt;nome_lista&gt;.lastIndexOf(&lt;elemento&gt;)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640"/>
              </a:lnSpc>
              <a:spcBef>
                <a:spcPts val="73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isEmpty: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lista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vazia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809625">
              <a:lnSpc>
                <a:spcPts val="264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&lt;nome_lista&gt;.isEmpty()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031061"/>
            <a:ext cx="8589645" cy="2782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endParaRPr lang="pt-BR" sz="2450" spc="-5" dirty="0">
              <a:latin typeface="Calibri"/>
              <a:cs typeface="Calibri"/>
            </a:endParaRPr>
          </a:p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r>
              <a:rPr lang="pt-BR" sz="2450" spc="-5" dirty="0">
                <a:latin typeface="Calibri"/>
                <a:cs typeface="Calibri"/>
              </a:rPr>
              <a:t>Principais métodos:</a:t>
            </a:r>
          </a:p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r>
              <a:rPr lang="pt-BR" sz="2450" b="1" spc="-5" dirty="0" err="1">
                <a:latin typeface="Calibri"/>
                <a:cs typeface="Calibri"/>
              </a:rPr>
              <a:t>clear</a:t>
            </a:r>
            <a:r>
              <a:rPr lang="pt-BR" sz="2450" b="1" spc="-5" dirty="0">
                <a:latin typeface="Calibri"/>
                <a:cs typeface="Calibri"/>
              </a:rPr>
              <a:t>(): </a:t>
            </a:r>
            <a:r>
              <a:rPr lang="pt-BR" sz="2450" spc="-5" dirty="0">
                <a:latin typeface="Calibri"/>
                <a:cs typeface="Calibri"/>
              </a:rPr>
              <a:t>remove </a:t>
            </a:r>
            <a:r>
              <a:rPr lang="pt-BR" sz="2450" spc="-5" dirty="0">
                <a:solidFill>
                  <a:srgbClr val="FF0000"/>
                </a:solidFill>
                <a:latin typeface="Calibri"/>
                <a:cs typeface="Calibri"/>
              </a:rPr>
              <a:t>todos</a:t>
            </a:r>
            <a:r>
              <a:rPr lang="pt-BR" sz="2450" spc="-5" dirty="0">
                <a:latin typeface="Calibri"/>
                <a:cs typeface="Calibri"/>
              </a:rPr>
              <a:t> os elementos da lista</a:t>
            </a:r>
          </a:p>
          <a:p>
            <a:pPr marL="354965" marR="477520" indent="-342900"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r>
              <a:rPr lang="pt-BR" sz="2800" b="1" spc="-20" dirty="0">
                <a:latin typeface="Calibri"/>
                <a:cs typeface="Calibri"/>
              </a:rPr>
              <a:t>Sintaxe:</a:t>
            </a:r>
            <a:r>
              <a:rPr lang="pt-BR" sz="2800" b="1" spc="20" dirty="0">
                <a:latin typeface="Calibri"/>
                <a:cs typeface="Calibri"/>
              </a:rPr>
              <a:t> </a:t>
            </a:r>
            <a:r>
              <a:rPr lang="pt-BR" sz="2800" spc="-10" dirty="0">
                <a:solidFill>
                  <a:srgbClr val="0000CC"/>
                </a:solidFill>
                <a:latin typeface="Calibri"/>
                <a:cs typeface="Calibri"/>
              </a:rPr>
              <a:t>&lt;</a:t>
            </a:r>
            <a:r>
              <a:rPr lang="pt-BR" sz="2800" spc="-10" dirty="0" err="1">
                <a:solidFill>
                  <a:srgbClr val="0000CC"/>
                </a:solidFill>
                <a:latin typeface="Calibri"/>
                <a:cs typeface="Calibri"/>
              </a:rPr>
              <a:t>nome_lista</a:t>
            </a:r>
            <a:r>
              <a:rPr lang="pt-BR" sz="2800" spc="-10" dirty="0">
                <a:solidFill>
                  <a:srgbClr val="0000CC"/>
                </a:solidFill>
                <a:latin typeface="Calibri"/>
                <a:cs typeface="Calibri"/>
              </a:rPr>
              <a:t>&gt;.</a:t>
            </a:r>
            <a:r>
              <a:rPr lang="pt-BR" sz="2800" spc="-10" dirty="0" err="1">
                <a:solidFill>
                  <a:srgbClr val="0000CC"/>
                </a:solidFill>
                <a:latin typeface="Calibri"/>
                <a:cs typeface="Calibri"/>
              </a:rPr>
              <a:t>clear</a:t>
            </a:r>
            <a:r>
              <a:rPr lang="pt-BR" sz="2800" spc="-10" dirty="0">
                <a:solidFill>
                  <a:srgbClr val="0000CC"/>
                </a:solidFill>
                <a:latin typeface="Calibri"/>
                <a:cs typeface="Calibri"/>
              </a:rPr>
              <a:t>()</a:t>
            </a:r>
            <a:endParaRPr lang="pt-BR" sz="2800" dirty="0">
              <a:latin typeface="Calibri"/>
              <a:cs typeface="Calibri"/>
            </a:endParaRPr>
          </a:p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endParaRPr lang="pt-BR" sz="2450" spc="-5" dirty="0">
              <a:latin typeface="Calibri"/>
              <a:cs typeface="Calibri"/>
            </a:endParaRPr>
          </a:p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endParaRPr lang="pt-BR" sz="2450" spc="-5" dirty="0">
              <a:latin typeface="Calibri"/>
              <a:cs typeface="Calibri"/>
            </a:endParaRPr>
          </a:p>
          <a:p>
            <a:pPr marL="354965" marR="477520" indent="-342900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Arial" panose="020B0604020202020204" pitchFamily="34" charset="0"/>
              <a:buChar char="•"/>
              <a:tabLst>
                <a:tab pos="364490" algn="l"/>
                <a:tab pos="365125" algn="l"/>
              </a:tabLst>
            </a:pPr>
            <a:endParaRPr lang="pt-BR"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55584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25" dirty="0" err="1"/>
              <a:t>ArrayList</a:t>
            </a:r>
            <a:r>
              <a:rPr lang="pt-BR" spc="-15" dirty="0"/>
              <a:t> </a:t>
            </a:r>
            <a:r>
              <a:rPr lang="pt-BR" spc="-5" dirty="0"/>
              <a:t>e</a:t>
            </a:r>
            <a:r>
              <a:rPr lang="pt-BR" spc="-35" dirty="0"/>
              <a:t> </a:t>
            </a:r>
            <a:r>
              <a:rPr lang="pt-BR" spc="-20" dirty="0" err="1"/>
              <a:t>LinkedList</a:t>
            </a:r>
            <a:endParaRPr spc="-15" dirty="0"/>
          </a:p>
        </p:txBody>
      </p:sp>
    </p:spTree>
    <p:extLst>
      <p:ext uri="{BB962C8B-B14F-4D97-AF65-F5344CB8AC3E}">
        <p14:creationId xmlns:p14="http://schemas.microsoft.com/office/powerpoint/2010/main" val="2252620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5618" y="6581926"/>
            <a:ext cx="104584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i="1" dirty="0">
                <a:solidFill>
                  <a:srgbClr val="5F5F5F"/>
                </a:solidFill>
                <a:latin typeface="Calibri"/>
                <a:cs typeface="Calibri"/>
              </a:rPr>
              <a:t>l</a:t>
            </a:r>
            <a:r>
              <a:rPr sz="1400" i="1" spc="5" dirty="0">
                <a:solidFill>
                  <a:srgbClr val="5F5F5F"/>
                </a:solidFill>
                <a:latin typeface="Calibri"/>
                <a:cs typeface="Calibri"/>
              </a:rPr>
              <a:t>.</a:t>
            </a:r>
            <a:r>
              <a:rPr sz="1400" i="1" spc="-5" dirty="0">
                <a:solidFill>
                  <a:srgbClr val="5F5F5F"/>
                </a:solidFill>
                <a:latin typeface="Calibri"/>
                <a:cs typeface="Calibri"/>
              </a:rPr>
              <a:t>bertholdo@if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25170" y="6406514"/>
            <a:ext cx="8715375" cy="308610"/>
            <a:chOff x="225170" y="6406514"/>
            <a:chExt cx="8715375" cy="308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695" y="6416039"/>
              <a:ext cx="8695944" cy="28956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9933" y="6411277"/>
              <a:ext cx="8705850" cy="299085"/>
            </a:xfrm>
            <a:custGeom>
              <a:avLst/>
              <a:gdLst/>
              <a:ahLst/>
              <a:cxnLst/>
              <a:rect l="l" t="t" r="r" b="b"/>
              <a:pathLst>
                <a:path w="8705850" h="299084">
                  <a:moveTo>
                    <a:pt x="0" y="299085"/>
                  </a:moveTo>
                  <a:lnTo>
                    <a:pt x="8705469" y="299085"/>
                  </a:lnTo>
                  <a:lnTo>
                    <a:pt x="8705469" y="0"/>
                  </a:lnTo>
                  <a:lnTo>
                    <a:pt x="0" y="0"/>
                  </a:lnTo>
                  <a:lnTo>
                    <a:pt x="0" y="2990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9470" y="1106042"/>
            <a:ext cx="9008110" cy="4844415"/>
            <a:chOff x="339470" y="1106042"/>
            <a:chExt cx="9008110" cy="48444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995" y="1115567"/>
              <a:ext cx="7533132" cy="48249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4233" y="1110805"/>
              <a:ext cx="7543165" cy="4834890"/>
            </a:xfrm>
            <a:custGeom>
              <a:avLst/>
              <a:gdLst/>
              <a:ahLst/>
              <a:cxnLst/>
              <a:rect l="l" t="t" r="r" b="b"/>
              <a:pathLst>
                <a:path w="7543165" h="4834890">
                  <a:moveTo>
                    <a:pt x="0" y="4834509"/>
                  </a:moveTo>
                  <a:lnTo>
                    <a:pt x="7542657" y="4834509"/>
                  </a:lnTo>
                  <a:lnTo>
                    <a:pt x="7542657" y="0"/>
                  </a:lnTo>
                  <a:lnTo>
                    <a:pt x="0" y="0"/>
                  </a:lnTo>
                  <a:lnTo>
                    <a:pt x="0" y="483450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65063" y="1367027"/>
              <a:ext cx="3872484" cy="10073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60237" y="1362201"/>
              <a:ext cx="3882390" cy="1017269"/>
            </a:xfrm>
            <a:custGeom>
              <a:avLst/>
              <a:gdLst/>
              <a:ahLst/>
              <a:cxnLst/>
              <a:rect l="l" t="t" r="r" b="b"/>
              <a:pathLst>
                <a:path w="3882390" h="1017269">
                  <a:moveTo>
                    <a:pt x="0" y="1016888"/>
                  </a:moveTo>
                  <a:lnTo>
                    <a:pt x="3882009" y="1016888"/>
                  </a:lnTo>
                  <a:lnTo>
                    <a:pt x="3882009" y="0"/>
                  </a:lnTo>
                  <a:lnTo>
                    <a:pt x="0" y="0"/>
                  </a:lnTo>
                  <a:lnTo>
                    <a:pt x="0" y="1016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81964" y="253746"/>
            <a:ext cx="44475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ArrayList</a:t>
            </a:r>
            <a:r>
              <a:rPr spc="-10" dirty="0"/>
              <a:t> </a:t>
            </a:r>
            <a:r>
              <a:rPr spc="-5" dirty="0"/>
              <a:t>e</a:t>
            </a:r>
            <a:r>
              <a:rPr spc="-40" dirty="0"/>
              <a:t> </a:t>
            </a:r>
            <a:r>
              <a:rPr spc="-20" dirty="0"/>
              <a:t>LinkedList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9440" y="6080251"/>
            <a:ext cx="9398000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solidFill>
                  <a:srgbClr val="C00000"/>
                </a:solidFill>
                <a:latin typeface="Calibri"/>
                <a:cs typeface="Calibri"/>
              </a:rPr>
              <a:t>ArrayLists</a:t>
            </a:r>
            <a:r>
              <a:rPr sz="1700" b="1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7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C00000"/>
                </a:solidFill>
                <a:latin typeface="Calibri"/>
                <a:cs typeface="Calibri"/>
              </a:rPr>
              <a:t>LinkedLists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também</a:t>
            </a:r>
            <a:r>
              <a:rPr sz="17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podem</a:t>
            </a:r>
            <a:r>
              <a:rPr sz="17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ser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 inicializados</a:t>
            </a:r>
            <a:r>
              <a:rPr sz="17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já</a:t>
            </a:r>
            <a:r>
              <a:rPr sz="1700" spc="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em</a:t>
            </a:r>
            <a:r>
              <a:rPr sz="17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sua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declaração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por</a:t>
            </a:r>
            <a:r>
              <a:rPr sz="1700" spc="-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meio da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classe</a:t>
            </a:r>
            <a:r>
              <a:rPr sz="1700" spc="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b="1" spc="-15" dirty="0">
                <a:solidFill>
                  <a:srgbClr val="C00000"/>
                </a:solidFill>
                <a:latin typeface="Calibri"/>
                <a:cs typeface="Calibri"/>
              </a:rPr>
              <a:t>Arrays</a:t>
            </a:r>
            <a:r>
              <a:rPr sz="1700" spc="-1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7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9611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C255-3971-33BA-2D11-474CC377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4AF8F9-BAEF-531C-13A5-421315082530}"/>
              </a:ext>
            </a:extLst>
          </p:cNvPr>
          <p:cNvGrpSpPr/>
          <p:nvPr/>
        </p:nvGrpSpPr>
        <p:grpSpPr>
          <a:xfrm>
            <a:off x="80390" y="1421447"/>
            <a:ext cx="9524365" cy="4818380"/>
            <a:chOff x="80390" y="1421447"/>
            <a:chExt cx="9524365" cy="48183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A93404C-713B-0B21-84DB-6EF1B13751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915" y="2148839"/>
              <a:ext cx="9505188" cy="408127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97CA36C-F932-587E-FF93-EE340BDBD595}"/>
                </a:ext>
              </a:extLst>
            </p:cNvPr>
            <p:cNvSpPr/>
            <p:nvPr/>
          </p:nvSpPr>
          <p:spPr>
            <a:xfrm>
              <a:off x="85153" y="2144077"/>
              <a:ext cx="9514840" cy="4091304"/>
            </a:xfrm>
            <a:custGeom>
              <a:avLst/>
              <a:gdLst/>
              <a:ahLst/>
              <a:cxnLst/>
              <a:rect l="l" t="t" r="r" b="b"/>
              <a:pathLst>
                <a:path w="9514840" h="4091304">
                  <a:moveTo>
                    <a:pt x="0" y="4090797"/>
                  </a:moveTo>
                  <a:lnTo>
                    <a:pt x="9514713" y="4090797"/>
                  </a:lnTo>
                  <a:lnTo>
                    <a:pt x="9514713" y="0"/>
                  </a:lnTo>
                  <a:lnTo>
                    <a:pt x="0" y="0"/>
                  </a:lnTo>
                  <a:lnTo>
                    <a:pt x="0" y="409079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46531B1-56EC-6B3E-42BD-B6FE11E5B99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49796" y="3947159"/>
              <a:ext cx="612648" cy="19050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EFE32DB6-60B7-8377-2B87-CCD9388C588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0119" y="1431035"/>
              <a:ext cx="4521708" cy="115062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2FCAB6B-3B89-44BB-63AA-F31847267EAA}"/>
                </a:ext>
              </a:extLst>
            </p:cNvPr>
            <p:cNvSpPr/>
            <p:nvPr/>
          </p:nvSpPr>
          <p:spPr>
            <a:xfrm>
              <a:off x="4765294" y="1426209"/>
              <a:ext cx="4531360" cy="1160145"/>
            </a:xfrm>
            <a:custGeom>
              <a:avLst/>
              <a:gdLst/>
              <a:ahLst/>
              <a:cxnLst/>
              <a:rect l="l" t="t" r="r" b="b"/>
              <a:pathLst>
                <a:path w="4531359" h="1160145">
                  <a:moveTo>
                    <a:pt x="0" y="1160145"/>
                  </a:moveTo>
                  <a:lnTo>
                    <a:pt x="4531233" y="1160145"/>
                  </a:lnTo>
                  <a:lnTo>
                    <a:pt x="4531233" y="0"/>
                  </a:lnTo>
                  <a:lnTo>
                    <a:pt x="0" y="0"/>
                  </a:lnTo>
                  <a:lnTo>
                    <a:pt x="0" y="11601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6613010-0E93-BC7E-E913-0A1F77F8A1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4481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ArrayList</a:t>
            </a:r>
            <a:r>
              <a:rPr spc="-1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20" dirty="0"/>
              <a:t>LinkedList</a:t>
            </a:r>
          </a:p>
        </p:txBody>
      </p:sp>
    </p:spTree>
    <p:extLst>
      <p:ext uri="{BB962C8B-B14F-4D97-AF65-F5344CB8AC3E}">
        <p14:creationId xmlns:p14="http://schemas.microsoft.com/office/powerpoint/2010/main" val="227286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37193"/>
            <a:ext cx="883920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ArrayList</a:t>
            </a:r>
            <a:r>
              <a:rPr spc="-1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20" dirty="0"/>
              <a:t>LinkedList</a:t>
            </a:r>
            <a:r>
              <a:rPr lang="pt-BR" spc="-20" dirty="0"/>
              <a:t> (percorrer) 4 formas</a:t>
            </a:r>
            <a:endParaRPr spc="-2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2698650-F931-780F-F46E-36A14D2B2F1C}"/>
              </a:ext>
            </a:extLst>
          </p:cNvPr>
          <p:cNvSpPr txBox="1"/>
          <p:nvPr/>
        </p:nvSpPr>
        <p:spPr>
          <a:xfrm>
            <a:off x="425450" y="527050"/>
            <a:ext cx="8839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        </a:t>
            </a:r>
            <a:r>
              <a:rPr lang="pt-BR" dirty="0" err="1"/>
              <a:t>List</a:t>
            </a:r>
            <a:r>
              <a:rPr lang="pt-BR" dirty="0"/>
              <a:t>&lt;</a:t>
            </a:r>
            <a:r>
              <a:rPr lang="pt-BR" dirty="0" err="1"/>
              <a:t>Integer</a:t>
            </a:r>
            <a:r>
              <a:rPr lang="pt-BR" dirty="0"/>
              <a:t>&gt;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minhaLista</a:t>
            </a:r>
            <a:r>
              <a:rPr lang="pt-BR" dirty="0"/>
              <a:t> = new </a:t>
            </a:r>
            <a:r>
              <a:rPr lang="pt-BR" dirty="0" err="1"/>
              <a:t>ArrayList</a:t>
            </a:r>
            <a:r>
              <a:rPr lang="pt-BR" dirty="0"/>
              <a:t>&lt;&gt;();</a:t>
            </a:r>
          </a:p>
          <a:p>
            <a:r>
              <a:rPr lang="pt-BR" dirty="0"/>
              <a:t>        </a:t>
            </a:r>
            <a:r>
              <a:rPr lang="pt-BR" dirty="0" err="1"/>
              <a:t>minhaLista.add</a:t>
            </a:r>
            <a:r>
              <a:rPr lang="pt-BR" dirty="0"/>
              <a:t>(10);</a:t>
            </a:r>
          </a:p>
          <a:p>
            <a:r>
              <a:rPr lang="pt-BR" dirty="0"/>
              <a:t>        </a:t>
            </a:r>
            <a:r>
              <a:rPr lang="pt-BR" dirty="0" err="1"/>
              <a:t>minhaLista.add</a:t>
            </a:r>
            <a:r>
              <a:rPr lang="pt-BR" dirty="0"/>
              <a:t>(20);</a:t>
            </a:r>
          </a:p>
          <a:p>
            <a:r>
              <a:rPr lang="pt-BR" dirty="0"/>
              <a:t>        </a:t>
            </a:r>
            <a:r>
              <a:rPr lang="pt-BR" dirty="0" err="1"/>
              <a:t>minhaLista.add</a:t>
            </a:r>
            <a:r>
              <a:rPr lang="pt-BR" dirty="0"/>
              <a:t>(30);</a:t>
            </a:r>
          </a:p>
          <a:p>
            <a:endParaRPr lang="pt-BR" dirty="0"/>
          </a:p>
          <a:p>
            <a:r>
              <a:rPr lang="pt-BR" dirty="0">
                <a:solidFill>
                  <a:srgbClr val="FF0000"/>
                </a:solidFill>
              </a:rPr>
              <a:t>        // 1. Usando for tradicional (índices)</a:t>
            </a:r>
          </a:p>
          <a:p>
            <a:r>
              <a:rPr lang="pt-BR" dirty="0">
                <a:solidFill>
                  <a:srgbClr val="FF0000"/>
                </a:solidFill>
              </a:rPr>
              <a:t>        for (</a:t>
            </a:r>
            <a:r>
              <a:rPr lang="pt-BR" dirty="0" err="1">
                <a:solidFill>
                  <a:srgbClr val="FF0000"/>
                </a:solidFill>
              </a:rPr>
              <a:t>int</a:t>
            </a:r>
            <a:r>
              <a:rPr lang="pt-BR" dirty="0">
                <a:solidFill>
                  <a:srgbClr val="FF0000"/>
                </a:solidFill>
              </a:rPr>
              <a:t> i = 0; i &lt;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minhaLista</a:t>
            </a:r>
            <a:r>
              <a:rPr lang="pt-BR" dirty="0" err="1">
                <a:solidFill>
                  <a:srgbClr val="FF0000"/>
                </a:solidFill>
              </a:rPr>
              <a:t>.size</a:t>
            </a:r>
            <a:r>
              <a:rPr lang="pt-BR" dirty="0">
                <a:solidFill>
                  <a:srgbClr val="FF0000"/>
                </a:solidFill>
              </a:rPr>
              <a:t>(); i++) {</a:t>
            </a:r>
          </a:p>
          <a:p>
            <a:r>
              <a:rPr lang="pt-BR" dirty="0">
                <a:solidFill>
                  <a:srgbClr val="FF0000"/>
                </a:solidFill>
              </a:rPr>
              <a:t>            </a:t>
            </a:r>
            <a:r>
              <a:rPr lang="pt-BR" dirty="0" err="1">
                <a:solidFill>
                  <a:srgbClr val="FF0000"/>
                </a:solidFill>
              </a:rPr>
              <a:t>System.out.println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minhaLista.get</a:t>
            </a:r>
            <a:r>
              <a:rPr lang="pt-BR" dirty="0">
                <a:solidFill>
                  <a:srgbClr val="FF0000"/>
                </a:solidFill>
              </a:rPr>
              <a:t>(i));</a:t>
            </a:r>
          </a:p>
          <a:p>
            <a:r>
              <a:rPr lang="pt-BR" dirty="0"/>
              <a:t>        }      </a:t>
            </a:r>
          </a:p>
          <a:p>
            <a:r>
              <a:rPr lang="pt-BR" dirty="0">
                <a:solidFill>
                  <a:srgbClr val="003300"/>
                </a:solidFill>
              </a:rPr>
              <a:t>  </a:t>
            </a:r>
            <a:r>
              <a:rPr lang="pt-BR" dirty="0">
                <a:solidFill>
                  <a:schemeClr val="accent6"/>
                </a:solidFill>
              </a:rPr>
              <a:t>// 2. Usando for-</a:t>
            </a:r>
            <a:r>
              <a:rPr lang="pt-BR" dirty="0" err="1">
                <a:solidFill>
                  <a:schemeClr val="accent6"/>
                </a:solidFill>
              </a:rPr>
              <a:t>each</a:t>
            </a:r>
            <a:r>
              <a:rPr lang="pt-BR" dirty="0">
                <a:solidFill>
                  <a:schemeClr val="accent6"/>
                </a:solidFill>
              </a:rPr>
              <a:t> (mais simples)</a:t>
            </a:r>
          </a:p>
          <a:p>
            <a:r>
              <a:rPr lang="pt-BR" dirty="0">
                <a:solidFill>
                  <a:schemeClr val="accent6"/>
                </a:solidFill>
              </a:rPr>
              <a:t>        for (</a:t>
            </a:r>
            <a:r>
              <a:rPr lang="pt-BR" dirty="0" err="1">
                <a:solidFill>
                  <a:schemeClr val="accent6"/>
                </a:solidFill>
              </a:rPr>
              <a:t>Integer</a:t>
            </a:r>
            <a:r>
              <a:rPr lang="pt-BR" dirty="0">
                <a:solidFill>
                  <a:schemeClr val="accent6"/>
                </a:solidFill>
              </a:rPr>
              <a:t> item :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minhaLista</a:t>
            </a:r>
            <a:r>
              <a:rPr lang="pt-BR" dirty="0">
                <a:solidFill>
                  <a:schemeClr val="accent6"/>
                </a:solidFill>
              </a:rPr>
              <a:t>) {</a:t>
            </a:r>
          </a:p>
          <a:p>
            <a:r>
              <a:rPr lang="pt-BR" dirty="0">
                <a:solidFill>
                  <a:schemeClr val="accent6"/>
                </a:solidFill>
              </a:rPr>
              <a:t>            </a:t>
            </a:r>
            <a:r>
              <a:rPr lang="pt-BR" dirty="0" err="1">
                <a:solidFill>
                  <a:schemeClr val="accent6"/>
                </a:solidFill>
              </a:rPr>
              <a:t>System.out.println</a:t>
            </a:r>
            <a:r>
              <a:rPr lang="pt-BR" dirty="0">
                <a:solidFill>
                  <a:schemeClr val="accent6"/>
                </a:solidFill>
              </a:rPr>
              <a:t>(item);</a:t>
            </a:r>
          </a:p>
          <a:p>
            <a:r>
              <a:rPr lang="pt-BR" dirty="0">
                <a:solidFill>
                  <a:schemeClr val="accent6"/>
                </a:solidFill>
              </a:rPr>
              <a:t>        }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       // 3. Usando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Iterator</a:t>
            </a:r>
            <a:endParaRPr lang="pt-BR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      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Iterator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&lt;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Integer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&gt;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iterator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=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minhaLista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.iterator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();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      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while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(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iterator.hasNext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()) {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           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System.out.println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(</a:t>
            </a:r>
            <a:r>
              <a:rPr lang="pt-BR" dirty="0" err="1">
                <a:solidFill>
                  <a:schemeClr val="accent5">
                    <a:lumMod val="75000"/>
                  </a:schemeClr>
                </a:solidFill>
              </a:rPr>
              <a:t>iterator.next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());</a:t>
            </a:r>
          </a:p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        }</a:t>
            </a:r>
          </a:p>
          <a:p>
            <a:r>
              <a:rPr lang="pt-BR" dirty="0">
                <a:solidFill>
                  <a:srgbClr val="C00000"/>
                </a:solidFill>
              </a:rPr>
              <a:t>  // 4. Usando Streams (Java 8+) – Esse método precisa estar implementado o </a:t>
            </a:r>
            <a:r>
              <a:rPr lang="pt-BR" dirty="0" err="1">
                <a:solidFill>
                  <a:srgbClr val="C00000"/>
                </a:solidFill>
              </a:rPr>
              <a:t>toString</a:t>
            </a:r>
            <a:r>
              <a:rPr lang="pt-BR" dirty="0">
                <a:solidFill>
                  <a:srgbClr val="C00000"/>
                </a:solidFill>
              </a:rPr>
              <a:t> se a lista for de objetos</a:t>
            </a:r>
          </a:p>
          <a:p>
            <a:r>
              <a:rPr lang="pt-BR" dirty="0">
                <a:solidFill>
                  <a:srgbClr val="C00000"/>
                </a:solidFill>
              </a:rPr>
              <a:t>        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minhaLista</a:t>
            </a:r>
            <a:r>
              <a:rPr lang="pt-BR" dirty="0" err="1">
                <a:solidFill>
                  <a:srgbClr val="C00000"/>
                </a:solidFill>
              </a:rPr>
              <a:t>.stream</a:t>
            </a:r>
            <a:r>
              <a:rPr lang="pt-BR" dirty="0">
                <a:solidFill>
                  <a:srgbClr val="C00000"/>
                </a:solidFill>
              </a:rPr>
              <a:t>().</a:t>
            </a:r>
            <a:r>
              <a:rPr lang="pt-BR" dirty="0" err="1">
                <a:solidFill>
                  <a:srgbClr val="C00000"/>
                </a:solidFill>
              </a:rPr>
              <a:t>forEach</a:t>
            </a:r>
            <a:r>
              <a:rPr lang="pt-BR" dirty="0">
                <a:solidFill>
                  <a:srgbClr val="C00000"/>
                </a:solidFill>
              </a:rPr>
              <a:t>(</a:t>
            </a:r>
            <a:r>
              <a:rPr lang="pt-BR" dirty="0" err="1">
                <a:solidFill>
                  <a:srgbClr val="C00000"/>
                </a:solidFill>
              </a:rPr>
              <a:t>System.out</a:t>
            </a:r>
            <a:r>
              <a:rPr lang="pt-BR" dirty="0">
                <a:solidFill>
                  <a:srgbClr val="C00000"/>
                </a:solidFill>
              </a:rPr>
              <a:t>::</a:t>
            </a:r>
            <a:r>
              <a:rPr lang="pt-BR" dirty="0" err="1">
                <a:solidFill>
                  <a:srgbClr val="C00000"/>
                </a:solidFill>
              </a:rPr>
              <a:t>println</a:t>
            </a:r>
            <a:r>
              <a:rPr lang="pt-BR" dirty="0">
                <a:solidFill>
                  <a:srgbClr val="C00000"/>
                </a:solidFill>
              </a:rPr>
              <a:t>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7996886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dirty="0" err="1"/>
              <a:t>Exemplo</a:t>
            </a:r>
            <a:r>
              <a:rPr lang="en-US" spc="-20" dirty="0"/>
              <a:t> </a:t>
            </a:r>
            <a:r>
              <a:rPr lang="en-US" spc="-20" dirty="0" err="1"/>
              <a:t>Classe</a:t>
            </a:r>
            <a:r>
              <a:rPr lang="en-US" spc="-20" dirty="0"/>
              <a:t> Pessoa – </a:t>
            </a:r>
            <a:r>
              <a:rPr lang="en-US" spc="-20" dirty="0" err="1"/>
              <a:t>usada</a:t>
            </a:r>
            <a:r>
              <a:rPr lang="en-US" spc="-20" dirty="0"/>
              <a:t> </a:t>
            </a:r>
            <a:r>
              <a:rPr lang="en-US" spc="-20" dirty="0" err="1"/>
              <a:t>nos</a:t>
            </a:r>
            <a:r>
              <a:rPr lang="en-US" spc="-20" dirty="0"/>
              <a:t> </a:t>
            </a:r>
            <a:r>
              <a:rPr lang="en-US" spc="-20" dirty="0" err="1"/>
              <a:t>próximos</a:t>
            </a:r>
            <a:r>
              <a:rPr lang="en-US" spc="-20" dirty="0"/>
              <a:t> </a:t>
            </a:r>
            <a:r>
              <a:rPr lang="en-US" spc="-20" dirty="0" err="1"/>
              <a:t>exemplos</a:t>
            </a:r>
            <a:r>
              <a:rPr lang="en-US" spc="-20" dirty="0"/>
              <a:t>.</a:t>
            </a:r>
            <a:br>
              <a:rPr lang="en-US" spc="-20" dirty="0"/>
            </a:b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1441450"/>
            <a:ext cx="799688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JetBrains Mono"/>
              </a:rPr>
              <a:t>public class Pessoa {</a:t>
            </a:r>
          </a:p>
          <a:p>
            <a:endParaRPr lang="en-US" dirty="0">
              <a:effectLst/>
              <a:latin typeface="JetBrains Mono"/>
            </a:endParaRPr>
          </a:p>
          <a:p>
            <a:r>
              <a:rPr lang="en-US" dirty="0">
                <a:effectLst/>
                <a:latin typeface="JetBrains Mono"/>
              </a:rPr>
              <a:t>String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</a:p>
          <a:p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Pessoa(String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this.nome</a:t>
            </a:r>
            <a:r>
              <a:rPr lang="en-US" dirty="0">
                <a:effectLst/>
                <a:latin typeface="JetBrains Mono"/>
              </a:rPr>
              <a:t> =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String </a:t>
            </a:r>
            <a:r>
              <a:rPr lang="en-US" dirty="0" err="1">
                <a:effectLst/>
                <a:latin typeface="JetBrains Mono"/>
              </a:rPr>
              <a:t>getNome</a:t>
            </a:r>
            <a:r>
              <a:rPr lang="en-US" dirty="0">
                <a:effectLst/>
                <a:latin typeface="JetBrains Mono"/>
              </a:rPr>
              <a:t>()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return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void </a:t>
            </a:r>
            <a:r>
              <a:rPr lang="en-US" dirty="0" err="1">
                <a:effectLst/>
                <a:latin typeface="JetBrains Mono"/>
              </a:rPr>
              <a:t>setNome</a:t>
            </a:r>
            <a:r>
              <a:rPr lang="en-US" dirty="0">
                <a:effectLst/>
                <a:latin typeface="JetBrains Mono"/>
              </a:rPr>
              <a:t>(String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this.nome</a:t>
            </a:r>
            <a:r>
              <a:rPr lang="en-US" dirty="0">
                <a:effectLst/>
                <a:latin typeface="JetBrains Mono"/>
              </a:rPr>
              <a:t> =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24885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79968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Percorrer Lista - forma 1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9156"/>
            <a:ext cx="79968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java.util.ArrayList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java.util.List</a:t>
            </a:r>
            <a:r>
              <a:rPr lang="pt-BR" dirty="0"/>
              <a:t>;</a:t>
            </a:r>
          </a:p>
          <a:p>
            <a:r>
              <a:rPr lang="pt-BR" dirty="0"/>
              <a:t>/**</a:t>
            </a:r>
          </a:p>
          <a:p>
            <a:r>
              <a:rPr lang="pt-BR" dirty="0"/>
              <a:t> * Classe utilizada para demonstrar o uso da estrutura</a:t>
            </a:r>
          </a:p>
          <a:p>
            <a:r>
              <a:rPr lang="pt-BR" dirty="0"/>
              <a:t> * de dados Lista com </a:t>
            </a:r>
            <a:r>
              <a:rPr lang="pt-BR" dirty="0" err="1"/>
              <a:t>Generics</a:t>
            </a:r>
            <a:r>
              <a:rPr lang="pt-BR" dirty="0"/>
              <a:t>.</a:t>
            </a:r>
          </a:p>
          <a:p>
            <a:r>
              <a:rPr lang="pt-BR" dirty="0"/>
              <a:t> */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ListaPessoa</a:t>
            </a:r>
            <a:r>
              <a:rPr lang="pt-BR" dirty="0"/>
              <a:t> {</a:t>
            </a:r>
          </a:p>
          <a:p>
            <a:r>
              <a:rPr lang="pt-BR" dirty="0"/>
              <a:t>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    </a:t>
            </a:r>
            <a:r>
              <a:rPr lang="pt-BR" dirty="0" err="1"/>
              <a:t>List</a:t>
            </a:r>
            <a:r>
              <a:rPr lang="pt-BR" dirty="0"/>
              <a:t>&lt;Pessoa&gt; </a:t>
            </a:r>
            <a:r>
              <a:rPr lang="pt-BR" dirty="0">
                <a:solidFill>
                  <a:srgbClr val="FF0000"/>
                </a:solidFill>
              </a:rPr>
              <a:t>pessoas</a:t>
            </a:r>
            <a:r>
              <a:rPr lang="pt-BR" dirty="0"/>
              <a:t> = new </a:t>
            </a:r>
            <a:r>
              <a:rPr lang="pt-BR" dirty="0" err="1"/>
              <a:t>ArrayList</a:t>
            </a:r>
            <a:r>
              <a:rPr lang="pt-BR" dirty="0"/>
              <a:t>&lt;Pessoa&gt;();</a:t>
            </a:r>
          </a:p>
          <a:p>
            <a:r>
              <a:rPr lang="pt-BR" dirty="0"/>
              <a:t>    </a:t>
            </a:r>
            <a:r>
              <a:rPr lang="pt-BR" dirty="0" err="1"/>
              <a:t>pessoas.add</a:t>
            </a:r>
            <a:r>
              <a:rPr lang="pt-BR" dirty="0"/>
              <a:t>(new Pessoa("Rafael"));</a:t>
            </a:r>
          </a:p>
          <a:p>
            <a:r>
              <a:rPr lang="pt-BR" dirty="0"/>
              <a:t>    </a:t>
            </a:r>
            <a:r>
              <a:rPr lang="pt-BR" dirty="0" err="1"/>
              <a:t>pessoas.add</a:t>
            </a:r>
            <a:r>
              <a:rPr lang="pt-BR" dirty="0"/>
              <a:t>(new Pessoa("Cristiano"));</a:t>
            </a:r>
          </a:p>
          <a:p>
            <a:endParaRPr lang="pt-BR" dirty="0"/>
          </a:p>
          <a:p>
            <a:r>
              <a:rPr lang="pt-BR" dirty="0"/>
              <a:t>    /* Podemos utilizar o for-</a:t>
            </a:r>
            <a:r>
              <a:rPr lang="pt-BR" dirty="0" err="1"/>
              <a:t>each</a:t>
            </a:r>
            <a:r>
              <a:rPr lang="pt-BR" dirty="0"/>
              <a:t> para percorrer os elementos da lista. */</a:t>
            </a:r>
          </a:p>
          <a:p>
            <a:r>
              <a:rPr lang="pt-BR" dirty="0"/>
              <a:t>    </a:t>
            </a:r>
            <a:r>
              <a:rPr lang="pt-BR" dirty="0">
                <a:solidFill>
                  <a:srgbClr val="FF0000"/>
                </a:solidFill>
              </a:rPr>
              <a:t>for(Pessoa 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pessoa</a:t>
            </a:r>
            <a:r>
              <a:rPr lang="pt-BR" dirty="0">
                <a:solidFill>
                  <a:srgbClr val="FF0000"/>
                </a:solidFill>
              </a:rPr>
              <a:t> : pessoas) </a:t>
            </a:r>
            <a:r>
              <a:rPr lang="pt-BR" dirty="0"/>
              <a:t>{ </a:t>
            </a:r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// percorre todos elementos do vetor</a:t>
            </a:r>
          </a:p>
          <a:p>
            <a:r>
              <a:rPr lang="pt-BR" dirty="0"/>
              <a:t>  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>
                <a:solidFill>
                  <a:schemeClr val="accent1">
                    <a:lumMod val="50000"/>
                  </a:schemeClr>
                </a:solidFill>
              </a:rPr>
              <a:t>pessoa</a:t>
            </a:r>
            <a:r>
              <a:rPr lang="pt-BR" dirty="0" err="1">
                <a:solidFill>
                  <a:srgbClr val="FF0000"/>
                </a:solidFill>
              </a:rPr>
              <a:t>.getNome</a:t>
            </a:r>
            <a:r>
              <a:rPr lang="pt-BR" dirty="0">
                <a:solidFill>
                  <a:srgbClr val="FF0000"/>
                </a:solidFill>
              </a:rPr>
              <a:t>()</a:t>
            </a:r>
            <a:r>
              <a:rPr lang="pt-BR" dirty="0"/>
              <a:t>);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 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8340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78444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Percorrer Lista - forma 2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9156"/>
            <a:ext cx="86106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</a:t>
            </a:r>
            <a:r>
              <a:rPr lang="en-US" dirty="0">
                <a:effectLst/>
                <a:latin typeface="JetBrains Mono"/>
              </a:rPr>
              <a:t>.*;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java.util.ArrayList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import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java.util.Iterator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public class </a:t>
            </a:r>
            <a:r>
              <a:rPr lang="en-US" dirty="0" err="1">
                <a:effectLst/>
                <a:latin typeface="JetBrains Mono"/>
              </a:rPr>
              <a:t>ListaPessoa</a:t>
            </a:r>
            <a:r>
              <a:rPr lang="en-US" dirty="0">
                <a:effectLst/>
                <a:latin typeface="JetBrains Mono"/>
              </a:rPr>
              <a:t>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static void main(String[] </a:t>
            </a:r>
            <a:r>
              <a:rPr lang="en-US" dirty="0" err="1">
                <a:effectLst/>
                <a:latin typeface="JetBrains Mono"/>
              </a:rPr>
              <a:t>args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List&lt;Pessoa&gt; </a:t>
            </a:r>
            <a:r>
              <a:rPr lang="en-US" dirty="0" err="1">
                <a:effectLst/>
                <a:latin typeface="JetBrains Mono"/>
              </a:rPr>
              <a:t>pessoas</a:t>
            </a:r>
            <a:r>
              <a:rPr lang="en-US" dirty="0">
                <a:effectLst/>
                <a:latin typeface="JetBrains Mono"/>
              </a:rPr>
              <a:t> = new </a:t>
            </a:r>
            <a:r>
              <a:rPr lang="en-US" dirty="0" err="1">
                <a:effectLst/>
                <a:latin typeface="JetBrains Mono"/>
              </a:rPr>
              <a:t>ArrayList</a:t>
            </a:r>
            <a:r>
              <a:rPr lang="en-US" dirty="0">
                <a:effectLst/>
                <a:latin typeface="JetBrains Mono"/>
              </a:rPr>
              <a:t>&lt;&gt;();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Pessoa("Rafael"));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Pessoa("Cristiano"));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for(Iterator it =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pessoas.iterator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();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it.hasNext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();) </a:t>
            </a:r>
            <a:r>
              <a:rPr lang="en-US" dirty="0">
                <a:effectLst/>
                <a:latin typeface="JetBrains Mono"/>
              </a:rPr>
              <a:t>{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//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percorre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enquanto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tem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elementos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    Pessoa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 =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(Pessoa)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it.next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();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//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recupera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próximo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elemento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precisa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fazer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cast 				    para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fazer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uso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do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elemento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effectLst/>
                <a:latin typeface="JetBrains Mono"/>
              </a:rPr>
              <a:t>recuperado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    </a:t>
            </a:r>
            <a:r>
              <a:rPr lang="en-US" dirty="0" err="1">
                <a:effectLst/>
                <a:latin typeface="JetBrains Mono"/>
              </a:rPr>
              <a:t>System.</a:t>
            </a:r>
            <a:r>
              <a:rPr lang="en-US" i="1" dirty="0" err="1">
                <a:effectLst/>
                <a:latin typeface="JetBrains Mono"/>
              </a:rPr>
              <a:t>out</a:t>
            </a:r>
            <a:r>
              <a:rPr lang="en-US" dirty="0" err="1">
                <a:effectLst/>
                <a:latin typeface="JetBrains Mono"/>
              </a:rPr>
              <a:t>.println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nome.getNome</a:t>
            </a:r>
            <a:r>
              <a:rPr lang="en-US" dirty="0">
                <a:effectLst/>
                <a:latin typeface="JetBrains Mono"/>
              </a:rPr>
              <a:t>());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4068188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Percorrer Lista - forma 3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java.util.ArrayList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br>
              <a:rPr lang="en-US" i="1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public class </a:t>
            </a:r>
            <a:r>
              <a:rPr lang="en-US" dirty="0" err="1">
                <a:effectLst/>
                <a:latin typeface="JetBrains Mono"/>
              </a:rPr>
              <a:t>ListaPessoa</a:t>
            </a:r>
            <a:r>
              <a:rPr lang="en-US" dirty="0">
                <a:effectLst/>
                <a:latin typeface="JetBrains Mono"/>
              </a:rPr>
              <a:t>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static void main(String[] </a:t>
            </a:r>
            <a:r>
              <a:rPr lang="en-US" dirty="0" err="1">
                <a:effectLst/>
                <a:latin typeface="JetBrains Mono"/>
              </a:rPr>
              <a:t>args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List&lt;Pessoa&gt; </a:t>
            </a:r>
            <a:r>
              <a:rPr lang="en-US" dirty="0" err="1">
                <a:effectLst/>
                <a:latin typeface="JetBrains Mono"/>
              </a:rPr>
              <a:t>pessoas</a:t>
            </a:r>
            <a:r>
              <a:rPr lang="en-US" dirty="0">
                <a:effectLst/>
                <a:latin typeface="JetBrains Mono"/>
              </a:rPr>
              <a:t> = new </a:t>
            </a:r>
            <a:r>
              <a:rPr lang="en-US" dirty="0" err="1">
                <a:effectLst/>
                <a:latin typeface="JetBrains Mono"/>
              </a:rPr>
              <a:t>ArrayList</a:t>
            </a:r>
            <a:r>
              <a:rPr lang="en-US" dirty="0">
                <a:effectLst/>
                <a:latin typeface="JetBrains Mono"/>
              </a:rPr>
              <a:t>&lt;Pessoa&gt;();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Pessoa("Rafael"));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Pessoa("Cristiano"));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/* Observe que o casting </a:t>
            </a:r>
            <a:r>
              <a:rPr lang="en-US" dirty="0" err="1">
                <a:effectLst/>
                <a:latin typeface="JetBrains Mono"/>
              </a:rPr>
              <a:t>não</a:t>
            </a:r>
            <a:r>
              <a:rPr lang="en-US" dirty="0">
                <a:effectLst/>
                <a:latin typeface="JetBrains Mono"/>
              </a:rPr>
              <a:t> é </a:t>
            </a:r>
            <a:r>
              <a:rPr lang="en-US" dirty="0" err="1">
                <a:effectLst/>
                <a:latin typeface="JetBrains Mono"/>
              </a:rPr>
              <a:t>necessário</a:t>
            </a:r>
            <a:r>
              <a:rPr lang="en-US" dirty="0">
                <a:effectLst/>
                <a:latin typeface="JetBrains Mono"/>
              </a:rPr>
              <a:t>, pois o </a:t>
            </a:r>
            <a:r>
              <a:rPr lang="en-US" dirty="0" err="1">
                <a:effectLst/>
                <a:latin typeface="JetBrains Mono"/>
              </a:rPr>
              <a:t>compilador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</a:t>
            </a:r>
            <a:r>
              <a:rPr lang="en-US" dirty="0" err="1">
                <a:effectLst/>
                <a:latin typeface="JetBrains Mono"/>
              </a:rPr>
              <a:t>já</a:t>
            </a:r>
            <a:r>
              <a:rPr lang="en-US" dirty="0">
                <a:effectLst/>
                <a:latin typeface="JetBrains Mono"/>
              </a:rPr>
              <a:t> sabe que </a:t>
            </a:r>
            <a:r>
              <a:rPr lang="en-US" dirty="0" err="1">
                <a:effectLst/>
                <a:latin typeface="JetBrains Mono"/>
              </a:rPr>
              <a:t>dentro</a:t>
            </a:r>
            <a:r>
              <a:rPr lang="en-US" dirty="0">
                <a:effectLst/>
                <a:latin typeface="JetBrains Mono"/>
              </a:rPr>
              <a:t> da </a:t>
            </a:r>
            <a:r>
              <a:rPr lang="en-US" dirty="0" err="1">
                <a:effectLst/>
                <a:latin typeface="JetBrains Mono"/>
              </a:rPr>
              <a:t>lista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só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tem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objetos</a:t>
            </a:r>
            <a:r>
              <a:rPr lang="en-US" dirty="0">
                <a:effectLst/>
                <a:latin typeface="JetBrains Mono"/>
              </a:rPr>
              <a:t> do </a:t>
            </a:r>
            <a:r>
              <a:rPr lang="en-US" dirty="0" err="1">
                <a:effectLst/>
                <a:latin typeface="JetBrains Mono"/>
              </a:rPr>
              <a:t>tipo</a:t>
            </a:r>
            <a:r>
              <a:rPr lang="en-US" dirty="0">
                <a:effectLst/>
                <a:latin typeface="JetBrains Mono"/>
              </a:rPr>
              <a:t> Pessoa. */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       for(int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= 0;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&lt;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pessoas.size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();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++)//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percorre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de forma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semelhante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a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vetor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    </a:t>
            </a:r>
            <a:r>
              <a:rPr lang="en-US" dirty="0" err="1">
                <a:effectLst/>
                <a:latin typeface="JetBrains Mono"/>
              </a:rPr>
              <a:t>System.</a:t>
            </a:r>
            <a:r>
              <a:rPr lang="en-US" i="1" dirty="0" err="1">
                <a:effectLst/>
                <a:latin typeface="JetBrains Mono"/>
              </a:rPr>
              <a:t>out</a:t>
            </a:r>
            <a:r>
              <a:rPr lang="en-US" dirty="0" err="1">
                <a:effectLst/>
                <a:latin typeface="JetBrains Mono"/>
              </a:rPr>
              <a:t>.println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pessoas.get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i</a:t>
            </a:r>
            <a:r>
              <a:rPr lang="en-US" dirty="0">
                <a:effectLst/>
                <a:latin typeface="JetBrains Mono"/>
              </a:rPr>
              <a:t>).</a:t>
            </a:r>
            <a:r>
              <a:rPr lang="en-US" dirty="0" err="1">
                <a:effectLst/>
                <a:latin typeface="JetBrains Mono"/>
              </a:rPr>
              <a:t>getNome</a:t>
            </a:r>
            <a:r>
              <a:rPr lang="en-US" dirty="0">
                <a:effectLst/>
                <a:latin typeface="JetBrains Mono"/>
              </a:rPr>
              <a:t>());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97935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Interface comparable quando o elemento a comparar é um Integer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389B20-0DBE-FB85-B639-858B9B052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574537"/>
              </p:ext>
            </p:extLst>
          </p:nvPr>
        </p:nvGraphicFramePr>
        <p:xfrm>
          <a:off x="1035050" y="1974850"/>
          <a:ext cx="7620000" cy="4648200"/>
        </p:xfrm>
        <a:graphic>
          <a:graphicData uri="http://schemas.openxmlformats.org/drawingml/2006/table">
            <a:tbl>
              <a:tblPr/>
              <a:tblGrid>
                <a:gridCol w="7620000">
                  <a:extLst>
                    <a:ext uri="{9D8B030D-6E8A-4147-A177-3AD203B41FA5}">
                      <a16:colId xmlns:a16="http://schemas.microsoft.com/office/drawing/2014/main" val="1596040151"/>
                    </a:ext>
                  </a:extLst>
                </a:gridCol>
              </a:tblGrid>
              <a:tr h="46482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public class 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MyClass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implements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Comparable&lt;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MyClass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&gt; {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private int </a:t>
                      </a:r>
                      <a:r>
                        <a:rPr lang="en-US" dirty="0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value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;</a:t>
                      </a:r>
                      <a:b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BBB529"/>
                          </a:solidFill>
                          <a:effectLst/>
                          <a:latin typeface="JetBrains Mono"/>
                        </a:rPr>
                        <a:t>@Override</a:t>
                      </a:r>
                      <a:br>
                        <a:rPr lang="en-US" dirty="0">
                          <a:solidFill>
                            <a:srgbClr val="BBB529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BBB529"/>
                          </a:solidFill>
                          <a:effectLst/>
                          <a:latin typeface="JetBrains Mono"/>
                        </a:rPr>
                        <a:t>   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public int </a:t>
                      </a:r>
                      <a:r>
                        <a:rPr lang="en-US" dirty="0" err="1">
                          <a:solidFill>
                            <a:srgbClr val="FFC66D"/>
                          </a:solidFill>
                          <a:effectLst/>
                          <a:latin typeface="JetBrains Mono"/>
                        </a:rPr>
                        <a:t>compareTo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MyClass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dirty="0">
                          <a:solidFill>
                            <a:srgbClr val="FFC000"/>
                          </a:solidFill>
                          <a:effectLst/>
                          <a:latin typeface="JetBrains Mono"/>
                        </a:rPr>
                        <a:t>other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) {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dirty="0">
                          <a:solidFill>
                            <a:srgbClr val="808080"/>
                          </a:solidFill>
                          <a:effectLst/>
                          <a:latin typeface="JetBrains Mono"/>
                        </a:rPr>
                        <a:t>// Compare the current object (this) with the specified object (other) </a:t>
                      </a:r>
                      <a:br>
                        <a:rPr lang="en-US" dirty="0">
                          <a:solidFill>
                            <a:srgbClr val="808080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808080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if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dirty="0" err="1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this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dirty="0" err="1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value</a:t>
                      </a:r>
                      <a:r>
                        <a:rPr lang="en-US" dirty="0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&lt; </a:t>
                      </a:r>
                      <a:r>
                        <a:rPr lang="en-US" dirty="0" err="1">
                          <a:solidFill>
                            <a:srgbClr val="FFC000"/>
                          </a:solidFill>
                          <a:effectLst/>
                          <a:latin typeface="JetBrains Mono"/>
                        </a:rPr>
                        <a:t>other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dirty="0" err="1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value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) {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       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return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-</a:t>
                      </a:r>
                      <a:r>
                        <a:rPr lang="en-US" dirty="0">
                          <a:solidFill>
                            <a:srgbClr val="6897BB"/>
                          </a:solidFill>
                          <a:effectLst/>
                          <a:latin typeface="JetBrains Mono"/>
                        </a:rPr>
                        <a:t>1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;</a:t>
                      </a:r>
                      <a:b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}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else if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(</a:t>
                      </a:r>
                      <a:r>
                        <a:rPr lang="en-US" dirty="0" err="1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this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dirty="0" err="1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value</a:t>
                      </a:r>
                      <a:r>
                        <a:rPr lang="en-US" dirty="0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&gt; </a:t>
                      </a:r>
                      <a:r>
                        <a:rPr lang="en-US" dirty="0" err="1">
                          <a:solidFill>
                            <a:srgbClr val="FFC000"/>
                          </a:solidFill>
                          <a:effectLst/>
                          <a:latin typeface="JetBrains Mono"/>
                        </a:rPr>
                        <a:t>other</a:t>
                      </a:r>
                      <a:r>
                        <a:rPr lang="en-US" dirty="0" err="1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.</a:t>
                      </a:r>
                      <a:r>
                        <a:rPr lang="en-US" dirty="0" err="1">
                          <a:solidFill>
                            <a:srgbClr val="9876AA"/>
                          </a:solidFill>
                          <a:effectLst/>
                          <a:latin typeface="JetBrains Mono"/>
                        </a:rPr>
                        <a:t>value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)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    {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return </a:t>
                      </a:r>
                      <a:r>
                        <a:rPr lang="en-US" dirty="0">
                          <a:solidFill>
                            <a:srgbClr val="6897BB"/>
                          </a:solidFill>
                          <a:effectLst/>
                          <a:latin typeface="JetBrains Mono"/>
                        </a:rPr>
                        <a:t>1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;</a:t>
                      </a:r>
                      <a:b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}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else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{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        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return </a:t>
                      </a:r>
                      <a:r>
                        <a:rPr lang="en-US" dirty="0">
                          <a:solidFill>
                            <a:srgbClr val="6897BB"/>
                          </a:solidFill>
                          <a:effectLst/>
                          <a:latin typeface="JetBrains Mono"/>
                        </a:rPr>
                        <a:t>0</a:t>
                      </a: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;</a:t>
                      </a:r>
                      <a:b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CC7832"/>
                          </a:solidFill>
                          <a:effectLst/>
                          <a:latin typeface="JetBrains Mono"/>
                        </a:rPr>
                        <a:t>        </a:t>
                      </a: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}</a:t>
                      </a:r>
                      <a:b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</a:br>
                      <a:r>
                        <a:rPr lang="en-US" dirty="0">
                          <a:solidFill>
                            <a:srgbClr val="A9B7C6"/>
                          </a:solidFill>
                          <a:effectLst/>
                          <a:latin typeface="JetBrains Mono"/>
                        </a:rPr>
                        <a:t>    }</a:t>
                      </a:r>
                    </a:p>
                  </a:txBody>
                  <a:tcPr marL="40274" marR="40274" marT="40274" marB="4027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09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773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Interface comparable quando o elemento a comparar é um </a:t>
            </a:r>
            <a:r>
              <a:rPr lang="pt-BR" spc="-5" dirty="0">
                <a:solidFill>
                  <a:schemeClr val="accent6">
                    <a:lumMod val="75000"/>
                  </a:schemeClr>
                </a:solidFill>
              </a:rPr>
              <a:t>String</a:t>
            </a:r>
            <a:endParaRPr spc="-1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  <a:p>
            <a:endParaRPr lang="pt-BR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389B20-0DBE-FB85-B639-858B9B052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340046"/>
              </p:ext>
            </p:extLst>
          </p:nvPr>
        </p:nvGraphicFramePr>
        <p:xfrm>
          <a:off x="501650" y="2051050"/>
          <a:ext cx="8991600" cy="4572000"/>
        </p:xfrm>
        <a:graphic>
          <a:graphicData uri="http://schemas.openxmlformats.org/drawingml/2006/table">
            <a:tbl>
              <a:tblPr/>
              <a:tblGrid>
                <a:gridCol w="8991600">
                  <a:extLst>
                    <a:ext uri="{9D8B030D-6E8A-4147-A177-3AD203B41FA5}">
                      <a16:colId xmlns:a16="http://schemas.microsoft.com/office/drawing/2014/main" val="1596040151"/>
                    </a:ext>
                  </a:extLst>
                </a:gridCol>
              </a:tblGrid>
              <a:tr h="4572000">
                <a:tc>
                  <a:txBody>
                    <a:bodyPr/>
                    <a:lstStyle/>
                    <a:p>
                      <a:pPr algn="l" fontAlgn="t"/>
                      <a:br>
                        <a:rPr lang="pt-BR" sz="2000" dirty="0">
                          <a:effectLst/>
                        </a:rPr>
                      </a:br>
                      <a:r>
                        <a:rPr lang="pt-BR" sz="2000" dirty="0">
                          <a:effectLst/>
                        </a:rPr>
                        <a:t>Um int valor: </a:t>
                      </a:r>
                      <a:r>
                        <a:rPr lang="pt-BR" sz="2000" dirty="0">
                          <a:solidFill>
                            <a:srgbClr val="FF0000"/>
                          </a:solidFill>
                          <a:effectLst/>
                        </a:rPr>
                        <a:t>0</a:t>
                      </a:r>
                      <a:r>
                        <a:rPr lang="pt-BR" sz="2000" dirty="0">
                          <a:effectLst/>
                        </a:rPr>
                        <a:t> se a string for igual à outra string.</a:t>
                      </a:r>
                      <a:br>
                        <a:rPr lang="pt-BR" sz="2000" dirty="0">
                          <a:effectLst/>
                        </a:rPr>
                      </a:br>
                      <a:r>
                        <a:rPr lang="pt-BR" sz="2000" dirty="0">
                          <a:solidFill>
                            <a:srgbClr val="FF0000"/>
                          </a:solidFill>
                          <a:effectLst/>
                        </a:rPr>
                        <a:t>&lt; 0 </a:t>
                      </a:r>
                      <a:r>
                        <a:rPr lang="pt-BR" sz="2000" dirty="0">
                          <a:effectLst/>
                        </a:rPr>
                        <a:t>se a string for  lexicograficamente menor que a outra string</a:t>
                      </a:r>
                      <a:br>
                        <a:rPr lang="pt-BR" sz="2000" dirty="0">
                          <a:effectLst/>
                        </a:rPr>
                      </a:br>
                      <a:r>
                        <a:rPr lang="pt-BR" sz="2000" dirty="0">
                          <a:solidFill>
                            <a:srgbClr val="FF0000"/>
                          </a:solidFill>
                          <a:effectLst/>
                        </a:rPr>
                        <a:t>&gt; 0 </a:t>
                      </a:r>
                      <a:r>
                        <a:rPr lang="pt-BR" sz="2000" dirty="0">
                          <a:effectLst/>
                        </a:rPr>
                        <a:t>se a string for lexicograficamente maior que a outra string (mais caracteres)</a:t>
                      </a:r>
                    </a:p>
                    <a:p>
                      <a:pPr algn="l" fontAlgn="t"/>
                      <a:endParaRPr lang="pt-BR" sz="2000" dirty="0">
                        <a:effectLst/>
                      </a:endParaRPr>
                    </a:p>
                    <a:p>
                      <a:pPr algn="l" fontAlgn="t"/>
                      <a:r>
                        <a:rPr lang="pt-BR" sz="2000" dirty="0">
                          <a:effectLst/>
                        </a:rPr>
                        <a:t>Lexicograficamente- comparação letra a letra.</a:t>
                      </a:r>
                    </a:p>
                    <a:p>
                      <a:pPr algn="l" fontAlgn="t"/>
                      <a:endParaRPr lang="pt-BR" sz="2000" dirty="0">
                        <a:effectLst/>
                      </a:endParaRPr>
                    </a:p>
                    <a:p>
                      <a:pPr algn="l" fontAlgn="t"/>
                      <a:r>
                        <a:rPr lang="pt-BR" sz="2000" dirty="0">
                          <a:effectLst/>
                        </a:rPr>
                        <a:t>String elemento=“abc”;</a:t>
                      </a:r>
                    </a:p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int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compareTo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(String p) {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return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elemento.</a:t>
                      </a:r>
                      <a:r>
                        <a:rPr lang="en-US" sz="2000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compareTo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(p);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comparando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2 Strings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através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do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método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compareTo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disponível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classe</a:t>
                      </a:r>
                      <a:r>
                        <a:rPr lang="en-US" sz="20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String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algn="l" fontAlgn="t"/>
                      <a:endParaRPr lang="pt-BR" sz="2000" dirty="0">
                        <a:effectLst/>
                      </a:endParaRPr>
                    </a:p>
                  </a:txBody>
                  <a:tcPr marL="40274" marR="40274" marT="40274" marB="40274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09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88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Interface comparable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JetBrains Mono"/>
              </a:rPr>
              <a:t>public class Pessoa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implements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Comparable&lt;Pessoa&gt;</a:t>
            </a:r>
          </a:p>
          <a:p>
            <a:r>
              <a:rPr lang="en-US" dirty="0">
                <a:effectLst/>
                <a:latin typeface="JetBrains Mono"/>
              </a:rPr>
              <a:t> {</a:t>
            </a:r>
          </a:p>
          <a:p>
            <a:r>
              <a:rPr lang="en-US" dirty="0">
                <a:effectLst/>
                <a:latin typeface="JetBrains Mono"/>
              </a:rPr>
              <a:t> String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Pessoa(String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this.nome</a:t>
            </a:r>
            <a:r>
              <a:rPr lang="en-US" dirty="0">
                <a:effectLst/>
                <a:latin typeface="JetBrains Mono"/>
              </a:rPr>
              <a:t> =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String </a:t>
            </a:r>
            <a:r>
              <a:rPr lang="en-US" dirty="0" err="1">
                <a:effectLst/>
                <a:latin typeface="JetBrains Mono"/>
              </a:rPr>
              <a:t>getNome</a:t>
            </a:r>
            <a:r>
              <a:rPr lang="en-US" dirty="0">
                <a:effectLst/>
                <a:latin typeface="JetBrains Mono"/>
              </a:rPr>
              <a:t>()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return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void </a:t>
            </a:r>
            <a:r>
              <a:rPr lang="en-US" dirty="0" err="1">
                <a:effectLst/>
                <a:latin typeface="JetBrains Mono"/>
              </a:rPr>
              <a:t>setNome</a:t>
            </a:r>
            <a:r>
              <a:rPr lang="en-US" dirty="0">
                <a:effectLst/>
                <a:latin typeface="JetBrains Mono"/>
              </a:rPr>
              <a:t>(String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this.nome</a:t>
            </a:r>
            <a:r>
              <a:rPr lang="en-US" dirty="0">
                <a:effectLst/>
                <a:latin typeface="JetBrains Mono"/>
              </a:rPr>
              <a:t> = </a:t>
            </a:r>
            <a:r>
              <a:rPr lang="en-US" dirty="0" err="1">
                <a:effectLst/>
                <a:latin typeface="JetBrains Mono"/>
              </a:rPr>
              <a:t>nome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</a:p>
          <a:p>
            <a:r>
              <a:rPr lang="en-US" dirty="0">
                <a:effectLst/>
                <a:latin typeface="JetBrains Mono"/>
              </a:rPr>
              <a:t>@Override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public int </a:t>
            </a:r>
            <a:r>
              <a:rPr lang="en-US" dirty="0" err="1">
                <a:effectLst/>
                <a:latin typeface="JetBrains Mono"/>
              </a:rPr>
              <a:t>compareTo</a:t>
            </a:r>
            <a:r>
              <a:rPr lang="en-US" dirty="0">
                <a:effectLst/>
                <a:latin typeface="JetBrains Mono"/>
              </a:rPr>
              <a:t>(Pessoa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p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return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effectLst/>
                <a:latin typeface="JetBrains Mono"/>
              </a:rPr>
              <a:t>this.nome</a:t>
            </a:r>
            <a:r>
              <a:rPr lang="en-US" dirty="0" err="1">
                <a:effectLst/>
                <a:latin typeface="JetBrains Mono"/>
              </a:rPr>
              <a:t>.compareTo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</a:t>
            </a:r>
            <a:r>
              <a:rPr lang="en-US" dirty="0" err="1">
                <a:effectLst/>
                <a:latin typeface="JetBrains Mono"/>
              </a:rPr>
              <a:t>.getNome</a:t>
            </a:r>
            <a:r>
              <a:rPr lang="en-US" dirty="0">
                <a:effectLst/>
                <a:latin typeface="JetBrains Mono"/>
              </a:rPr>
              <a:t>());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</a:p>
          <a:p>
            <a:endParaRPr lang="en-US" dirty="0">
              <a:effectLst/>
              <a:latin typeface="JetBrains Mono"/>
            </a:endParaRPr>
          </a:p>
          <a:p>
            <a:endParaRPr lang="en-US" dirty="0">
              <a:latin typeface="JetBrains Mono"/>
            </a:endParaRPr>
          </a:p>
          <a:p>
            <a:endParaRPr lang="en-US" dirty="0">
              <a:effectLst/>
              <a:latin typeface="JetBrains Mono"/>
            </a:endParaRPr>
          </a:p>
          <a:p>
            <a:endParaRPr lang="en-US" dirty="0">
              <a:latin typeface="JetBrains Mono"/>
            </a:endParaRPr>
          </a:p>
          <a:p>
            <a:endParaRPr lang="en-US" dirty="0">
              <a:effectLst/>
              <a:latin typeface="JetBrains Mono"/>
            </a:endParaRPr>
          </a:p>
          <a:p>
            <a:endParaRPr lang="en-US" dirty="0">
              <a:latin typeface="JetBrains Mono"/>
            </a:endParaRPr>
          </a:p>
          <a:p>
            <a:endParaRPr lang="en-US" dirty="0">
              <a:effectLst/>
              <a:latin typeface="JetBrains Mono"/>
            </a:endParaRPr>
          </a:p>
          <a:p>
            <a:endParaRPr lang="en-US" dirty="0">
              <a:latin typeface="JetBrains Mono"/>
            </a:endParaRPr>
          </a:p>
          <a:p>
            <a:endParaRPr lang="en-US" dirty="0">
              <a:effectLst/>
              <a:latin typeface="JetBrains Mono"/>
            </a:endParaRPr>
          </a:p>
          <a:p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416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Percorrer Lista - forma 3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JetBrains Mono"/>
            </a:endParaRPr>
          </a:p>
          <a:p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java.util.ArrayList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import </a:t>
            </a:r>
            <a:r>
              <a:rPr lang="en-US" dirty="0" err="1">
                <a:effectLst/>
                <a:latin typeface="JetBrains Mono"/>
              </a:rPr>
              <a:t>java.util.List</a:t>
            </a:r>
            <a:r>
              <a:rPr lang="en-US" dirty="0">
                <a:effectLst/>
                <a:latin typeface="JetBrains Mono"/>
              </a:rPr>
              <a:t>;</a:t>
            </a:r>
            <a:br>
              <a:rPr lang="en-US" dirty="0">
                <a:effectLst/>
                <a:latin typeface="JetBrains Mono"/>
              </a:rPr>
            </a:br>
            <a:br>
              <a:rPr lang="en-US" i="1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public class </a:t>
            </a:r>
            <a:r>
              <a:rPr lang="en-US" dirty="0" err="1">
                <a:effectLst/>
                <a:latin typeface="JetBrains Mono"/>
              </a:rPr>
              <a:t>ListaPessoa</a:t>
            </a:r>
            <a:r>
              <a:rPr lang="en-US" dirty="0">
                <a:effectLst/>
                <a:latin typeface="JetBrains Mono"/>
              </a:rPr>
              <a:t>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public static void main(String[] </a:t>
            </a:r>
            <a:r>
              <a:rPr lang="en-US" dirty="0" err="1">
                <a:effectLst/>
                <a:latin typeface="JetBrains Mono"/>
              </a:rPr>
              <a:t>args</a:t>
            </a:r>
            <a:r>
              <a:rPr lang="en-US" dirty="0">
                <a:effectLst/>
                <a:latin typeface="JetBrains Mono"/>
              </a:rPr>
              <a:t>)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List&lt;Pessoa&gt; </a:t>
            </a:r>
            <a:r>
              <a:rPr lang="en-US" dirty="0" err="1">
                <a:effectLst/>
                <a:latin typeface="JetBrains Mono"/>
              </a:rPr>
              <a:t>pessoas</a:t>
            </a:r>
            <a:r>
              <a:rPr lang="en-US" dirty="0">
                <a:effectLst/>
                <a:latin typeface="JetBrains Mono"/>
              </a:rPr>
              <a:t> = new </a:t>
            </a:r>
            <a:r>
              <a:rPr lang="en-US" dirty="0" err="1">
                <a:effectLst/>
                <a:latin typeface="JetBrains Mono"/>
              </a:rPr>
              <a:t>ArrayList</a:t>
            </a:r>
            <a:r>
              <a:rPr lang="en-US" dirty="0">
                <a:effectLst/>
                <a:latin typeface="JetBrains Mono"/>
              </a:rPr>
              <a:t>&lt;Pessoa&gt;();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Pessoa("Rafael"));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</a:t>
            </a:r>
            <a:r>
              <a:rPr lang="en-US" dirty="0" err="1">
                <a:effectLst/>
                <a:latin typeface="JetBrains Mono"/>
              </a:rPr>
              <a:t>pessoas.add</a:t>
            </a:r>
            <a:r>
              <a:rPr lang="en-US" dirty="0">
                <a:effectLst/>
                <a:latin typeface="JetBrains Mono"/>
              </a:rPr>
              <a:t>(new Pessoa("Cristiano"));</a:t>
            </a:r>
            <a:br>
              <a:rPr lang="en-US" dirty="0">
                <a:effectLst/>
                <a:latin typeface="JetBrains Mono"/>
              </a:rPr>
            </a:b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/* Observe que o casting </a:t>
            </a:r>
            <a:r>
              <a:rPr lang="en-US" dirty="0" err="1">
                <a:effectLst/>
                <a:latin typeface="JetBrains Mono"/>
              </a:rPr>
              <a:t>não</a:t>
            </a:r>
            <a:r>
              <a:rPr lang="en-US" dirty="0">
                <a:effectLst/>
                <a:latin typeface="JetBrains Mono"/>
              </a:rPr>
              <a:t> é </a:t>
            </a:r>
            <a:r>
              <a:rPr lang="en-US" dirty="0" err="1">
                <a:effectLst/>
                <a:latin typeface="JetBrains Mono"/>
              </a:rPr>
              <a:t>necessário</a:t>
            </a:r>
            <a:r>
              <a:rPr lang="en-US" dirty="0">
                <a:effectLst/>
                <a:latin typeface="JetBrains Mono"/>
              </a:rPr>
              <a:t>, pois o </a:t>
            </a:r>
            <a:r>
              <a:rPr lang="en-US" dirty="0" err="1">
                <a:effectLst/>
                <a:latin typeface="JetBrains Mono"/>
              </a:rPr>
              <a:t>compilador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</a:t>
            </a:r>
            <a:r>
              <a:rPr lang="en-US" dirty="0" err="1">
                <a:effectLst/>
                <a:latin typeface="JetBrains Mono"/>
              </a:rPr>
              <a:t>já</a:t>
            </a:r>
            <a:r>
              <a:rPr lang="en-US" dirty="0">
                <a:effectLst/>
                <a:latin typeface="JetBrains Mono"/>
              </a:rPr>
              <a:t> sabe que </a:t>
            </a:r>
            <a:r>
              <a:rPr lang="en-US" dirty="0" err="1">
                <a:effectLst/>
                <a:latin typeface="JetBrains Mono"/>
              </a:rPr>
              <a:t>dentro</a:t>
            </a:r>
            <a:r>
              <a:rPr lang="en-US" dirty="0">
                <a:effectLst/>
                <a:latin typeface="JetBrains Mono"/>
              </a:rPr>
              <a:t> da </a:t>
            </a:r>
            <a:r>
              <a:rPr lang="en-US" dirty="0" err="1">
                <a:effectLst/>
                <a:latin typeface="JetBrains Mono"/>
              </a:rPr>
              <a:t>lista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só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tem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objetos</a:t>
            </a:r>
            <a:r>
              <a:rPr lang="en-US" dirty="0">
                <a:effectLst/>
                <a:latin typeface="JetBrains Mono"/>
              </a:rPr>
              <a:t> do </a:t>
            </a:r>
            <a:r>
              <a:rPr lang="en-US" dirty="0" err="1">
                <a:effectLst/>
                <a:latin typeface="JetBrains Mono"/>
              </a:rPr>
              <a:t>tipo</a:t>
            </a:r>
            <a:r>
              <a:rPr lang="en-US" dirty="0">
                <a:effectLst/>
                <a:latin typeface="JetBrains Mono"/>
              </a:rPr>
              <a:t> Pessoa. */</a:t>
            </a:r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  <a:p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Collections.</a:t>
            </a:r>
            <a:r>
              <a:rPr lang="en-US" i="1" dirty="0" err="1">
                <a:solidFill>
                  <a:srgbClr val="FF0000"/>
                </a:solidFill>
                <a:effectLst/>
                <a:latin typeface="JetBrains Mono"/>
              </a:rPr>
              <a:t>sort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pessoas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)</a:t>
            </a:r>
            <a:r>
              <a:rPr lang="en-US" dirty="0">
                <a:effectLst/>
                <a:latin typeface="JetBrains Mono"/>
              </a:rPr>
              <a:t>;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 //</a:t>
            </a:r>
            <a:r>
              <a:rPr lang="en-US" dirty="0" err="1">
                <a:solidFill>
                  <a:srgbClr val="7030A0"/>
                </a:solidFill>
                <a:effectLst/>
                <a:latin typeface="JetBrains Mono"/>
              </a:rPr>
              <a:t>usado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 para </a:t>
            </a:r>
            <a:r>
              <a:rPr lang="en-US" dirty="0" err="1">
                <a:solidFill>
                  <a:srgbClr val="7030A0"/>
                </a:solidFill>
                <a:effectLst/>
                <a:latin typeface="JetBrains Mono"/>
              </a:rPr>
              <a:t>ordenar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, mas </a:t>
            </a:r>
            <a:r>
              <a:rPr lang="en-US" dirty="0" err="1">
                <a:solidFill>
                  <a:srgbClr val="7030A0"/>
                </a:solidFill>
                <a:effectLst/>
                <a:latin typeface="JetBrains Mono"/>
              </a:rPr>
              <a:t>como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 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Pessoa é um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Objeto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, </a:t>
            </a:r>
            <a:r>
              <a:rPr lang="en-US" dirty="0" err="1">
                <a:solidFill>
                  <a:srgbClr val="7030A0"/>
                </a:solidFill>
                <a:effectLst/>
                <a:latin typeface="JetBrains Mono"/>
              </a:rPr>
              <a:t>será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7030A0"/>
                </a:solidFill>
                <a:effectLst/>
                <a:latin typeface="JetBrains Mono"/>
              </a:rPr>
              <a:t>necessário</a:t>
            </a:r>
            <a:r>
              <a:rPr lang="en-US" dirty="0">
                <a:solidFill>
                  <a:srgbClr val="7030A0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implementar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em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Pessoa a interface Comparable&lt;Pessoa&gt;</a:t>
            </a:r>
          </a:p>
          <a:p>
            <a:br>
              <a:rPr lang="en-US" dirty="0">
                <a:effectLst/>
                <a:latin typeface="JetBrains Mono"/>
              </a:rPr>
            </a:b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       for(int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= 0;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 &lt;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pessoas.size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(); </a:t>
            </a:r>
            <a:r>
              <a:rPr lang="en-US" dirty="0" err="1">
                <a:solidFill>
                  <a:srgbClr val="FF0000"/>
                </a:solidFill>
                <a:effectLst/>
                <a:latin typeface="JetBrains Mono"/>
              </a:rPr>
              <a:t>i</a:t>
            </a:r>
            <a:r>
              <a:rPr lang="en-US" dirty="0">
                <a:solidFill>
                  <a:srgbClr val="FF0000"/>
                </a:solidFill>
                <a:effectLst/>
                <a:latin typeface="JetBrains Mono"/>
              </a:rPr>
              <a:t>++)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{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    </a:t>
            </a:r>
            <a:r>
              <a:rPr lang="en-US" dirty="0" err="1">
                <a:effectLst/>
                <a:latin typeface="JetBrains Mono"/>
              </a:rPr>
              <a:t>System.</a:t>
            </a:r>
            <a:r>
              <a:rPr lang="en-US" i="1" dirty="0" err="1">
                <a:effectLst/>
                <a:latin typeface="JetBrains Mono"/>
              </a:rPr>
              <a:t>out</a:t>
            </a:r>
            <a:r>
              <a:rPr lang="en-US" dirty="0" err="1">
                <a:effectLst/>
                <a:latin typeface="JetBrains Mono"/>
              </a:rPr>
              <a:t>.println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pessoas.get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i</a:t>
            </a:r>
            <a:r>
              <a:rPr lang="en-US" dirty="0">
                <a:effectLst/>
                <a:latin typeface="JetBrains Mono"/>
              </a:rPr>
              <a:t>).</a:t>
            </a:r>
            <a:r>
              <a:rPr lang="en-US" dirty="0" err="1">
                <a:effectLst/>
                <a:latin typeface="JetBrains Mono"/>
              </a:rPr>
              <a:t>getNome</a:t>
            </a:r>
            <a:r>
              <a:rPr lang="en-US" dirty="0">
                <a:effectLst/>
                <a:latin typeface="JetBrains Mono"/>
              </a:rPr>
              <a:t>());//</a:t>
            </a:r>
            <a:r>
              <a:rPr lang="en-US" dirty="0" err="1">
                <a:effectLst/>
                <a:latin typeface="JetBrains Mono"/>
              </a:rPr>
              <a:t>Saída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será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ordenada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    }</a:t>
            </a:r>
            <a:br>
              <a:rPr lang="en-US" dirty="0">
                <a:effectLst/>
                <a:latin typeface="JetBrains Mono"/>
              </a:rPr>
            </a:br>
            <a:r>
              <a:rPr lang="en-US" dirty="0">
                <a:effectLst/>
                <a:latin typeface="JetBrains Mono"/>
              </a:rPr>
              <a:t>}</a:t>
            </a:r>
          </a:p>
          <a:p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69547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lang="pt-BR" spc="-5" dirty="0"/>
              <a:t> - Percorrer Lista - forma 3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40D7B1D-EB74-ECA6-9FA9-6895E0B45290}"/>
              </a:ext>
            </a:extLst>
          </p:cNvPr>
          <p:cNvSpPr txBox="1"/>
          <p:nvPr/>
        </p:nvSpPr>
        <p:spPr>
          <a:xfrm>
            <a:off x="806450" y="658991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JetBrains Mono"/>
            </a:endParaRPr>
          </a:p>
          <a:p>
            <a:r>
              <a:rPr lang="en-US" dirty="0" err="1">
                <a:effectLst/>
                <a:latin typeface="JetBrains Mono"/>
              </a:rPr>
              <a:t>Collections.</a:t>
            </a:r>
            <a:r>
              <a:rPr lang="en-US" i="1" dirty="0" err="1">
                <a:effectLst/>
                <a:latin typeface="JetBrains Mono"/>
              </a:rPr>
              <a:t>sort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numero</a:t>
            </a:r>
            <a:r>
              <a:rPr lang="en-US" dirty="0">
                <a:effectLst/>
                <a:latin typeface="JetBrains Mono"/>
              </a:rPr>
              <a:t>, </a:t>
            </a:r>
            <a:r>
              <a:rPr lang="en-US" dirty="0" err="1">
                <a:effectLst/>
                <a:latin typeface="JetBrains Mono"/>
              </a:rPr>
              <a:t>Collections.</a:t>
            </a:r>
            <a:r>
              <a:rPr lang="en-US" i="1" dirty="0" err="1">
                <a:effectLst/>
                <a:latin typeface="JetBrains Mono"/>
              </a:rPr>
              <a:t>reverseOrder</a:t>
            </a:r>
            <a:r>
              <a:rPr lang="en-US" dirty="0">
                <a:effectLst/>
                <a:latin typeface="JetBrains Mono"/>
              </a:rPr>
              <a:t>());//</a:t>
            </a:r>
            <a:r>
              <a:rPr lang="en-US" dirty="0" err="1">
                <a:effectLst/>
                <a:latin typeface="JetBrains Mono"/>
              </a:rPr>
              <a:t>ordem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decrescente</a:t>
            </a:r>
            <a:r>
              <a:rPr lang="en-US" dirty="0">
                <a:effectLst/>
                <a:latin typeface="JetBrains Mono"/>
              </a:rPr>
              <a:t>.</a:t>
            </a:r>
          </a:p>
          <a:p>
            <a:r>
              <a:rPr lang="en-US" dirty="0" err="1">
                <a:effectLst/>
                <a:latin typeface="JetBrains Mono"/>
              </a:rPr>
              <a:t>Collections.</a:t>
            </a:r>
            <a:r>
              <a:rPr lang="en-US" i="1" dirty="0" err="1">
                <a:effectLst/>
                <a:latin typeface="JetBrains Mono"/>
              </a:rPr>
              <a:t>sort</a:t>
            </a:r>
            <a:r>
              <a:rPr lang="en-US" dirty="0">
                <a:effectLst/>
                <a:latin typeface="JetBrains Mono"/>
              </a:rPr>
              <a:t>(</a:t>
            </a:r>
            <a:r>
              <a:rPr lang="en-US" dirty="0" err="1">
                <a:effectLst/>
                <a:latin typeface="JetBrains Mono"/>
              </a:rPr>
              <a:t>numero</a:t>
            </a:r>
            <a:r>
              <a:rPr lang="en-US" dirty="0">
                <a:effectLst/>
                <a:latin typeface="JetBrains Mono"/>
              </a:rPr>
              <a:t>)//</a:t>
            </a:r>
            <a:r>
              <a:rPr lang="en-US" dirty="0" err="1">
                <a:effectLst/>
                <a:latin typeface="JetBrains Mono"/>
              </a:rPr>
              <a:t>ordem</a:t>
            </a:r>
            <a:r>
              <a:rPr lang="en-US" dirty="0">
                <a:effectLst/>
                <a:latin typeface="JetBrains Mono"/>
              </a:rPr>
              <a:t> </a:t>
            </a:r>
            <a:r>
              <a:rPr lang="en-US" dirty="0" err="1">
                <a:effectLst/>
                <a:latin typeface="JetBrains Mono"/>
              </a:rPr>
              <a:t>crescente</a:t>
            </a:r>
            <a:br>
              <a:rPr lang="en-US" dirty="0">
                <a:effectLst/>
                <a:latin typeface="JetBrains Mono"/>
              </a:rPr>
            </a:br>
            <a:endParaRPr lang="en-US" dirty="0">
              <a:effectLst/>
              <a:latin typeface="JetBrains Mono"/>
            </a:endParaRP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0234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91322-FDA2-E3BE-654C-DF0B19987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69349CE0-2FCE-32BE-A1D8-38EC00B5D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20" dirty="0"/>
              <a:t>Exercício Lista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A34E89-3490-1220-CBD2-CA8DB63597AA}"/>
              </a:ext>
            </a:extLst>
          </p:cNvPr>
          <p:cNvSpPr txBox="1"/>
          <p:nvPr/>
        </p:nvSpPr>
        <p:spPr>
          <a:xfrm>
            <a:off x="581964" y="1021993"/>
            <a:ext cx="822548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Crie um programa em Java que utilize uma </a:t>
            </a:r>
            <a:r>
              <a:rPr lang="pt-BR" dirty="0" err="1"/>
              <a:t>ArrayList</a:t>
            </a:r>
            <a:r>
              <a:rPr lang="pt-BR" dirty="0"/>
              <a:t>&lt;Double&gt; para armazenar </a:t>
            </a:r>
            <a:r>
              <a:rPr lang="pt-BR" b="1" dirty="0"/>
              <a:t>notas</a:t>
            </a:r>
            <a:r>
              <a:rPr lang="pt-BR" dirty="0"/>
              <a:t> informadas pelo usuário.</a:t>
            </a:r>
          </a:p>
          <a:p>
            <a:r>
              <a:rPr lang="pt-BR" dirty="0"/>
              <a:t>menu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Adicionar notas.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Remover uma nota informando sua posição na lista.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Listar todas as notas cadastradas.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Calcular e exibir a média das notas.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Ordenar notas.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Requisitos:</a:t>
            </a:r>
            <a:endParaRPr lang="pt-BR" dirty="0"/>
          </a:p>
          <a:p>
            <a:pPr lvl="0"/>
            <a:r>
              <a:rPr lang="pt-BR" dirty="0"/>
              <a:t>Inicialmente, solicite ao usuário </a:t>
            </a:r>
            <a:r>
              <a:rPr lang="pt-BR" b="1" dirty="0"/>
              <a:t>notas</a:t>
            </a:r>
            <a:r>
              <a:rPr lang="pt-BR" dirty="0"/>
              <a:t> e armazene-as na </a:t>
            </a:r>
            <a:r>
              <a:rPr lang="pt-BR" dirty="0" err="1"/>
              <a:t>ArrayList</a:t>
            </a:r>
            <a:r>
              <a:rPr lang="pt-BR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1-Na opção </a:t>
            </a:r>
            <a:r>
              <a:rPr lang="pt-BR" b="1" dirty="0"/>
              <a:t>Adicionar nota</a:t>
            </a:r>
            <a:r>
              <a:rPr lang="pt-BR" dirty="0"/>
              <a:t>, solicite uma nova nota e adicione-a ao final da lista.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2-Na opção </a:t>
            </a:r>
            <a:r>
              <a:rPr lang="pt-BR" b="1" dirty="0"/>
              <a:t>Remover nota</a:t>
            </a:r>
            <a:r>
              <a:rPr lang="pt-BR" dirty="0"/>
              <a:t>, exiba as posições e os valores das notas e permita que o usuário escolha qual deseja remover.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3-Na opção </a:t>
            </a:r>
            <a:r>
              <a:rPr lang="pt-BR" b="1" dirty="0"/>
              <a:t>Listar notas</a:t>
            </a:r>
            <a:r>
              <a:rPr lang="pt-BR" dirty="0"/>
              <a:t>, exiba todas as notas cadastradas.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4-Na opção </a:t>
            </a:r>
            <a:r>
              <a:rPr lang="pt-BR" b="1" dirty="0"/>
              <a:t>Calcular média</a:t>
            </a:r>
            <a:r>
              <a:rPr lang="pt-BR" dirty="0"/>
              <a:t>, apresente a média das notas cadastradas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5-Ordenar notas.</a:t>
            </a:r>
          </a:p>
          <a:p>
            <a:pPr lvl="0"/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4639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6D6D-039B-BCBE-CC58-1A2FDD4A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91F1AD24-F98A-ABA2-BF89-9454F81F68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964" y="36368"/>
            <a:ext cx="80730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20" dirty="0"/>
              <a:t>Exercício Lista</a:t>
            </a:r>
            <a:endParaRPr spc="-1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4F770CD-7718-F0C6-58A8-4EABAA6BE2AD}"/>
              </a:ext>
            </a:extLst>
          </p:cNvPr>
          <p:cNvSpPr txBox="1"/>
          <p:nvPr/>
        </p:nvSpPr>
        <p:spPr>
          <a:xfrm>
            <a:off x="808507" y="984250"/>
            <a:ext cx="7620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Crie uma classe Pessoa contendo apenas o atributo nome.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No método </a:t>
            </a:r>
            <a:r>
              <a:rPr lang="pt-BR" dirty="0" err="1"/>
              <a:t>main</a:t>
            </a:r>
            <a:r>
              <a:rPr lang="pt-BR" dirty="0"/>
              <a:t>, faça o seguinte: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Crie uma lista de pessoas.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Adicione as seguintes pessoas: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Rafael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Cristiano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Maria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dirty="0"/>
              <a:t>Ana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Exiba todos os nomes da lista.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Exiba a quantidade de pessoas cadastradas.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Altere o nome </a:t>
            </a:r>
            <a:r>
              <a:rPr lang="pt-BR" b="1" dirty="0"/>
              <a:t>Cristiano</a:t>
            </a:r>
            <a:r>
              <a:rPr lang="pt-BR" dirty="0"/>
              <a:t> para </a:t>
            </a:r>
            <a:r>
              <a:rPr lang="pt-BR" b="1" dirty="0"/>
              <a:t>Carlos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Remova a pessoa </a:t>
            </a:r>
            <a:r>
              <a:rPr lang="pt-BR" b="1" dirty="0"/>
              <a:t>Maria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Verifique se existe uma pessoa chamada </a:t>
            </a:r>
            <a:r>
              <a:rPr lang="pt-BR" b="1" dirty="0"/>
              <a:t>Ana</a:t>
            </a:r>
            <a:r>
              <a:rPr lang="pt-BR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Exiba novamente todos os nomes da lista.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Informe se a lista está vazia.</a:t>
            </a:r>
            <a:endParaRPr lang="pt-BR" altLang="pt-BR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</a:rPr>
              <a:t>Mostre todos os nomes em </a:t>
            </a:r>
            <a:r>
              <a:rPr lang="pt-BR" altLang="pt-BR" b="1" dirty="0">
                <a:solidFill>
                  <a:srgbClr val="FF0000"/>
                </a:solidFill>
                <a:latin typeface="Arial" panose="020B0604020202020204" pitchFamily="34" charset="0"/>
              </a:rPr>
              <a:t>ordem alfabética (Crescente)</a:t>
            </a:r>
            <a:r>
              <a:rPr lang="pt-BR" altLang="pt-BR" dirty="0">
                <a:solidFill>
                  <a:srgbClr val="FF0000"/>
                </a:solidFill>
                <a:latin typeface="Arial" panose="020B0604020202020204" pitchFamily="34" charset="0"/>
              </a:rPr>
              <a:t>. </a:t>
            </a:r>
          </a:p>
          <a:p>
            <a:pPr lvl="0"/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8567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494281"/>
            <a:ext cx="8522970" cy="432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38798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A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classe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b="1" spc="-15" dirty="0">
                <a:latin typeface="Calibri"/>
                <a:cs typeface="Calibri"/>
              </a:rPr>
              <a:t>LinkedList</a:t>
            </a:r>
            <a:r>
              <a:rPr sz="2500" b="1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possui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adicionais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que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permitem </a:t>
            </a:r>
            <a:r>
              <a:rPr sz="2500" spc="-5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simular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estruturas</a:t>
            </a:r>
            <a:r>
              <a:rPr sz="2500" spc="-5" dirty="0">
                <a:latin typeface="Calibri"/>
                <a:cs typeface="Calibri"/>
              </a:rPr>
              <a:t> de </a:t>
            </a:r>
            <a:r>
              <a:rPr sz="2500" spc="-10" dirty="0">
                <a:latin typeface="Calibri"/>
                <a:cs typeface="Calibri"/>
              </a:rPr>
              <a:t>dados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como</a:t>
            </a:r>
            <a:r>
              <a:rPr sz="2500" spc="-5" dirty="0">
                <a:latin typeface="Calibri"/>
                <a:cs typeface="Calibri"/>
              </a:rPr>
              <a:t> filas 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pilhas.</a:t>
            </a:r>
            <a:endParaRPr sz="25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dirty="0">
                <a:latin typeface="Calibri"/>
                <a:cs typeface="Calibri"/>
              </a:rPr>
              <a:t>Fila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Estrutura </a:t>
            </a:r>
            <a:r>
              <a:rPr sz="2400" spc="-5" dirty="0">
                <a:latin typeface="Calibri"/>
                <a:cs typeface="Calibri"/>
              </a:rPr>
              <a:t>de dado onde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5" dirty="0">
                <a:latin typeface="Calibri"/>
                <a:cs typeface="Calibri"/>
              </a:rPr>
              <a:t>1º elemento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entrar </a:t>
            </a:r>
            <a:r>
              <a:rPr sz="2400" dirty="0">
                <a:latin typeface="Calibri"/>
                <a:cs typeface="Calibri"/>
              </a:rPr>
              <a:t>é o 1º 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sair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FIFO </a:t>
            </a:r>
            <a:r>
              <a:rPr sz="2400" i="1" dirty="0">
                <a:latin typeface="Calibri"/>
                <a:cs typeface="Calibri"/>
              </a:rPr>
              <a:t>– </a:t>
            </a:r>
            <a:r>
              <a:rPr sz="2400" i="1" spc="-5" dirty="0">
                <a:latin typeface="Calibri"/>
                <a:cs typeface="Calibri"/>
              </a:rPr>
              <a:t>first-in, first-out</a:t>
            </a:r>
            <a:r>
              <a:rPr sz="2400" spc="-5" dirty="0">
                <a:latin typeface="Calibri"/>
                <a:cs typeface="Calibri"/>
              </a:rPr>
              <a:t>). </a:t>
            </a:r>
            <a:r>
              <a:rPr sz="2400" dirty="0">
                <a:latin typeface="Calibri"/>
                <a:cs typeface="Calibri"/>
              </a:rPr>
              <a:t>É </a:t>
            </a:r>
            <a:r>
              <a:rPr sz="2400" spc="-5" dirty="0">
                <a:latin typeface="Calibri"/>
                <a:cs typeface="Calibri"/>
              </a:rPr>
              <a:t>simulada por </a:t>
            </a:r>
            <a:r>
              <a:rPr sz="2400" dirty="0">
                <a:latin typeface="Calibri"/>
                <a:cs typeface="Calibri"/>
              </a:rPr>
              <a:t>meio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métodos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 fim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add </a:t>
            </a:r>
            <a:r>
              <a:rPr sz="2400" spc="-5" dirty="0">
                <a:latin typeface="Calibri"/>
                <a:cs typeface="Calibri"/>
              </a:rPr>
              <a:t>ou </a:t>
            </a:r>
            <a:r>
              <a:rPr sz="2400" b="1" spc="-5" dirty="0">
                <a:latin typeface="Calibri"/>
                <a:cs typeface="Calibri"/>
              </a:rPr>
              <a:t>addLast</a:t>
            </a:r>
            <a:r>
              <a:rPr sz="2400" spc="-5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início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b="1" spc="-10" dirty="0">
                <a:latin typeface="Calibri"/>
                <a:cs typeface="Calibri"/>
              </a:rPr>
              <a:t>poolFirst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lista.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821690" marR="9525" lvl="1" indent="-352425">
              <a:lnSpc>
                <a:spcPct val="100000"/>
              </a:lnSpc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5" dirty="0">
                <a:latin typeface="Calibri"/>
                <a:cs typeface="Calibri"/>
              </a:rPr>
              <a:t>Pilha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0" dirty="0">
                <a:latin typeface="Calibri"/>
                <a:cs typeface="Calibri"/>
              </a:rPr>
              <a:t>Estrutura </a:t>
            </a:r>
            <a:r>
              <a:rPr sz="2400" spc="-5" dirty="0">
                <a:latin typeface="Calibri"/>
                <a:cs typeface="Calibri"/>
              </a:rPr>
              <a:t>de dado onde </a:t>
            </a:r>
            <a:r>
              <a:rPr sz="2400" dirty="0">
                <a:latin typeface="Calibri"/>
                <a:cs typeface="Calibri"/>
              </a:rPr>
              <a:t>o </a:t>
            </a:r>
            <a:r>
              <a:rPr sz="2400" spc="-5" dirty="0">
                <a:latin typeface="Calibri"/>
                <a:cs typeface="Calibri"/>
              </a:rPr>
              <a:t>último elemento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entrar </a:t>
            </a:r>
            <a:r>
              <a:rPr sz="2400" dirty="0">
                <a:latin typeface="Calibri"/>
                <a:cs typeface="Calibri"/>
              </a:rPr>
              <a:t>é 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1º a </a:t>
            </a:r>
            <a:r>
              <a:rPr sz="2400" spc="-5" dirty="0">
                <a:latin typeface="Calibri"/>
                <a:cs typeface="Calibri"/>
              </a:rPr>
              <a:t>sair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i="1" spc="-10" dirty="0">
                <a:latin typeface="Calibri"/>
                <a:cs typeface="Calibri"/>
              </a:rPr>
              <a:t>LIFO </a:t>
            </a:r>
            <a:r>
              <a:rPr sz="2400" i="1" dirty="0">
                <a:latin typeface="Calibri"/>
                <a:cs typeface="Calibri"/>
              </a:rPr>
              <a:t>– </a:t>
            </a:r>
            <a:r>
              <a:rPr sz="2400" i="1" spc="-5" dirty="0">
                <a:latin typeface="Calibri"/>
                <a:cs typeface="Calibri"/>
              </a:rPr>
              <a:t>last-in, first-out</a:t>
            </a:r>
            <a:r>
              <a:rPr sz="2400" spc="-5" dirty="0">
                <a:latin typeface="Calibri"/>
                <a:cs typeface="Calibri"/>
              </a:rPr>
              <a:t>). </a:t>
            </a:r>
            <a:r>
              <a:rPr sz="2400" dirty="0">
                <a:latin typeface="Calibri"/>
                <a:cs typeface="Calibri"/>
              </a:rPr>
              <a:t>É </a:t>
            </a:r>
            <a:r>
              <a:rPr sz="2400" spc="-5" dirty="0">
                <a:latin typeface="Calibri"/>
                <a:cs typeface="Calibri"/>
              </a:rPr>
              <a:t>simulada por </a:t>
            </a:r>
            <a:r>
              <a:rPr sz="2400" dirty="0">
                <a:latin typeface="Calibri"/>
                <a:cs typeface="Calibri"/>
              </a:rPr>
              <a:t>meio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métodos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 fim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b="1" dirty="0">
                <a:latin typeface="Calibri"/>
                <a:cs typeface="Calibri"/>
              </a:rPr>
              <a:t>add </a:t>
            </a:r>
            <a:r>
              <a:rPr sz="2400" spc="-5" dirty="0">
                <a:latin typeface="Calibri"/>
                <a:cs typeface="Calibri"/>
              </a:rPr>
              <a:t>ou </a:t>
            </a:r>
            <a:r>
              <a:rPr sz="2400" b="1" spc="-5" dirty="0">
                <a:latin typeface="Calibri"/>
                <a:cs typeface="Calibri"/>
              </a:rPr>
              <a:t>addLast</a:t>
            </a:r>
            <a:r>
              <a:rPr sz="2400" spc="-5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fim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</a:t>
            </a:r>
            <a:r>
              <a:rPr sz="2400" b="1" spc="-5" dirty="0">
                <a:latin typeface="Calibri"/>
                <a:cs typeface="Calibri"/>
              </a:rPr>
              <a:t>poolLast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lista.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473202"/>
            <a:ext cx="52584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5" dirty="0"/>
              <a:t> </a:t>
            </a:r>
            <a:r>
              <a:rPr spc="-5" dirty="0"/>
              <a:t>–</a:t>
            </a:r>
            <a:r>
              <a:rPr spc="-15" dirty="0"/>
              <a:t> </a:t>
            </a:r>
            <a:r>
              <a:rPr spc="-5" dirty="0"/>
              <a:t>Filas</a:t>
            </a:r>
            <a:r>
              <a:rPr spc="10" dirty="0"/>
              <a:t> </a:t>
            </a:r>
            <a:r>
              <a:rPr spc="-5" dirty="0"/>
              <a:t>e</a:t>
            </a:r>
            <a:r>
              <a:rPr spc="-15" dirty="0"/>
              <a:t> </a:t>
            </a:r>
            <a:r>
              <a:rPr spc="-10" dirty="0"/>
              <a:t>Pilhas</a:t>
            </a:r>
          </a:p>
        </p:txBody>
      </p:sp>
    </p:spTree>
    <p:extLst>
      <p:ext uri="{BB962C8B-B14F-4D97-AF65-F5344CB8AC3E}">
        <p14:creationId xmlns:p14="http://schemas.microsoft.com/office/powerpoint/2010/main" val="4195191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52590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5" dirty="0"/>
              <a:t> </a:t>
            </a:r>
            <a:r>
              <a:rPr spc="-5" dirty="0"/>
              <a:t>–</a:t>
            </a:r>
            <a:r>
              <a:rPr spc="-10" dirty="0"/>
              <a:t> </a:t>
            </a:r>
            <a:r>
              <a:rPr spc="-5" dirty="0"/>
              <a:t>Filas</a:t>
            </a:r>
            <a:r>
              <a:rPr spc="5" dirty="0"/>
              <a:t> </a:t>
            </a:r>
            <a:r>
              <a:rPr spc="-5" dirty="0"/>
              <a:t>e</a:t>
            </a:r>
            <a:r>
              <a:rPr spc="-10" dirty="0"/>
              <a:t> Pilhas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168061"/>
            <a:ext cx="8855710" cy="537400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49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Principais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métodos:</a:t>
            </a:r>
            <a:endParaRPr sz="2500" dirty="0">
              <a:latin typeface="Calibri"/>
              <a:cs typeface="Calibri"/>
            </a:endParaRPr>
          </a:p>
          <a:p>
            <a:pPr marL="821690" lvl="1" indent="-352425">
              <a:lnSpc>
                <a:spcPts val="2620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addFirst: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Insere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1ª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62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&lt;nome_lista&gt;.addFirst(&lt;elemento&gt;)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0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addLast</a:t>
            </a:r>
            <a:r>
              <a:rPr sz="2200" b="1" spc="-10" dirty="0">
                <a:latin typeface="Calibri"/>
                <a:cs typeface="Calibri"/>
              </a:rPr>
              <a:t>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Insere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última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3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&lt;nome_lista&gt;.addLast(&lt;elemento&gt;)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595"/>
              </a:lnSpc>
              <a:spcBef>
                <a:spcPts val="9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pollFirst</a:t>
            </a:r>
            <a:r>
              <a:rPr sz="2200" b="1" spc="-10" dirty="0">
                <a:latin typeface="Calibri"/>
                <a:cs typeface="Calibri"/>
              </a:rPr>
              <a:t>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Remove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1ª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59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&lt;nome_lista&gt;.pollFirst()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625"/>
              </a:lnSpc>
              <a:spcBef>
                <a:spcPts val="105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pollLast</a:t>
            </a:r>
            <a:r>
              <a:rPr sz="2200" b="1" spc="-10" dirty="0">
                <a:latin typeface="Calibri"/>
                <a:cs typeface="Calibri"/>
              </a:rPr>
              <a:t>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Remove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última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62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&lt;nome_lista&gt;.pollLast()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615"/>
              </a:lnSpc>
              <a:spcBef>
                <a:spcPts val="994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peekFirst: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1ª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61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&lt;nome_lista&gt;.peekFirst()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01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peekLast: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última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posição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lista.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1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&lt;nome_lista&gt;.peekLast()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6382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469518"/>
            <a:ext cx="332612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35" dirty="0"/>
              <a:t> </a:t>
            </a:r>
            <a:r>
              <a:rPr spc="-5" dirty="0"/>
              <a:t>Fila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0806" y="1983866"/>
            <a:ext cx="8970010" cy="4699635"/>
            <a:chOff x="360806" y="1983866"/>
            <a:chExt cx="8970010" cy="4699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4747"/>
              <a:ext cx="7050024" cy="449884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5569" y="2169985"/>
              <a:ext cx="7059930" cy="4508500"/>
            </a:xfrm>
            <a:custGeom>
              <a:avLst/>
              <a:gdLst/>
              <a:ahLst/>
              <a:cxnLst/>
              <a:rect l="l" t="t" r="r" b="b"/>
              <a:pathLst>
                <a:path w="7059930" h="4508500">
                  <a:moveTo>
                    <a:pt x="0" y="4508373"/>
                  </a:moveTo>
                  <a:lnTo>
                    <a:pt x="7059549" y="4508373"/>
                  </a:lnTo>
                  <a:lnTo>
                    <a:pt x="7059549" y="0"/>
                  </a:lnTo>
                  <a:lnTo>
                    <a:pt x="0" y="0"/>
                  </a:lnTo>
                  <a:lnTo>
                    <a:pt x="0" y="45083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3791" y="3348227"/>
              <a:ext cx="4126991" cy="7924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188966" y="3343401"/>
              <a:ext cx="4137025" cy="802005"/>
            </a:xfrm>
            <a:custGeom>
              <a:avLst/>
              <a:gdLst/>
              <a:ahLst/>
              <a:cxnLst/>
              <a:rect l="l" t="t" r="r" b="b"/>
              <a:pathLst>
                <a:path w="4137025" h="802004">
                  <a:moveTo>
                    <a:pt x="0" y="802005"/>
                  </a:moveTo>
                  <a:lnTo>
                    <a:pt x="4136516" y="802005"/>
                  </a:lnTo>
                  <a:lnTo>
                    <a:pt x="4136516" y="0"/>
                  </a:lnTo>
                  <a:lnTo>
                    <a:pt x="0" y="0"/>
                  </a:lnTo>
                  <a:lnTo>
                    <a:pt x="0" y="8020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60897" y="1996566"/>
              <a:ext cx="1257935" cy="753745"/>
            </a:xfrm>
            <a:custGeom>
              <a:avLst/>
              <a:gdLst/>
              <a:ahLst/>
              <a:cxnLst/>
              <a:rect l="l" t="t" r="r" b="b"/>
              <a:pathLst>
                <a:path w="1257934" h="753744">
                  <a:moveTo>
                    <a:pt x="1257680" y="0"/>
                  </a:moveTo>
                  <a:lnTo>
                    <a:pt x="1175766" y="3175"/>
                  </a:lnTo>
                  <a:lnTo>
                    <a:pt x="0" y="753745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159758" y="265937"/>
            <a:ext cx="5364480" cy="172847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4615" marR="90805" algn="ctr">
              <a:lnSpc>
                <a:spcPct val="100000"/>
              </a:lnSpc>
              <a:spcBef>
                <a:spcPts val="400"/>
              </a:spcBef>
            </a:pPr>
            <a:r>
              <a:rPr sz="1500" spc="-5" dirty="0">
                <a:latin typeface="Calibri"/>
                <a:cs typeface="Calibri"/>
              </a:rPr>
              <a:t>Dependendo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dos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métodos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10" dirty="0">
                <a:latin typeface="Calibri"/>
                <a:cs typeface="Calibri"/>
              </a:rPr>
              <a:t>serem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usados,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é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necessário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usar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outra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interface implementada </a:t>
            </a:r>
            <a:r>
              <a:rPr sz="1500" dirty="0">
                <a:latin typeface="Calibri"/>
                <a:cs typeface="Calibri"/>
              </a:rPr>
              <a:t>pela </a:t>
            </a:r>
            <a:r>
              <a:rPr sz="1500" spc="-5" dirty="0">
                <a:latin typeface="Calibri"/>
                <a:cs typeface="Calibri"/>
              </a:rPr>
              <a:t>classe de coleção. </a:t>
            </a:r>
            <a:r>
              <a:rPr sz="1500" spc="-10" dirty="0">
                <a:latin typeface="Calibri"/>
                <a:cs typeface="Calibri"/>
              </a:rPr>
              <a:t>Por </a:t>
            </a:r>
            <a:r>
              <a:rPr sz="1500" spc="-15" dirty="0">
                <a:latin typeface="Calibri"/>
                <a:cs typeface="Calibri"/>
              </a:rPr>
              <a:t>exemplo,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interface </a:t>
            </a:r>
            <a:r>
              <a:rPr sz="1500" b="1" spc="-5" dirty="0">
                <a:latin typeface="Calibri"/>
                <a:cs typeface="Calibri"/>
              </a:rPr>
              <a:t>List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não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possui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métodos</a:t>
            </a:r>
            <a:r>
              <a:rPr sz="1500" spc="1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addLast</a:t>
            </a:r>
            <a:r>
              <a:rPr sz="1500" spc="-5" dirty="0">
                <a:latin typeface="Calibri"/>
                <a:cs typeface="Calibri"/>
              </a:rPr>
              <a:t>, </a:t>
            </a:r>
            <a:r>
              <a:rPr sz="1500" b="1" spc="-10" dirty="0">
                <a:latin typeface="Calibri"/>
                <a:cs typeface="Calibri"/>
              </a:rPr>
              <a:t>peekFirst</a:t>
            </a:r>
            <a:r>
              <a:rPr sz="1500" b="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20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pollFirst</a:t>
            </a:r>
            <a:r>
              <a:rPr sz="1500" spc="-10" dirty="0">
                <a:latin typeface="Calibri"/>
                <a:cs typeface="Calibri"/>
              </a:rPr>
              <a:t>.</a:t>
            </a:r>
            <a:endParaRPr sz="1500" dirty="0">
              <a:latin typeface="Calibri"/>
              <a:cs typeface="Calibri"/>
            </a:endParaRPr>
          </a:p>
          <a:p>
            <a:pPr marL="127000" marR="121285" indent="-1270" algn="ctr">
              <a:lnSpc>
                <a:spcPct val="100000"/>
              </a:lnSpc>
              <a:spcBef>
                <a:spcPts val="5"/>
              </a:spcBef>
            </a:pPr>
            <a:r>
              <a:rPr sz="1500" spc="-10" dirty="0">
                <a:latin typeface="Calibri"/>
                <a:cs typeface="Calibri"/>
              </a:rPr>
              <a:t>Logo, </a:t>
            </a:r>
            <a:r>
              <a:rPr sz="1500" dirty="0">
                <a:latin typeface="Calibri"/>
                <a:cs typeface="Calibri"/>
              </a:rPr>
              <a:t>não </a:t>
            </a:r>
            <a:r>
              <a:rPr sz="1500" spc="-15" dirty="0">
                <a:latin typeface="Calibri"/>
                <a:cs typeface="Calibri"/>
              </a:rPr>
              <a:t>será </a:t>
            </a:r>
            <a:r>
              <a:rPr sz="1500" spc="-5" dirty="0">
                <a:latin typeface="Calibri"/>
                <a:cs typeface="Calibri"/>
              </a:rPr>
              <a:t>possível </a:t>
            </a:r>
            <a:r>
              <a:rPr sz="1500" spc="-10" dirty="0">
                <a:latin typeface="Calibri"/>
                <a:cs typeface="Calibri"/>
              </a:rPr>
              <a:t>declarar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10" dirty="0">
                <a:latin typeface="Calibri"/>
                <a:cs typeface="Calibri"/>
              </a:rPr>
              <a:t>coleção com este </a:t>
            </a:r>
            <a:r>
              <a:rPr sz="1500" dirty="0">
                <a:latin typeface="Calibri"/>
                <a:cs typeface="Calibri"/>
              </a:rPr>
              <a:t>tipo de 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interface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(ocorrerá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erro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de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compilação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ao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chamar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estes</a:t>
            </a:r>
            <a:r>
              <a:rPr sz="1500" spc="-5" dirty="0">
                <a:latin typeface="Calibri"/>
                <a:cs typeface="Calibri"/>
              </a:rPr>
              <a:t> métodos).</a:t>
            </a:r>
            <a:endParaRPr sz="1500" dirty="0">
              <a:latin typeface="Calibri"/>
              <a:cs typeface="Calibri"/>
            </a:endParaRPr>
          </a:p>
          <a:p>
            <a:pPr marL="153035" marR="147320" indent="2540" algn="ctr">
              <a:lnSpc>
                <a:spcPct val="100000"/>
              </a:lnSpc>
            </a:pPr>
            <a:r>
              <a:rPr sz="1500" dirty="0">
                <a:latin typeface="Calibri"/>
                <a:cs typeface="Calibri"/>
              </a:rPr>
              <a:t>Nesse </a:t>
            </a:r>
            <a:r>
              <a:rPr sz="1500" spc="-10" dirty="0">
                <a:latin typeface="Calibri"/>
                <a:cs typeface="Calibri"/>
              </a:rPr>
              <a:t>caso, </a:t>
            </a:r>
            <a:r>
              <a:rPr sz="1500" spc="-5" dirty="0">
                <a:latin typeface="Calibri"/>
                <a:cs typeface="Calibri"/>
              </a:rPr>
              <a:t>pode-se usar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5" dirty="0">
                <a:latin typeface="Calibri"/>
                <a:cs typeface="Calibri"/>
              </a:rPr>
              <a:t>interface </a:t>
            </a:r>
            <a:r>
              <a:rPr sz="1500" b="1" spc="-5" dirty="0">
                <a:latin typeface="Calibri"/>
                <a:cs typeface="Calibri"/>
              </a:rPr>
              <a:t>Deque</a:t>
            </a:r>
            <a:r>
              <a:rPr sz="1500" spc="-5" dirty="0">
                <a:latin typeface="Calibri"/>
                <a:cs typeface="Calibri"/>
              </a:rPr>
              <a:t>, </a:t>
            </a:r>
            <a:r>
              <a:rPr sz="1500" dirty="0">
                <a:latin typeface="Calibri"/>
                <a:cs typeface="Calibri"/>
              </a:rPr>
              <a:t>que </a:t>
            </a:r>
            <a:r>
              <a:rPr sz="1500" spc="-5" dirty="0">
                <a:latin typeface="Calibri"/>
                <a:cs typeface="Calibri"/>
              </a:rPr>
              <a:t>também </a:t>
            </a:r>
            <a:r>
              <a:rPr sz="1500" dirty="0">
                <a:latin typeface="Calibri"/>
                <a:cs typeface="Calibri"/>
              </a:rPr>
              <a:t>é 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implementada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pela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classe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LinkedList</a:t>
            </a:r>
            <a:r>
              <a:rPr sz="1500" b="1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possui </a:t>
            </a:r>
            <a:r>
              <a:rPr sz="1500" spc="-10" dirty="0">
                <a:latin typeface="Calibri"/>
                <a:cs typeface="Calibri"/>
              </a:rPr>
              <a:t>estes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três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métodos.</a:t>
            </a:r>
            <a:endParaRPr sz="15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43270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3167" y="1103629"/>
            <a:ext cx="9315450" cy="4139565"/>
            <a:chOff x="193167" y="1103629"/>
            <a:chExt cx="9315450" cy="4139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692" y="1778507"/>
              <a:ext cx="9296400" cy="34549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7929" y="1773681"/>
              <a:ext cx="9305925" cy="3464560"/>
            </a:xfrm>
            <a:custGeom>
              <a:avLst/>
              <a:gdLst/>
              <a:ahLst/>
              <a:cxnLst/>
              <a:rect l="l" t="t" r="r" b="b"/>
              <a:pathLst>
                <a:path w="9305925" h="3464560">
                  <a:moveTo>
                    <a:pt x="0" y="3464433"/>
                  </a:moveTo>
                  <a:lnTo>
                    <a:pt x="9305925" y="3464433"/>
                  </a:lnTo>
                  <a:lnTo>
                    <a:pt x="9305925" y="0"/>
                  </a:lnTo>
                  <a:lnTo>
                    <a:pt x="0" y="0"/>
                  </a:lnTo>
                  <a:lnTo>
                    <a:pt x="0" y="346443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80609" y="1116329"/>
              <a:ext cx="4067810" cy="792480"/>
            </a:xfrm>
            <a:custGeom>
              <a:avLst/>
              <a:gdLst/>
              <a:ahLst/>
              <a:cxnLst/>
              <a:rect l="l" t="t" r="r" b="b"/>
              <a:pathLst>
                <a:path w="4067809" h="792480">
                  <a:moveTo>
                    <a:pt x="4067555" y="0"/>
                  </a:moveTo>
                  <a:lnTo>
                    <a:pt x="0" y="0"/>
                  </a:lnTo>
                  <a:lnTo>
                    <a:pt x="0" y="792479"/>
                  </a:lnTo>
                  <a:lnTo>
                    <a:pt x="4067555" y="792479"/>
                  </a:lnTo>
                  <a:lnTo>
                    <a:pt x="40675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880609" y="1116329"/>
              <a:ext cx="4067810" cy="1235075"/>
            </a:xfrm>
            <a:custGeom>
              <a:avLst/>
              <a:gdLst/>
              <a:ahLst/>
              <a:cxnLst/>
              <a:rect l="l" t="t" r="r" b="b"/>
              <a:pathLst>
                <a:path w="4067809" h="1235075">
                  <a:moveTo>
                    <a:pt x="0" y="792479"/>
                  </a:moveTo>
                  <a:lnTo>
                    <a:pt x="4067555" y="792479"/>
                  </a:lnTo>
                  <a:lnTo>
                    <a:pt x="4067555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  <a:path w="4067809" h="1235075">
                  <a:moveTo>
                    <a:pt x="2091816" y="793622"/>
                  </a:moveTo>
                  <a:lnTo>
                    <a:pt x="1306449" y="795019"/>
                  </a:lnTo>
                  <a:lnTo>
                    <a:pt x="537844" y="1234820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81964" y="540460"/>
            <a:ext cx="36347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LinkedList</a:t>
            </a:r>
            <a:r>
              <a:rPr spc="-15" dirty="0"/>
              <a:t> </a:t>
            </a:r>
            <a:r>
              <a:rPr spc="-5" dirty="0"/>
              <a:t>–</a:t>
            </a:r>
            <a:r>
              <a:rPr spc="-30" dirty="0"/>
              <a:t> </a:t>
            </a:r>
            <a:r>
              <a:rPr spc="-10" dirty="0"/>
              <a:t>Pilha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2457894" y="5499734"/>
            <a:ext cx="4870450" cy="810260"/>
            <a:chOff x="2457894" y="5499734"/>
            <a:chExt cx="4870450" cy="8102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67356" y="5509259"/>
              <a:ext cx="4850892" cy="79095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62657" y="5504497"/>
              <a:ext cx="4860925" cy="800735"/>
            </a:xfrm>
            <a:custGeom>
              <a:avLst/>
              <a:gdLst/>
              <a:ahLst/>
              <a:cxnLst/>
              <a:rect l="l" t="t" r="r" b="b"/>
              <a:pathLst>
                <a:path w="4860925" h="800735">
                  <a:moveTo>
                    <a:pt x="0" y="800480"/>
                  </a:moveTo>
                  <a:lnTo>
                    <a:pt x="4860417" y="800480"/>
                  </a:lnTo>
                  <a:lnTo>
                    <a:pt x="4860417" y="0"/>
                  </a:lnTo>
                  <a:lnTo>
                    <a:pt x="0" y="0"/>
                  </a:lnTo>
                  <a:lnTo>
                    <a:pt x="0" y="80048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93894" y="1144651"/>
            <a:ext cx="3840479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"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A </a:t>
            </a:r>
            <a:r>
              <a:rPr sz="1500" spc="-10" dirty="0">
                <a:latin typeface="Calibri"/>
                <a:cs typeface="Calibri"/>
              </a:rPr>
              <a:t>interface </a:t>
            </a:r>
            <a:r>
              <a:rPr sz="1500" b="1" spc="-5" dirty="0">
                <a:latin typeface="Calibri"/>
                <a:cs typeface="Calibri"/>
              </a:rPr>
              <a:t>List </a:t>
            </a:r>
            <a:r>
              <a:rPr sz="1500" dirty="0">
                <a:latin typeface="Calibri"/>
                <a:cs typeface="Calibri"/>
              </a:rPr>
              <a:t>não </a:t>
            </a:r>
            <a:r>
              <a:rPr sz="1500" spc="-5" dirty="0">
                <a:latin typeface="Calibri"/>
                <a:cs typeface="Calibri"/>
              </a:rPr>
              <a:t>possui os </a:t>
            </a:r>
            <a:r>
              <a:rPr sz="1500" spc="-10" dirty="0">
                <a:latin typeface="Calibri"/>
                <a:cs typeface="Calibri"/>
              </a:rPr>
              <a:t>métodos </a:t>
            </a:r>
            <a:r>
              <a:rPr sz="1500" b="1" spc="-5" dirty="0">
                <a:latin typeface="Calibri"/>
                <a:cs typeface="Calibri"/>
              </a:rPr>
              <a:t>addLast</a:t>
            </a:r>
            <a:r>
              <a:rPr sz="1500" spc="-5" dirty="0">
                <a:latin typeface="Calibri"/>
                <a:cs typeface="Calibri"/>
              </a:rPr>
              <a:t>,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peekLast </a:t>
            </a:r>
            <a:r>
              <a:rPr sz="1500" dirty="0">
                <a:latin typeface="Calibri"/>
                <a:cs typeface="Calibri"/>
              </a:rPr>
              <a:t>e </a:t>
            </a:r>
            <a:r>
              <a:rPr sz="1500" b="1" spc="-5" dirty="0">
                <a:latin typeface="Calibri"/>
                <a:cs typeface="Calibri"/>
              </a:rPr>
              <a:t>pollLast</a:t>
            </a:r>
            <a:r>
              <a:rPr sz="1500" spc="-5" dirty="0">
                <a:latin typeface="Calibri"/>
                <a:cs typeface="Calibri"/>
              </a:rPr>
              <a:t>. </a:t>
            </a:r>
            <a:r>
              <a:rPr sz="1500" spc="-10" dirty="0">
                <a:latin typeface="Calibri"/>
                <a:cs typeface="Calibri"/>
              </a:rPr>
              <a:t>Por isso, </a:t>
            </a:r>
            <a:r>
              <a:rPr sz="1500" spc="-5" dirty="0">
                <a:latin typeface="Calibri"/>
                <a:cs typeface="Calibri"/>
              </a:rPr>
              <a:t>usa-se </a:t>
            </a:r>
            <a:r>
              <a:rPr sz="1500" spc="-10" dirty="0">
                <a:latin typeface="Calibri"/>
                <a:cs typeface="Calibri"/>
              </a:rPr>
              <a:t>novamente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interface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Deque</a:t>
            </a:r>
            <a:r>
              <a:rPr sz="1500" spc="-5" dirty="0">
                <a:latin typeface="Calibri"/>
                <a:cs typeface="Calibri"/>
              </a:rPr>
              <a:t>,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que</a:t>
            </a:r>
            <a:r>
              <a:rPr sz="1500" spc="-5" dirty="0">
                <a:latin typeface="Calibri"/>
                <a:cs typeface="Calibri"/>
              </a:rPr>
              <a:t> possui</a:t>
            </a:r>
            <a:r>
              <a:rPr sz="1500" spc="-10" dirty="0">
                <a:latin typeface="Calibri"/>
                <a:cs typeface="Calibri"/>
              </a:rPr>
              <a:t> estes </a:t>
            </a:r>
            <a:r>
              <a:rPr sz="1500" spc="-5" dirty="0">
                <a:latin typeface="Calibri"/>
                <a:cs typeface="Calibri"/>
              </a:rPr>
              <a:t>três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métodos.</a:t>
            </a:r>
            <a:endParaRPr sz="15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171064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494789"/>
            <a:ext cx="8789035" cy="4110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208279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Os </a:t>
            </a:r>
            <a:r>
              <a:rPr sz="2450" spc="-15" dirty="0">
                <a:latin typeface="Calibri"/>
                <a:cs typeface="Calibri"/>
              </a:rPr>
              <a:t>conjuntos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objetos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definidos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por classes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que 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implementam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interface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Set</a:t>
            </a:r>
            <a:r>
              <a:rPr sz="2450" spc="-5" dirty="0">
                <a:latin typeface="Calibri"/>
                <a:cs typeface="Calibri"/>
              </a:rPr>
              <a:t>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qual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declara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métodos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específicos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para</a:t>
            </a:r>
            <a:r>
              <a:rPr sz="2450" spc="-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manipulação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conjuntos.</a:t>
            </a:r>
            <a:endParaRPr sz="24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204F52"/>
              </a:buClr>
              <a:buFont typeface="Symbol"/>
              <a:buChar char=""/>
            </a:pPr>
            <a:endParaRPr sz="1950" dirty="0">
              <a:latin typeface="Calibri"/>
              <a:cs typeface="Calibri"/>
            </a:endParaRPr>
          </a:p>
          <a:p>
            <a:pPr marL="364490" indent="-352425">
              <a:lnSpc>
                <a:spcPct val="100000"/>
              </a:lnSpc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características:</a:t>
            </a:r>
            <a:endParaRPr sz="2450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dirty="0">
                <a:latin typeface="Calibri"/>
                <a:cs typeface="Calibri"/>
              </a:rPr>
              <a:t>Ao criar </a:t>
            </a:r>
            <a:r>
              <a:rPr sz="2400" spc="-5" dirty="0">
                <a:latin typeface="Calibri"/>
                <a:cs typeface="Calibri"/>
              </a:rPr>
              <a:t>um </a:t>
            </a:r>
            <a:r>
              <a:rPr sz="2400" spc="-20" dirty="0">
                <a:latin typeface="Calibri"/>
                <a:cs typeface="Calibri"/>
              </a:rPr>
              <a:t>conjunto, </a:t>
            </a:r>
            <a:r>
              <a:rPr sz="2400" spc="-5" dirty="0">
                <a:latin typeface="Calibri"/>
                <a:cs typeface="Calibri"/>
              </a:rPr>
              <a:t>seu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tamanho não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precisa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ser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especificado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já que </a:t>
            </a:r>
            <a:r>
              <a:rPr sz="2400" dirty="0">
                <a:latin typeface="Calibri"/>
                <a:cs typeface="Calibri"/>
              </a:rPr>
              <a:t>ele </a:t>
            </a:r>
            <a:r>
              <a:rPr sz="2400" spc="-10" dirty="0">
                <a:latin typeface="Calibri"/>
                <a:cs typeface="Calibri"/>
              </a:rPr>
              <a:t>aumenta </a:t>
            </a:r>
            <a:r>
              <a:rPr sz="2400" spc="-5" dirty="0">
                <a:latin typeface="Calibri"/>
                <a:cs typeface="Calibri"/>
              </a:rPr>
              <a:t>ou diminui </a:t>
            </a:r>
            <a:r>
              <a:rPr sz="2400" spc="-15" dirty="0">
                <a:latin typeface="Calibri"/>
                <a:cs typeface="Calibri"/>
              </a:rPr>
              <a:t>conforme </a:t>
            </a:r>
            <a:r>
              <a:rPr sz="2400" spc="-5" dirty="0">
                <a:latin typeface="Calibri"/>
                <a:cs typeface="Calibri"/>
              </a:rPr>
              <a:t>os elementos são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inseridos</a:t>
            </a:r>
            <a:r>
              <a:rPr sz="2400" spc="-10" dirty="0">
                <a:latin typeface="Calibri"/>
                <a:cs typeface="Calibri"/>
              </a:rPr>
              <a:t> 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removidos.</a:t>
            </a:r>
            <a:endParaRPr sz="2400" dirty="0">
              <a:latin typeface="Calibri"/>
              <a:cs typeface="Calibri"/>
            </a:endParaRPr>
          </a:p>
          <a:p>
            <a:pPr marL="821690" marR="1132205" lvl="1" indent="-352425">
              <a:lnSpc>
                <a:spcPct val="100000"/>
              </a:lnSpc>
              <a:spcBef>
                <a:spcPts val="18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spc="-5" dirty="0">
                <a:latin typeface="Calibri"/>
                <a:cs typeface="Calibri"/>
              </a:rPr>
              <a:t>Em um </a:t>
            </a:r>
            <a:r>
              <a:rPr sz="2400" spc="-15" dirty="0">
                <a:latin typeface="Calibri"/>
                <a:cs typeface="Calibri"/>
              </a:rPr>
              <a:t>conjunto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objetos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400" spc="-5" dirty="0">
                <a:latin typeface="Calibri"/>
                <a:cs typeface="Calibri"/>
              </a:rPr>
              <a:t> são permitidos </a:t>
            </a:r>
            <a:r>
              <a:rPr sz="2400" spc="-10" dirty="0">
                <a:latin typeface="Calibri"/>
                <a:cs typeface="Calibri"/>
              </a:rPr>
              <a:t>objetos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duplicados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472261"/>
            <a:ext cx="4560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Conjuntos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860790" cy="4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77533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implementam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interface</a:t>
            </a:r>
            <a:r>
              <a:rPr sz="2450" spc="25" dirty="0">
                <a:latin typeface="Calibri"/>
                <a:cs typeface="Calibri"/>
              </a:rPr>
              <a:t> </a:t>
            </a:r>
            <a:r>
              <a:rPr sz="2450" b="1" spc="-10" dirty="0">
                <a:latin typeface="Calibri"/>
                <a:cs typeface="Calibri"/>
              </a:rPr>
              <a:t>Set</a:t>
            </a:r>
            <a:r>
              <a:rPr sz="2450" b="1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visando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spc="-54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representação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conjuntos:</a:t>
            </a:r>
            <a:endParaRPr sz="2450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8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dirty="0">
                <a:latin typeface="Calibri"/>
                <a:cs typeface="Calibri"/>
              </a:rPr>
              <a:t>HashSet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5" dirty="0">
                <a:latin typeface="Calibri"/>
                <a:cs typeface="Calibri"/>
              </a:rPr>
              <a:t>Possui </a:t>
            </a:r>
            <a:r>
              <a:rPr sz="2400" spc="-5" dirty="0">
                <a:latin typeface="Calibri"/>
                <a:cs typeface="Calibri"/>
              </a:rPr>
              <a:t>um mecanismo </a:t>
            </a:r>
            <a:r>
              <a:rPr sz="2400" dirty="0">
                <a:latin typeface="Calibri"/>
                <a:cs typeface="Calibri"/>
              </a:rPr>
              <a:t>mais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rápido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 operações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alteração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conjuntos,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u="sng" spc="-10" dirty="0">
                <a:latin typeface="Calibri"/>
                <a:cs typeface="Calibri"/>
              </a:rPr>
              <a:t>porém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estabelece</a:t>
            </a:r>
            <a:r>
              <a:rPr sz="24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uma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ordem</a:t>
            </a:r>
            <a:r>
              <a:rPr sz="24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entre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seus</a:t>
            </a:r>
            <a:r>
              <a:rPr sz="2400" spc="-10" dirty="0">
                <a:latin typeface="Calibri"/>
                <a:cs typeface="Calibri"/>
              </a:rPr>
              <a:t> elementos.</a:t>
            </a:r>
            <a:endParaRPr sz="2400" dirty="0">
              <a:latin typeface="Calibri"/>
              <a:cs typeface="Calibri"/>
            </a:endParaRPr>
          </a:p>
          <a:p>
            <a:pPr marL="821690" marR="199390" lvl="1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25" dirty="0">
                <a:latin typeface="Calibri"/>
                <a:cs typeface="Calibri"/>
              </a:rPr>
              <a:t>TreeSet </a:t>
            </a:r>
            <a:r>
              <a:rPr sz="2400" dirty="0">
                <a:latin typeface="Calibri"/>
                <a:cs typeface="Calibri"/>
              </a:rPr>
              <a:t>– </a:t>
            </a:r>
            <a:r>
              <a:rPr sz="2400" spc="-15" dirty="0">
                <a:latin typeface="Calibri"/>
                <a:cs typeface="Calibri"/>
              </a:rPr>
              <a:t>Possui </a:t>
            </a:r>
            <a:r>
              <a:rPr sz="2400" spc="-5" dirty="0">
                <a:latin typeface="Calibri"/>
                <a:cs typeface="Calibri"/>
              </a:rPr>
              <a:t>um mecanismo </a:t>
            </a:r>
            <a:r>
              <a:rPr sz="2400" dirty="0">
                <a:latin typeface="Calibri"/>
                <a:cs typeface="Calibri"/>
              </a:rPr>
              <a:t>mais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lento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spc="-10" dirty="0">
                <a:latin typeface="Calibri"/>
                <a:cs typeface="Calibri"/>
              </a:rPr>
              <a:t>operações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remoção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conjuntos,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porém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mantém</a:t>
            </a:r>
            <a:r>
              <a:rPr sz="24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ordenação </a:t>
            </a:r>
            <a:r>
              <a:rPr sz="2400" spc="-5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crescente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 seus </a:t>
            </a:r>
            <a:r>
              <a:rPr sz="2400" spc="-10" dirty="0">
                <a:latin typeface="Calibri"/>
                <a:cs typeface="Calibri"/>
              </a:rPr>
              <a:t>elementos.</a:t>
            </a:r>
            <a:endParaRPr sz="2400" dirty="0">
              <a:latin typeface="Calibri"/>
              <a:cs typeface="Calibri"/>
            </a:endParaRPr>
          </a:p>
          <a:p>
            <a:pPr marL="364490" marR="487045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dirty="0">
                <a:latin typeface="Calibri"/>
                <a:cs typeface="Calibri"/>
              </a:rPr>
              <a:t>Ao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criar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uma </a:t>
            </a:r>
            <a:r>
              <a:rPr sz="2450" spc="-10" dirty="0">
                <a:latin typeface="Calibri"/>
                <a:cs typeface="Calibri"/>
              </a:rPr>
              <a:t>instância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destas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classes,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é </a:t>
            </a:r>
            <a:r>
              <a:rPr sz="2450" spc="-10" dirty="0">
                <a:latin typeface="Calibri"/>
                <a:cs typeface="Calibri"/>
              </a:rPr>
              <a:t>preciso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definir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o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dirty="0">
                <a:latin typeface="Calibri"/>
                <a:cs typeface="Calibri"/>
              </a:rPr>
              <a:t>tipo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 </a:t>
            </a:r>
            <a:r>
              <a:rPr sz="2450" spc="-5" dirty="0">
                <a:latin typeface="Calibri"/>
                <a:cs typeface="Calibri"/>
              </a:rPr>
              <a:t>(dado)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 o </a:t>
            </a:r>
            <a:r>
              <a:rPr sz="2450" spc="-15" dirty="0">
                <a:latin typeface="Calibri"/>
                <a:cs typeface="Calibri"/>
              </a:rPr>
              <a:t>conjunto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irá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35" dirty="0">
                <a:latin typeface="Calibri"/>
                <a:cs typeface="Calibri"/>
              </a:rPr>
              <a:t>armazenar.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5" dirty="0">
                <a:latin typeface="Calibri"/>
                <a:cs typeface="Calibri"/>
              </a:rPr>
              <a:t>Por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exemplo: 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Set&lt;Integer&gt;</a:t>
            </a:r>
            <a:r>
              <a:rPr sz="2450" spc="1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5" dirty="0">
                <a:solidFill>
                  <a:srgbClr val="003399"/>
                </a:solidFill>
                <a:latin typeface="Calibri"/>
                <a:cs typeface="Calibri"/>
              </a:rPr>
              <a:t>conjunto</a:t>
            </a:r>
            <a:r>
              <a:rPr sz="245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5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 new</a:t>
            </a:r>
            <a:r>
              <a:rPr sz="245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003399"/>
                </a:solidFill>
                <a:latin typeface="Calibri"/>
                <a:cs typeface="Calibri"/>
              </a:rPr>
              <a:t>HashSet&lt;Integer&gt;();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560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/>
              <a:t>Conjuntos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04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095593"/>
            <a:ext cx="8770620" cy="537845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5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Principais</a:t>
            </a:r>
            <a:r>
              <a:rPr sz="2500" spc="-20" dirty="0">
                <a:latin typeface="Calibri"/>
                <a:cs typeface="Calibri"/>
              </a:rPr>
              <a:t> </a:t>
            </a:r>
            <a:r>
              <a:rPr sz="2500" spc="-10" dirty="0" err="1">
                <a:latin typeface="Calibri"/>
                <a:cs typeface="Calibri"/>
              </a:rPr>
              <a:t>métodos</a:t>
            </a:r>
            <a:r>
              <a:rPr sz="2500" spc="-10" dirty="0">
                <a:latin typeface="Calibri"/>
                <a:cs typeface="Calibri"/>
              </a:rPr>
              <a:t>:</a:t>
            </a:r>
            <a:r>
              <a:rPr lang="pt-BR" sz="2500" spc="-10" dirty="0">
                <a:latin typeface="Calibri"/>
                <a:cs typeface="Calibri"/>
              </a:rPr>
              <a:t> (</a:t>
            </a:r>
            <a:r>
              <a:rPr lang="pt-BR" sz="2500" spc="-10" dirty="0">
                <a:solidFill>
                  <a:srgbClr val="FF0000"/>
                </a:solidFill>
                <a:latin typeface="Calibri"/>
                <a:cs typeface="Calibri"/>
              </a:rPr>
              <a:t>não existe </a:t>
            </a:r>
            <a:r>
              <a:rPr lang="pt-BR" sz="2500" spc="-10" dirty="0" err="1">
                <a:solidFill>
                  <a:srgbClr val="FF0000"/>
                </a:solidFill>
                <a:latin typeface="Calibri"/>
                <a:cs typeface="Calibri"/>
              </a:rPr>
              <a:t>get</a:t>
            </a:r>
            <a:r>
              <a:rPr lang="pt-BR" sz="2500" spc="-10" dirty="0">
                <a:latin typeface="Calibri"/>
                <a:cs typeface="Calibri"/>
              </a:rPr>
              <a:t>)</a:t>
            </a:r>
            <a:endParaRPr sz="2500" dirty="0">
              <a:latin typeface="Calibri"/>
              <a:cs typeface="Calibri"/>
            </a:endParaRPr>
          </a:p>
          <a:p>
            <a:pPr marL="821690" lvl="1" indent="-352425">
              <a:lnSpc>
                <a:spcPts val="2625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add: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Adiciona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 elemento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ao </a:t>
            </a:r>
            <a:r>
              <a:rPr sz="2200" spc="-15" dirty="0">
                <a:latin typeface="Calibri"/>
                <a:cs typeface="Calibri"/>
              </a:rPr>
              <a:t>conjunto.</a:t>
            </a:r>
            <a:r>
              <a:rPr lang="pt-BR" sz="2200" spc="-15" dirty="0">
                <a:latin typeface="Calibri"/>
                <a:cs typeface="Calibri"/>
              </a:rPr>
              <a:t> (sem posição definida)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62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&lt;nome_conjunto&gt;.add(&lt;elemento&gt;)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625"/>
              </a:lnSpc>
              <a:spcBef>
                <a:spcPts val="99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remove: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Remove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conjunto.</a:t>
            </a:r>
            <a:endParaRPr sz="2200" dirty="0">
              <a:latin typeface="Calibri"/>
              <a:cs typeface="Calibri"/>
            </a:endParaRPr>
          </a:p>
          <a:p>
            <a:pPr marL="807720">
              <a:lnSpc>
                <a:spcPts val="262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&lt;nome_conjunto&gt;.remove(&lt;elemento&gt;)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625"/>
              </a:lnSpc>
              <a:spcBef>
                <a:spcPts val="99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isEmpty: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um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vazio</a:t>
            </a:r>
            <a:r>
              <a:rPr sz="2200" spc="-10" dirty="0">
                <a:latin typeface="Calibri"/>
                <a:cs typeface="Calibri"/>
              </a:rPr>
              <a:t>.</a:t>
            </a:r>
            <a:r>
              <a:rPr lang="pt-BR" sz="2200" spc="-10" dirty="0">
                <a:latin typeface="Calibri"/>
                <a:cs typeface="Calibri"/>
              </a:rPr>
              <a:t> (TRUE ou FALSE)</a:t>
            </a:r>
            <a:endParaRPr sz="2200" dirty="0">
              <a:latin typeface="Calibri"/>
              <a:cs typeface="Calibri"/>
            </a:endParaRPr>
          </a:p>
          <a:p>
            <a:pPr marL="806450">
              <a:lnSpc>
                <a:spcPts val="262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&lt;nome_conjunto&gt;.isEmpty()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565"/>
              </a:lnSpc>
              <a:spcBef>
                <a:spcPts val="99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contains: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Retorna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contém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determinado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56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&lt;nome_conjunto&gt;.contains(&lt;elemento&gt;)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ts val="2550"/>
              </a:lnSpc>
              <a:spcBef>
                <a:spcPts val="11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size: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quantos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possui.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ts val="255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&lt;nome_conjunto&gt;.size()</a:t>
            </a:r>
            <a:endParaRPr sz="22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13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clear: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Remove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todos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 </a:t>
            </a:r>
            <a:r>
              <a:rPr sz="2200" spc="-15" dirty="0">
                <a:latin typeface="Calibri"/>
                <a:cs typeface="Calibri"/>
              </a:rPr>
              <a:t>conjunto.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4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&lt;nome_conjunto&gt;.clear()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0975" y="748918"/>
            <a:ext cx="9251950" cy="5201285"/>
            <a:chOff x="180975" y="748918"/>
            <a:chExt cx="9251950" cy="52012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500" y="900683"/>
              <a:ext cx="8121396" cy="50398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5737" y="895921"/>
              <a:ext cx="8131175" cy="5049520"/>
            </a:xfrm>
            <a:custGeom>
              <a:avLst/>
              <a:gdLst/>
              <a:ahLst/>
              <a:cxnLst/>
              <a:rect l="l" t="t" r="r" b="b"/>
              <a:pathLst>
                <a:path w="8131175" h="5049520">
                  <a:moveTo>
                    <a:pt x="0" y="5049393"/>
                  </a:moveTo>
                  <a:lnTo>
                    <a:pt x="8130921" y="5049393"/>
                  </a:lnTo>
                  <a:lnTo>
                    <a:pt x="8130921" y="0"/>
                  </a:lnTo>
                  <a:lnTo>
                    <a:pt x="0" y="0"/>
                  </a:lnTo>
                  <a:lnTo>
                    <a:pt x="0" y="50493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2264" y="1127759"/>
              <a:ext cx="3500628" cy="12131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17438" y="1122933"/>
              <a:ext cx="3510279" cy="1223010"/>
            </a:xfrm>
            <a:custGeom>
              <a:avLst/>
              <a:gdLst/>
              <a:ahLst/>
              <a:cxnLst/>
              <a:rect l="l" t="t" r="r" b="b"/>
              <a:pathLst>
                <a:path w="3510279" h="1223010">
                  <a:moveTo>
                    <a:pt x="0" y="1222628"/>
                  </a:moveTo>
                  <a:lnTo>
                    <a:pt x="3510152" y="1222628"/>
                  </a:lnTo>
                  <a:lnTo>
                    <a:pt x="3510152" y="0"/>
                  </a:lnTo>
                  <a:lnTo>
                    <a:pt x="0" y="0"/>
                  </a:lnTo>
                  <a:lnTo>
                    <a:pt x="0" y="122262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13222" y="761618"/>
              <a:ext cx="731520" cy="1456690"/>
            </a:xfrm>
            <a:custGeom>
              <a:avLst/>
              <a:gdLst/>
              <a:ahLst/>
              <a:cxnLst/>
              <a:rect l="l" t="t" r="r" b="b"/>
              <a:pathLst>
                <a:path w="731520" h="1456689">
                  <a:moveTo>
                    <a:pt x="731519" y="546862"/>
                  </a:moveTo>
                  <a:lnTo>
                    <a:pt x="0" y="0"/>
                  </a:lnTo>
                  <a:lnTo>
                    <a:pt x="729614" y="1456308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153110"/>
            <a:ext cx="173926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</a:t>
            </a:r>
            <a:r>
              <a:rPr spc="-25" dirty="0"/>
              <a:t>S</a:t>
            </a:r>
            <a:r>
              <a:rPr spc="-30" dirty="0"/>
              <a:t>e</a:t>
            </a:r>
            <a:r>
              <a:rPr spc="-5" dirty="0"/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3766" y="6080251"/>
            <a:ext cx="891032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5" dirty="0">
                <a:solidFill>
                  <a:srgbClr val="C00000"/>
                </a:solidFill>
                <a:latin typeface="Calibri"/>
                <a:cs typeface="Calibri"/>
              </a:rPr>
              <a:t>HashSets</a:t>
            </a:r>
            <a:r>
              <a:rPr sz="1700" b="1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e</a:t>
            </a:r>
            <a:r>
              <a:rPr sz="17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b="1" spc="-20" dirty="0">
                <a:solidFill>
                  <a:srgbClr val="C00000"/>
                </a:solidFill>
                <a:latin typeface="Calibri"/>
                <a:cs typeface="Calibri"/>
              </a:rPr>
              <a:t>TreeSets</a:t>
            </a:r>
            <a:r>
              <a:rPr sz="1700" b="1" spc="-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também</a:t>
            </a:r>
            <a:r>
              <a:rPr sz="1700" spc="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podem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ser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inicializados</a:t>
            </a:r>
            <a:r>
              <a:rPr sz="1700" spc="-4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já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 em</a:t>
            </a:r>
            <a:r>
              <a:rPr sz="1700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sua</a:t>
            </a:r>
            <a:r>
              <a:rPr sz="1700" spc="-2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Calibri"/>
                <a:cs typeface="Calibri"/>
              </a:rPr>
              <a:t>declaração</a:t>
            </a:r>
            <a:r>
              <a:rPr sz="1700" spc="-3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por meio da</a:t>
            </a:r>
            <a:r>
              <a:rPr sz="1700" spc="-1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C00000"/>
                </a:solidFill>
                <a:latin typeface="Calibri"/>
                <a:cs typeface="Calibri"/>
              </a:rPr>
              <a:t>classe</a:t>
            </a:r>
            <a:r>
              <a:rPr sz="1700" spc="2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1700" b="1" spc="-15" dirty="0">
                <a:solidFill>
                  <a:srgbClr val="C00000"/>
                </a:solidFill>
                <a:latin typeface="Calibri"/>
                <a:cs typeface="Calibri"/>
              </a:rPr>
              <a:t>Arrays</a:t>
            </a:r>
            <a:r>
              <a:rPr sz="1700" spc="-15" dirty="0">
                <a:solidFill>
                  <a:srgbClr val="C00000"/>
                </a:solidFill>
                <a:latin typeface="Calibri"/>
                <a:cs typeface="Calibri"/>
              </a:rPr>
              <a:t>: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55314" y="180593"/>
            <a:ext cx="2988945" cy="5765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1600" spc="-5" dirty="0">
                <a:latin typeface="Calibri"/>
                <a:cs typeface="Calibri"/>
              </a:rPr>
              <a:t>Os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nomes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não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são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armazenados</a:t>
            </a:r>
            <a:endParaRPr sz="160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em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ordem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alfabética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conjunto.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8886" y="6385178"/>
            <a:ext cx="8997315" cy="342265"/>
            <a:chOff x="238886" y="6385178"/>
            <a:chExt cx="8997315" cy="34226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8411" y="6394702"/>
              <a:ext cx="8977884" cy="32308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3649" y="6389941"/>
              <a:ext cx="8987790" cy="332740"/>
            </a:xfrm>
            <a:custGeom>
              <a:avLst/>
              <a:gdLst/>
              <a:ahLst/>
              <a:cxnLst/>
              <a:rect l="l" t="t" r="r" b="b"/>
              <a:pathLst>
                <a:path w="8987790" h="332740">
                  <a:moveTo>
                    <a:pt x="0" y="332613"/>
                  </a:moveTo>
                  <a:lnTo>
                    <a:pt x="8987409" y="332613"/>
                  </a:lnTo>
                  <a:lnTo>
                    <a:pt x="8987409" y="0"/>
                  </a:lnTo>
                  <a:lnTo>
                    <a:pt x="0" y="0"/>
                  </a:lnTo>
                  <a:lnTo>
                    <a:pt x="0" y="3326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1454" y="746315"/>
            <a:ext cx="9272905" cy="5815330"/>
            <a:chOff x="211454" y="746315"/>
            <a:chExt cx="9272905" cy="5815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979" y="1331975"/>
              <a:ext cx="8365235" cy="52197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6217" y="1327213"/>
              <a:ext cx="8375015" cy="5229225"/>
            </a:xfrm>
            <a:custGeom>
              <a:avLst/>
              <a:gdLst/>
              <a:ahLst/>
              <a:cxnLst/>
              <a:rect l="l" t="t" r="r" b="b"/>
              <a:pathLst>
                <a:path w="8375015" h="5229225">
                  <a:moveTo>
                    <a:pt x="0" y="5229225"/>
                  </a:moveTo>
                  <a:lnTo>
                    <a:pt x="8374760" y="5229225"/>
                  </a:lnTo>
                  <a:lnTo>
                    <a:pt x="8374760" y="0"/>
                  </a:lnTo>
                  <a:lnTo>
                    <a:pt x="0" y="0"/>
                  </a:lnTo>
                  <a:lnTo>
                    <a:pt x="0" y="522922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5979" y="755903"/>
              <a:ext cx="3538728" cy="120396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931153" y="751077"/>
              <a:ext cx="3548379" cy="1213485"/>
            </a:xfrm>
            <a:custGeom>
              <a:avLst/>
              <a:gdLst/>
              <a:ahLst/>
              <a:cxnLst/>
              <a:rect l="l" t="t" r="r" b="b"/>
              <a:pathLst>
                <a:path w="3548379" h="1213485">
                  <a:moveTo>
                    <a:pt x="0" y="1213485"/>
                  </a:moveTo>
                  <a:lnTo>
                    <a:pt x="3548253" y="1213485"/>
                  </a:lnTo>
                  <a:lnTo>
                    <a:pt x="3548253" y="0"/>
                  </a:lnTo>
                  <a:lnTo>
                    <a:pt x="0" y="0"/>
                  </a:lnTo>
                  <a:lnTo>
                    <a:pt x="0" y="121348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54446" y="813688"/>
              <a:ext cx="613410" cy="998855"/>
            </a:xfrm>
            <a:custGeom>
              <a:avLst/>
              <a:gdLst/>
              <a:ahLst/>
              <a:cxnLst/>
              <a:rect l="l" t="t" r="r" b="b"/>
              <a:pathLst>
                <a:path w="613410" h="998855">
                  <a:moveTo>
                    <a:pt x="605408" y="998601"/>
                  </a:moveTo>
                  <a:lnTo>
                    <a:pt x="0" y="0"/>
                  </a:lnTo>
                  <a:lnTo>
                    <a:pt x="613155" y="61849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1604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T</a:t>
            </a:r>
            <a:r>
              <a:rPr spc="-60" dirty="0"/>
              <a:t>r</a:t>
            </a:r>
            <a:r>
              <a:rPr spc="-10" dirty="0"/>
              <a:t>e</a:t>
            </a:r>
            <a:r>
              <a:rPr dirty="0"/>
              <a:t>e</a:t>
            </a:r>
            <a:r>
              <a:rPr spc="-5" dirty="0"/>
              <a:t>S</a:t>
            </a:r>
            <a:r>
              <a:rPr spc="-30" dirty="0"/>
              <a:t>e</a:t>
            </a:r>
            <a:r>
              <a:rPr spc="-5" dirty="0"/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39745" y="540257"/>
            <a:ext cx="2807335" cy="5765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31115" rIns="0" bIns="0" rtlCol="0">
            <a:spAutoFit/>
          </a:bodyPr>
          <a:lstStyle/>
          <a:p>
            <a:pPr marL="90170" marR="103505">
              <a:lnSpc>
                <a:spcPct val="100000"/>
              </a:lnSpc>
              <a:spcBef>
                <a:spcPts val="245"/>
              </a:spcBef>
            </a:pPr>
            <a:r>
              <a:rPr sz="1600" spc="-5" dirty="0">
                <a:latin typeface="Calibri"/>
                <a:cs typeface="Calibri"/>
              </a:rPr>
              <a:t>Os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nomes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são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armazenados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em </a:t>
            </a:r>
            <a:r>
              <a:rPr sz="1600" spc="-34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ordem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alfabética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no </a:t>
            </a:r>
            <a:r>
              <a:rPr sz="1600" spc="-10" dirty="0">
                <a:latin typeface="Calibri"/>
                <a:cs typeface="Calibri"/>
              </a:rPr>
              <a:t>conjunto.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11325" y="17793"/>
            <a:ext cx="644352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210" dirty="0"/>
              <a:t>Set Formas de percorrer </a:t>
            </a:r>
            <a:endParaRPr spc="-5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3487A7F-6929-B90B-7E04-A578E4A87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212" y="652793"/>
            <a:ext cx="7552637" cy="5693866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JetBrains Mono"/>
              </a:rPr>
              <a:t>//O Set em Java não tem índice logo não tem .get()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java.util.*;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PercorrerSet {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(String[] args) {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Set&lt;String&gt; nomes =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HashSet&lt;&gt;();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nomes.add(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"Maria"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nomes.add(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"João"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nomes.add(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"Ana"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nomes.add(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"Carlos"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1. For-each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"For-each:"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 nome : nomes) {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System.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.println(nome);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}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2. Stream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System.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\n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Stream:"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nomes.stream().forEach(System.</a:t>
            </a:r>
            <a:r>
              <a:rPr kumimoji="0" lang="pt-BR" altLang="pt-BR" sz="14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::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println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    </a:t>
            </a:r>
            <a:r>
              <a:rPr lang="pt-BR" altLang="pt-BR" sz="1400" dirty="0">
                <a:solidFill>
                  <a:srgbClr val="7A7E85"/>
                </a:solidFill>
                <a:latin typeface="JetBrains Mono"/>
              </a:rPr>
              <a:t>// 3. </a:t>
            </a:r>
            <a:r>
              <a:rPr lang="pt-BR" altLang="pt-BR" sz="1400" dirty="0" err="1">
                <a:solidFill>
                  <a:srgbClr val="7A7E85"/>
                </a:solidFill>
                <a:latin typeface="JetBrains Mono"/>
              </a:rPr>
              <a:t>Iterator</a:t>
            </a:r>
            <a:br>
              <a:rPr lang="pt-BR" altLang="pt-BR" sz="1400" dirty="0">
                <a:solidFill>
                  <a:srgbClr val="7A7E85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7A7E85"/>
                </a:solidFill>
                <a:latin typeface="JetBrains Mono"/>
              </a:rPr>
              <a:t>       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System.</a:t>
            </a:r>
            <a:r>
              <a:rPr lang="pt-BR" altLang="pt-BR" sz="1400" i="1" dirty="0" err="1">
                <a:solidFill>
                  <a:srgbClr val="C77DBB"/>
                </a:solidFill>
                <a:latin typeface="JetBrains Mono"/>
              </a:rPr>
              <a:t>out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.println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</a:t>
            </a:r>
            <a:r>
              <a:rPr lang="pt-BR" altLang="pt-BR" sz="1400" dirty="0">
                <a:solidFill>
                  <a:srgbClr val="6AAB73"/>
                </a:solidFill>
                <a:latin typeface="JetBrains Mono"/>
              </a:rPr>
              <a:t>"</a:t>
            </a:r>
            <a:r>
              <a:rPr lang="pt-BR" altLang="pt-BR" sz="1400" dirty="0">
                <a:solidFill>
                  <a:srgbClr val="CF8E6D"/>
                </a:solidFill>
                <a:latin typeface="JetBrains Mono"/>
              </a:rPr>
              <a:t>\</a:t>
            </a:r>
            <a:r>
              <a:rPr lang="pt-BR" altLang="pt-BR" sz="1400" dirty="0" err="1">
                <a:solidFill>
                  <a:srgbClr val="CF8E6D"/>
                </a:solidFill>
                <a:latin typeface="JetBrains Mono"/>
              </a:rPr>
              <a:t>n</a:t>
            </a:r>
            <a:r>
              <a:rPr lang="pt-BR" altLang="pt-BR" sz="1400" dirty="0" err="1">
                <a:solidFill>
                  <a:srgbClr val="6AAB73"/>
                </a:solidFill>
                <a:latin typeface="JetBrains Mono"/>
              </a:rPr>
              <a:t>Iterator</a:t>
            </a:r>
            <a:r>
              <a:rPr lang="pt-BR" altLang="pt-BR" sz="1400" dirty="0">
                <a:solidFill>
                  <a:srgbClr val="6AAB73"/>
                </a:solidFill>
                <a:latin typeface="JetBrains Mono"/>
              </a:rPr>
              <a:t>:"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);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   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Iterator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&lt;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String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&gt; it =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nomes.iterator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();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    </a:t>
            </a:r>
            <a:r>
              <a:rPr lang="pt-BR" altLang="pt-BR" sz="1400" dirty="0" err="1">
                <a:solidFill>
                  <a:srgbClr val="CF8E6D"/>
                </a:solidFill>
                <a:latin typeface="JetBrains Mono"/>
              </a:rPr>
              <a:t>while</a:t>
            </a:r>
            <a:r>
              <a:rPr lang="pt-BR" altLang="pt-BR" sz="1400" dirty="0">
                <a:solidFill>
                  <a:srgbClr val="CF8E6D"/>
                </a:solidFill>
                <a:latin typeface="JetBrains Mono"/>
              </a:rPr>
              <a:t> 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it.hasNext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()) {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    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System.</a:t>
            </a:r>
            <a:r>
              <a:rPr lang="pt-BR" altLang="pt-BR" sz="1400" i="1" dirty="0" err="1">
                <a:solidFill>
                  <a:srgbClr val="C77DBB"/>
                </a:solidFill>
                <a:latin typeface="JetBrains Mono"/>
              </a:rPr>
              <a:t>out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.println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</a:t>
            </a:r>
            <a:r>
              <a:rPr lang="pt-BR" altLang="pt-BR" sz="1400" dirty="0" err="1">
                <a:solidFill>
                  <a:srgbClr val="BCBEC4"/>
                </a:solidFill>
                <a:latin typeface="JetBrains Mono"/>
              </a:rPr>
              <a:t>it.next</a:t>
            </a: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());</a:t>
            </a:r>
            <a:br>
              <a:rPr lang="pt-BR" altLang="pt-BR" sz="1400" dirty="0">
                <a:solidFill>
                  <a:srgbClr val="BCBEC4"/>
                </a:solidFill>
                <a:latin typeface="JetBrains Mono"/>
              </a:rPr>
            </a:br>
            <a:r>
              <a:rPr lang="pt-BR" altLang="pt-BR" sz="1400" dirty="0">
                <a:solidFill>
                  <a:srgbClr val="BCBEC4"/>
                </a:solidFill>
                <a:latin typeface="JetBrains Mono"/>
              </a:rPr>
              <a:t>        }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endParaRPr kumimoji="0" lang="pt-BR" altLang="pt-B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781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307D-5CE9-FD64-FE83-454239AC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10BD0560-B40B-B553-3822-65EA864E9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325" y="17793"/>
            <a:ext cx="644352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210" dirty="0"/>
              <a:t>Exercício</a:t>
            </a:r>
            <a:endParaRPr spc="-5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6BB2AF-1FB8-F32D-51FD-4BC5CD04CAA5}"/>
              </a:ext>
            </a:extLst>
          </p:cNvPr>
          <p:cNvSpPr txBox="1"/>
          <p:nvPr/>
        </p:nvSpPr>
        <p:spPr>
          <a:xfrm>
            <a:off x="611325" y="908050"/>
            <a:ext cx="865332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Utilize </a:t>
            </a:r>
            <a:r>
              <a:rPr lang="pt-BR" sz="2400" dirty="0" err="1">
                <a:latin typeface="Courier New" panose="02070309020205020404" pitchFamily="49" charset="0"/>
              </a:rPr>
              <a:t>HashSet</a:t>
            </a:r>
            <a:r>
              <a:rPr lang="pt-BR" sz="2400" dirty="0">
                <a:latin typeface="Courier New" panose="02070309020205020404" pitchFamily="49" charset="0"/>
              </a:rPr>
              <a:t>&lt;</a:t>
            </a:r>
            <a:r>
              <a:rPr lang="pt-BR" sz="2400" dirty="0" err="1">
                <a:latin typeface="Courier New" panose="02070309020205020404" pitchFamily="49" charset="0"/>
              </a:rPr>
              <a:t>String</a:t>
            </a:r>
            <a:r>
              <a:rPr lang="pt-BR" sz="2400" dirty="0">
                <a:latin typeface="Courier New" panose="02070309020205020404" pitchFamily="49" charset="0"/>
              </a:rPr>
              <a:t>&gt;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Ao adicionar um nome de aluno, caso o nome já esteja cadastrado, informe que o nome aluno </a:t>
            </a:r>
            <a:r>
              <a:rPr lang="pt-BR" sz="2400" b="1" dirty="0"/>
              <a:t>já existe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Ao remover um aluno, informe se ele foi encontrado ou não.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Na opção de consulta, informe se o aluno está cadastrado.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Na opção de listagem, exiba todos os alunos cadastrados.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dirty="0"/>
              <a:t>Exiba a quantidade total de alunos utilizando </a:t>
            </a:r>
            <a:r>
              <a:rPr lang="pt-BR" sz="2400" dirty="0" err="1">
                <a:latin typeface="Courier New" panose="02070309020205020404" pitchFamily="49" charset="0"/>
              </a:rPr>
              <a:t>size</a:t>
            </a:r>
            <a:r>
              <a:rPr lang="pt-BR" sz="2400" dirty="0">
                <a:latin typeface="Courier New" panose="02070309020205020404" pitchFamily="49" charset="0"/>
              </a:rPr>
              <a:t>()</a:t>
            </a:r>
            <a:r>
              <a:rPr lang="pt-BR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Não utilize índices</a:t>
            </a:r>
            <a:r>
              <a:rPr lang="pt-BR" sz="2400" dirty="0"/>
              <a:t>, pois </a:t>
            </a:r>
            <a:r>
              <a:rPr lang="pt-BR" sz="2400" dirty="0">
                <a:latin typeface="Courier New" panose="02070309020205020404" pitchFamily="49" charset="0"/>
              </a:rPr>
              <a:t>Set</a:t>
            </a:r>
            <a:r>
              <a:rPr lang="pt-BR" sz="2400" dirty="0"/>
              <a:t> não possui posições como uma </a:t>
            </a:r>
            <a:r>
              <a:rPr lang="pt-BR" sz="2400" dirty="0" err="1">
                <a:latin typeface="Courier New" panose="02070309020205020404" pitchFamily="49" charset="0"/>
              </a:rPr>
              <a:t>List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4732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4212"/>
            <a:ext cx="7311086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 err="1"/>
              <a:t>T</a:t>
            </a:r>
            <a:r>
              <a:rPr spc="-60" dirty="0" err="1"/>
              <a:t>r</a:t>
            </a:r>
            <a:r>
              <a:rPr spc="-10" dirty="0" err="1"/>
              <a:t>eeS</a:t>
            </a:r>
            <a:r>
              <a:rPr spc="-25" dirty="0" err="1"/>
              <a:t>e</a:t>
            </a:r>
            <a:r>
              <a:rPr spc="-5" dirty="0" err="1"/>
              <a:t>t</a:t>
            </a:r>
            <a:r>
              <a:rPr lang="pt-BR" spc="-5" dirty="0"/>
              <a:t> da </a:t>
            </a:r>
            <a:r>
              <a:rPr lang="pt-BR" spc="-5"/>
              <a:t>interface SortedSet</a:t>
            </a:r>
            <a:br>
              <a:rPr lang="pt-BR" spc="-5" dirty="0"/>
            </a:b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80392" y="527050"/>
            <a:ext cx="8755380" cy="5948423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34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15" dirty="0">
                <a:latin typeface="Calibri"/>
                <a:cs typeface="Calibri"/>
              </a:rPr>
              <a:t>Outros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spc="-10" dirty="0" err="1">
                <a:latin typeface="Calibri"/>
                <a:cs typeface="Calibri"/>
              </a:rPr>
              <a:t>métodos</a:t>
            </a:r>
            <a:r>
              <a:rPr sz="2500" spc="-10" dirty="0">
                <a:latin typeface="Calibri"/>
                <a:cs typeface="Calibri"/>
              </a:rPr>
              <a:t>:</a:t>
            </a:r>
            <a:r>
              <a:rPr lang="pt-BR" sz="2500" spc="-10" dirty="0">
                <a:latin typeface="Calibri"/>
                <a:cs typeface="Calibri"/>
              </a:rPr>
              <a:t> </a:t>
            </a:r>
          </a:p>
          <a:p>
            <a:pPr marL="364490" indent="-352425">
              <a:lnSpc>
                <a:spcPct val="100000"/>
              </a:lnSpc>
              <a:spcBef>
                <a:spcPts val="134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lang="pt-BR" sz="2500" spc="-10" dirty="0">
                <a:latin typeface="Calibri"/>
                <a:cs typeface="Calibri"/>
              </a:rPr>
              <a:t>Criação: SorteSet&lt;Integer&gt;s = new TreeSet&lt;Integer&gt;();</a:t>
            </a:r>
            <a:endParaRPr sz="25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15" dirty="0">
                <a:latin typeface="Calibri"/>
                <a:cs typeface="Calibri"/>
              </a:rPr>
              <a:t>first: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Retorna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1º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conjunto.</a:t>
            </a:r>
            <a:endParaRPr sz="24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25"/>
              </a:spcBef>
            </a:pPr>
            <a:r>
              <a:rPr sz="2400" b="1" spc="-20" dirty="0">
                <a:latin typeface="Calibri"/>
                <a:cs typeface="Calibri"/>
              </a:rPr>
              <a:t>Sintaxe: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00CC"/>
                </a:solidFill>
                <a:latin typeface="Calibri"/>
                <a:cs typeface="Calibri"/>
              </a:rPr>
              <a:t>&lt;nome_conjunto&gt;.first()</a:t>
            </a:r>
            <a:endParaRPr sz="2400" dirty="0">
              <a:latin typeface="Calibri"/>
              <a:cs typeface="Calibri"/>
            </a:endParaRPr>
          </a:p>
          <a:p>
            <a:pPr marL="821690" lvl="1" indent="-352425">
              <a:lnSpc>
                <a:spcPts val="2795"/>
              </a:lnSpc>
              <a:spcBef>
                <a:spcPts val="142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5" dirty="0">
                <a:latin typeface="Calibri"/>
                <a:cs typeface="Calibri"/>
              </a:rPr>
              <a:t>last: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Retorna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último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15" dirty="0">
                <a:latin typeface="Calibri"/>
                <a:cs typeface="Calibri"/>
              </a:rPr>
              <a:t> conjunto.</a:t>
            </a:r>
            <a:endParaRPr sz="2400" dirty="0">
              <a:latin typeface="Calibri"/>
              <a:cs typeface="Calibri"/>
            </a:endParaRPr>
          </a:p>
          <a:p>
            <a:pPr marL="807720">
              <a:lnSpc>
                <a:spcPts val="2795"/>
              </a:lnSpc>
            </a:pPr>
            <a:r>
              <a:rPr sz="2400" b="1" spc="-20" dirty="0">
                <a:latin typeface="Calibri"/>
                <a:cs typeface="Calibri"/>
              </a:rPr>
              <a:t>Sintaxe: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&lt;nome_conjunto&gt;.last()</a:t>
            </a:r>
            <a:endParaRPr sz="2400" dirty="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37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5" dirty="0">
                <a:latin typeface="Calibri"/>
                <a:cs typeface="Calibri"/>
              </a:rPr>
              <a:t>headSet: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Retorna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elementos</a:t>
            </a:r>
            <a:r>
              <a:rPr sz="2400" spc="-10" dirty="0">
                <a:latin typeface="Calibri"/>
                <a:cs typeface="Calibri"/>
              </a:rPr>
              <a:t> antecessores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dado</a:t>
            </a:r>
            <a:endParaRPr sz="24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  <a:spcBef>
                <a:spcPts val="80"/>
              </a:spcBef>
              <a:tabLst>
                <a:tab pos="2246630" algn="l"/>
              </a:tabLst>
            </a:pPr>
            <a:r>
              <a:rPr sz="3600" spc="-7" baseline="2314" dirty="0">
                <a:latin typeface="Calibri"/>
                <a:cs typeface="Calibri"/>
              </a:rPr>
              <a:t>elemento.	</a:t>
            </a:r>
            <a:r>
              <a:rPr sz="2400" b="1" spc="-20" dirty="0">
                <a:latin typeface="Calibri"/>
                <a:cs typeface="Calibri"/>
              </a:rPr>
              <a:t>Sintaxe: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00CC"/>
                </a:solidFill>
                <a:latin typeface="Calibri"/>
                <a:cs typeface="Calibri"/>
              </a:rPr>
              <a:t>&lt;nome_conjunto&gt;.headSet(&lt;elemento&gt;)</a:t>
            </a:r>
            <a:endParaRPr sz="2400" dirty="0">
              <a:latin typeface="Calibri"/>
              <a:cs typeface="Calibri"/>
            </a:endParaRPr>
          </a:p>
          <a:p>
            <a:pPr marL="821690" marR="496570" lvl="1" indent="-352425">
              <a:lnSpc>
                <a:spcPct val="100000"/>
              </a:lnSpc>
              <a:spcBef>
                <a:spcPts val="11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  <a:tab pos="2386330" algn="l"/>
              </a:tabLst>
            </a:pPr>
            <a:r>
              <a:rPr sz="2400" b="1" spc="-5" dirty="0">
                <a:latin typeface="Calibri"/>
                <a:cs typeface="Calibri"/>
              </a:rPr>
              <a:t>tailSet: </a:t>
            </a:r>
            <a:r>
              <a:rPr sz="2400" spc="-15" dirty="0">
                <a:latin typeface="Calibri"/>
                <a:cs typeface="Calibri"/>
              </a:rPr>
              <a:t>Retorna </a:t>
            </a:r>
            <a:r>
              <a:rPr sz="2400" spc="-5" dirty="0">
                <a:latin typeface="Calibri"/>
                <a:cs typeface="Calibri"/>
              </a:rPr>
              <a:t>um dado elemento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seus </a:t>
            </a:r>
            <a:r>
              <a:rPr sz="2400" spc="-10" dirty="0">
                <a:latin typeface="Calibri"/>
                <a:cs typeface="Calibri"/>
              </a:rPr>
              <a:t>elementos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sucessores.	</a:t>
            </a:r>
            <a:r>
              <a:rPr sz="3600" b="1" spc="-30" baseline="1157" dirty="0">
                <a:latin typeface="Calibri"/>
                <a:cs typeface="Calibri"/>
              </a:rPr>
              <a:t>Sintaxe:</a:t>
            </a:r>
            <a:r>
              <a:rPr sz="3600" b="1" spc="22" baseline="1157" dirty="0">
                <a:latin typeface="Calibri"/>
                <a:cs typeface="Calibri"/>
              </a:rPr>
              <a:t> </a:t>
            </a:r>
            <a:r>
              <a:rPr sz="3600" spc="-15" baseline="1157" dirty="0">
                <a:solidFill>
                  <a:srgbClr val="0000CC"/>
                </a:solidFill>
                <a:latin typeface="Calibri"/>
                <a:cs typeface="Calibri"/>
              </a:rPr>
              <a:t>&lt;nome_conjunto&gt;.tailSet(&lt;elemento&gt;)</a:t>
            </a:r>
            <a:endParaRPr sz="3600" baseline="1157" dirty="0">
              <a:latin typeface="Calibri"/>
              <a:cs typeface="Calibri"/>
            </a:endParaRPr>
          </a:p>
          <a:p>
            <a:pPr marL="821690" marR="909319" lvl="1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b="1" spc="-5" dirty="0">
                <a:latin typeface="Calibri"/>
                <a:cs typeface="Calibri"/>
              </a:rPr>
              <a:t>subSet: </a:t>
            </a:r>
            <a:r>
              <a:rPr sz="2400" spc="-15" dirty="0">
                <a:latin typeface="Calibri"/>
                <a:cs typeface="Calibri"/>
              </a:rPr>
              <a:t>Retorna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um </a:t>
            </a:r>
            <a:r>
              <a:rPr sz="2400" spc="-15" dirty="0">
                <a:latin typeface="Calibri"/>
                <a:cs typeface="Calibri"/>
              </a:rPr>
              <a:t>subconjunto</a:t>
            </a:r>
            <a:r>
              <a:rPr sz="2400" spc="-5" dirty="0">
                <a:latin typeface="Calibri"/>
                <a:cs typeface="Calibri"/>
              </a:rPr>
              <a:t> que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vai</a:t>
            </a:r>
            <a:r>
              <a:rPr sz="2400" spc="-5" dirty="0">
                <a:latin typeface="Calibri"/>
                <a:cs typeface="Calibri"/>
              </a:rPr>
              <a:t> do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1º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informado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até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antecessor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2º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elemento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informado.</a:t>
            </a:r>
            <a:endParaRPr sz="2400" dirty="0">
              <a:latin typeface="Calibri"/>
              <a:cs typeface="Calibri"/>
            </a:endParaRPr>
          </a:p>
          <a:p>
            <a:pPr marL="809625">
              <a:lnSpc>
                <a:spcPts val="2715"/>
              </a:lnSpc>
            </a:pPr>
            <a:r>
              <a:rPr sz="2300" b="1" spc="-20" dirty="0">
                <a:latin typeface="Calibri"/>
                <a:cs typeface="Calibri"/>
              </a:rPr>
              <a:t>Sintaxe:</a:t>
            </a:r>
            <a:r>
              <a:rPr sz="2300" b="1" spc="5" dirty="0"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Calibri"/>
                <a:cs typeface="Calibri"/>
              </a:rPr>
              <a:t>&lt;nome_conjunto&gt;.subSet(&lt;1º</a:t>
            </a:r>
            <a:r>
              <a:rPr sz="2300" spc="1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Calibri"/>
                <a:cs typeface="Calibri"/>
              </a:rPr>
              <a:t>elemento&gt;,</a:t>
            </a:r>
            <a:r>
              <a:rPr sz="23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Calibri"/>
                <a:cs typeface="Calibri"/>
              </a:rPr>
              <a:t>&lt;2º</a:t>
            </a:r>
            <a:r>
              <a:rPr sz="230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0000CC"/>
                </a:solidFill>
                <a:latin typeface="Calibri"/>
                <a:cs typeface="Calibri"/>
              </a:rPr>
              <a:t>elemento&gt;)</a:t>
            </a:r>
            <a:endParaRPr sz="23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5618" y="6581926"/>
            <a:ext cx="1045844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35"/>
              </a:lnSpc>
            </a:pPr>
            <a:r>
              <a:rPr sz="1400" i="1" dirty="0">
                <a:solidFill>
                  <a:srgbClr val="5F5F5F"/>
                </a:solidFill>
                <a:latin typeface="Calibri"/>
                <a:cs typeface="Calibri"/>
              </a:rPr>
              <a:t>l</a:t>
            </a:r>
            <a:r>
              <a:rPr sz="1400" i="1" spc="5" dirty="0">
                <a:solidFill>
                  <a:srgbClr val="5F5F5F"/>
                </a:solidFill>
                <a:latin typeface="Calibri"/>
                <a:cs typeface="Calibri"/>
              </a:rPr>
              <a:t>.</a:t>
            </a:r>
            <a:r>
              <a:rPr sz="1400" i="1" spc="-5" dirty="0">
                <a:solidFill>
                  <a:srgbClr val="5F5F5F"/>
                </a:solidFill>
                <a:latin typeface="Calibri"/>
                <a:cs typeface="Calibri"/>
              </a:rPr>
              <a:t>bertholdo@if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8282" y="2091054"/>
            <a:ext cx="8578850" cy="4619625"/>
            <a:chOff x="378282" y="2091054"/>
            <a:chExt cx="8578850" cy="46196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139" y="2345435"/>
              <a:ext cx="8208264" cy="435559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34377" y="2340673"/>
              <a:ext cx="8218170" cy="4365625"/>
            </a:xfrm>
            <a:custGeom>
              <a:avLst/>
              <a:gdLst/>
              <a:ahLst/>
              <a:cxnLst/>
              <a:rect l="l" t="t" r="r" b="b"/>
              <a:pathLst>
                <a:path w="8218170" h="4365625">
                  <a:moveTo>
                    <a:pt x="0" y="4365117"/>
                  </a:moveTo>
                  <a:lnTo>
                    <a:pt x="8217789" y="4365117"/>
                  </a:lnTo>
                  <a:lnTo>
                    <a:pt x="8217789" y="0"/>
                  </a:lnTo>
                  <a:lnTo>
                    <a:pt x="0" y="0"/>
                  </a:lnTo>
                  <a:lnTo>
                    <a:pt x="0" y="436511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0982" y="2103754"/>
              <a:ext cx="730250" cy="768350"/>
            </a:xfrm>
            <a:custGeom>
              <a:avLst/>
              <a:gdLst/>
              <a:ahLst/>
              <a:cxnLst/>
              <a:rect l="l" t="t" r="r" b="b"/>
              <a:pathLst>
                <a:path w="730250" h="768350">
                  <a:moveTo>
                    <a:pt x="0" y="0"/>
                  </a:moveTo>
                  <a:lnTo>
                    <a:pt x="428675" y="766826"/>
                  </a:lnTo>
                  <a:lnTo>
                    <a:pt x="730211" y="767968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1604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10" dirty="0"/>
              <a:t>T</a:t>
            </a:r>
            <a:r>
              <a:rPr spc="-60" dirty="0"/>
              <a:t>r</a:t>
            </a:r>
            <a:r>
              <a:rPr spc="-10" dirty="0"/>
              <a:t>e</a:t>
            </a:r>
            <a:r>
              <a:rPr dirty="0"/>
              <a:t>e</a:t>
            </a:r>
            <a:r>
              <a:rPr spc="-5" dirty="0"/>
              <a:t>S</a:t>
            </a:r>
            <a:r>
              <a:rPr spc="-30" dirty="0"/>
              <a:t>e</a:t>
            </a:r>
            <a:r>
              <a:rPr spc="-5" dirty="0"/>
              <a:t>t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387151" y="845375"/>
            <a:ext cx="5167630" cy="1279525"/>
            <a:chOff x="4387151" y="845375"/>
            <a:chExt cx="5167630" cy="127952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6740" y="854963"/>
              <a:ext cx="5148071" cy="12603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91914" y="850137"/>
              <a:ext cx="5158105" cy="1270000"/>
            </a:xfrm>
            <a:custGeom>
              <a:avLst/>
              <a:gdLst/>
              <a:ahLst/>
              <a:cxnLst/>
              <a:rect l="l" t="t" r="r" b="b"/>
              <a:pathLst>
                <a:path w="5158105" h="1270000">
                  <a:moveTo>
                    <a:pt x="0" y="1269873"/>
                  </a:moveTo>
                  <a:lnTo>
                    <a:pt x="5157597" y="1269873"/>
                  </a:lnTo>
                  <a:lnTo>
                    <a:pt x="5157597" y="0"/>
                  </a:lnTo>
                  <a:lnTo>
                    <a:pt x="0" y="0"/>
                  </a:lnTo>
                  <a:lnTo>
                    <a:pt x="0" y="126987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0113" y="1107185"/>
            <a:ext cx="4104640" cy="1009015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01600" marR="92710" indent="635" algn="ctr">
              <a:lnSpc>
                <a:spcPct val="100000"/>
              </a:lnSpc>
              <a:spcBef>
                <a:spcPts val="270"/>
              </a:spcBef>
            </a:pPr>
            <a:r>
              <a:rPr sz="1500" dirty="0">
                <a:latin typeface="Calibri"/>
                <a:cs typeface="Calibri"/>
              </a:rPr>
              <a:t>A </a:t>
            </a:r>
            <a:r>
              <a:rPr sz="1500" spc="-30" dirty="0">
                <a:latin typeface="Calibri"/>
                <a:cs typeface="Calibri"/>
              </a:rPr>
              <a:t>interface </a:t>
            </a:r>
            <a:r>
              <a:rPr sz="1500" b="1" spc="-25" dirty="0">
                <a:latin typeface="Calibri"/>
                <a:cs typeface="Calibri"/>
              </a:rPr>
              <a:t>Set </a:t>
            </a:r>
            <a:r>
              <a:rPr sz="1500" spc="-20" dirty="0">
                <a:latin typeface="Calibri"/>
                <a:cs typeface="Calibri"/>
              </a:rPr>
              <a:t>não </a:t>
            </a:r>
            <a:r>
              <a:rPr sz="1500" spc="-25" dirty="0">
                <a:latin typeface="Calibri"/>
                <a:cs typeface="Calibri"/>
              </a:rPr>
              <a:t>possui </a:t>
            </a:r>
            <a:r>
              <a:rPr sz="1500" spc="-15" dirty="0">
                <a:latin typeface="Calibri"/>
                <a:cs typeface="Calibri"/>
              </a:rPr>
              <a:t>os </a:t>
            </a:r>
            <a:r>
              <a:rPr sz="1500" spc="-25" dirty="0">
                <a:latin typeface="Calibri"/>
                <a:cs typeface="Calibri"/>
              </a:rPr>
              <a:t>métodos </a:t>
            </a:r>
            <a:r>
              <a:rPr sz="1500" b="1" spc="-30" dirty="0">
                <a:latin typeface="Calibri"/>
                <a:cs typeface="Calibri"/>
              </a:rPr>
              <a:t>first</a:t>
            </a:r>
            <a:r>
              <a:rPr sz="1500" spc="-30" dirty="0">
                <a:latin typeface="Calibri"/>
                <a:cs typeface="Calibri"/>
              </a:rPr>
              <a:t>, </a:t>
            </a:r>
            <a:r>
              <a:rPr sz="1500" b="1" spc="-25" dirty="0">
                <a:latin typeface="Calibri"/>
                <a:cs typeface="Calibri"/>
              </a:rPr>
              <a:t>last</a:t>
            </a:r>
            <a:r>
              <a:rPr sz="1500" spc="-25" dirty="0">
                <a:latin typeface="Calibri"/>
                <a:cs typeface="Calibri"/>
              </a:rPr>
              <a:t>, 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b="1" spc="-25" dirty="0">
                <a:latin typeface="Calibri"/>
                <a:cs typeface="Calibri"/>
              </a:rPr>
              <a:t>headSet</a:t>
            </a:r>
            <a:r>
              <a:rPr sz="1500" spc="-25" dirty="0">
                <a:latin typeface="Calibri"/>
                <a:cs typeface="Calibri"/>
              </a:rPr>
              <a:t>, </a:t>
            </a:r>
            <a:r>
              <a:rPr sz="1500" b="1" spc="-30" dirty="0">
                <a:latin typeface="Calibri"/>
                <a:cs typeface="Calibri"/>
              </a:rPr>
              <a:t>tailSet </a:t>
            </a:r>
            <a:r>
              <a:rPr sz="1500" dirty="0">
                <a:latin typeface="Calibri"/>
                <a:cs typeface="Calibri"/>
              </a:rPr>
              <a:t>e </a:t>
            </a:r>
            <a:r>
              <a:rPr sz="1500" b="1" spc="-25" dirty="0">
                <a:latin typeface="Calibri"/>
                <a:cs typeface="Calibri"/>
              </a:rPr>
              <a:t>subSet</a:t>
            </a:r>
            <a:r>
              <a:rPr sz="1500" spc="-25" dirty="0">
                <a:latin typeface="Calibri"/>
                <a:cs typeface="Calibri"/>
              </a:rPr>
              <a:t>. Nesse </a:t>
            </a:r>
            <a:r>
              <a:rPr sz="1500" spc="-30" dirty="0">
                <a:latin typeface="Calibri"/>
                <a:cs typeface="Calibri"/>
              </a:rPr>
              <a:t>caso, </a:t>
            </a:r>
            <a:r>
              <a:rPr sz="1500" spc="-25" dirty="0">
                <a:latin typeface="Calibri"/>
                <a:cs typeface="Calibri"/>
              </a:rPr>
              <a:t>pode-se </a:t>
            </a:r>
            <a:r>
              <a:rPr sz="1500" spc="-20" dirty="0">
                <a:latin typeface="Calibri"/>
                <a:cs typeface="Calibri"/>
              </a:rPr>
              <a:t>usar 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 </a:t>
            </a:r>
            <a:r>
              <a:rPr sz="1500" spc="-30" dirty="0">
                <a:latin typeface="Calibri"/>
                <a:cs typeface="Calibri"/>
              </a:rPr>
              <a:t>interface </a:t>
            </a:r>
            <a:r>
              <a:rPr sz="1500" b="1" spc="-30" dirty="0">
                <a:latin typeface="Calibri"/>
                <a:cs typeface="Calibri"/>
              </a:rPr>
              <a:t>SortedSet</a:t>
            </a:r>
            <a:r>
              <a:rPr sz="1500" spc="-30" dirty="0">
                <a:latin typeface="Calibri"/>
                <a:cs typeface="Calibri"/>
              </a:rPr>
              <a:t>, </a:t>
            </a:r>
            <a:r>
              <a:rPr sz="1500" spc="-20" dirty="0">
                <a:latin typeface="Calibri"/>
                <a:cs typeface="Calibri"/>
              </a:rPr>
              <a:t>que </a:t>
            </a:r>
            <a:r>
              <a:rPr sz="1500" spc="-30" dirty="0">
                <a:latin typeface="Calibri"/>
                <a:cs typeface="Calibri"/>
              </a:rPr>
              <a:t>também </a:t>
            </a:r>
            <a:r>
              <a:rPr sz="1500" dirty="0">
                <a:latin typeface="Calibri"/>
                <a:cs typeface="Calibri"/>
              </a:rPr>
              <a:t>é </a:t>
            </a:r>
            <a:r>
              <a:rPr sz="1500" spc="-30" dirty="0">
                <a:latin typeface="Calibri"/>
                <a:cs typeface="Calibri"/>
              </a:rPr>
              <a:t>implementada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pela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classe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b="1" spc="-40" dirty="0">
                <a:latin typeface="Calibri"/>
                <a:cs typeface="Calibri"/>
              </a:rPr>
              <a:t>TreeSet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possui </a:t>
            </a:r>
            <a:r>
              <a:rPr sz="1500" spc="-30" dirty="0">
                <a:latin typeface="Calibri"/>
                <a:cs typeface="Calibri"/>
              </a:rPr>
              <a:t>estes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30" dirty="0">
                <a:latin typeface="Calibri"/>
                <a:cs typeface="Calibri"/>
              </a:rPr>
              <a:t>métodos.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04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345437"/>
            <a:ext cx="8851900" cy="4231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13906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As</a:t>
            </a:r>
            <a:r>
              <a:rPr sz="2450" dirty="0">
                <a:latin typeface="Calibri"/>
                <a:cs typeface="Calibri"/>
              </a:rPr>
              <a:t> classes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HashSet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b="1" spc="-25" dirty="0">
                <a:latin typeface="Calibri"/>
                <a:cs typeface="Calibri"/>
              </a:rPr>
              <a:t>TreeSet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também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têm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métodos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para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realizar 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operações </a:t>
            </a:r>
            <a:r>
              <a:rPr sz="2450" spc="-10" dirty="0">
                <a:latin typeface="Calibri"/>
                <a:cs typeface="Calibri"/>
              </a:rPr>
              <a:t>matemáticas</a:t>
            </a:r>
            <a:r>
              <a:rPr sz="2450" spc="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com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conjuntos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como</a:t>
            </a:r>
            <a:r>
              <a:rPr sz="2450" spc="35" dirty="0">
                <a:latin typeface="Calibri"/>
                <a:cs typeface="Calibri"/>
              </a:rPr>
              <a:t> </a:t>
            </a:r>
            <a:r>
              <a:rPr sz="2450" b="1" spc="-5" dirty="0">
                <a:latin typeface="Calibri"/>
                <a:cs typeface="Calibri"/>
              </a:rPr>
              <a:t>união</a:t>
            </a:r>
            <a:r>
              <a:rPr sz="2450" spc="-5" dirty="0">
                <a:latin typeface="Calibri"/>
                <a:cs typeface="Calibri"/>
              </a:rPr>
              <a:t>, </a:t>
            </a:r>
            <a:r>
              <a:rPr sz="2450" b="1" spc="-10" dirty="0">
                <a:latin typeface="Calibri"/>
                <a:cs typeface="Calibri"/>
              </a:rPr>
              <a:t>intersecção</a:t>
            </a:r>
            <a:r>
              <a:rPr sz="2450" b="1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b="1" spc="-15" dirty="0">
                <a:latin typeface="Calibri"/>
                <a:cs typeface="Calibri"/>
              </a:rPr>
              <a:t>diferença</a:t>
            </a:r>
            <a:r>
              <a:rPr sz="2450" b="1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entre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conjuntos.</a:t>
            </a:r>
            <a:endParaRPr sz="2450" dirty="0">
              <a:latin typeface="Calibri"/>
              <a:cs typeface="Calibri"/>
            </a:endParaRPr>
          </a:p>
          <a:p>
            <a:pPr marL="821690" marR="15875" lvl="1" indent="-352425">
              <a:lnSpc>
                <a:spcPct val="100000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addAll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(união)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Junta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os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conjuntos,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descartando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repetidos</a:t>
            </a:r>
            <a:r>
              <a:rPr sz="2200" spc="-10" dirty="0">
                <a:latin typeface="Calibri"/>
                <a:cs typeface="Calibri"/>
              </a:rPr>
              <a:t>.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chama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método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é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alterado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passando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20" dirty="0">
                <a:latin typeface="Calibri"/>
                <a:cs typeface="Calibri"/>
              </a:rPr>
              <a:t>conter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dois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conjuntos.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42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&lt;nome_conjunto1&gt;.addAll(&lt;nome_conjunto2&gt;)</a:t>
            </a:r>
            <a:endParaRPr sz="2200" dirty="0">
              <a:latin typeface="Calibri"/>
              <a:cs typeface="Calibri"/>
            </a:endParaRPr>
          </a:p>
          <a:p>
            <a:pPr marL="821690" marR="5080" lvl="1" indent="-352425">
              <a:lnSpc>
                <a:spcPct val="100000"/>
              </a:lnSpc>
              <a:spcBef>
                <a:spcPts val="126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retainAll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(intersecção)</a:t>
            </a:r>
            <a:r>
              <a:rPr sz="2200" b="1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os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22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têm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comum.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chama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método</a:t>
            </a:r>
            <a:r>
              <a:rPr sz="22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é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alterado</a:t>
            </a:r>
            <a:r>
              <a:rPr sz="2200" spc="-15" dirty="0">
                <a:latin typeface="Calibri"/>
                <a:cs typeface="Calibri"/>
              </a:rPr>
              <a:t>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passando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apenas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em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comum.</a:t>
            </a:r>
            <a:endParaRPr sz="2200" dirty="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27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8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&lt;nome_conjunto1&gt;.retainAll(&lt;nome_conjunto2&gt;)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042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5" dirty="0"/>
              <a:t> </a:t>
            </a:r>
            <a:r>
              <a:rPr spc="-5" dirty="0"/>
              <a:t>e</a:t>
            </a:r>
            <a:r>
              <a:rPr spc="-3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348485"/>
            <a:ext cx="8728710" cy="35293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508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200" b="1" spc="-15" dirty="0">
                <a:latin typeface="Calibri"/>
                <a:cs typeface="Calibri"/>
              </a:rPr>
              <a:t>removeAll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(diferença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entre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conjuntos)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–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os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22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um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 não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estão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outro</a:t>
            </a:r>
            <a:r>
              <a:rPr sz="2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conjunto</a:t>
            </a:r>
            <a:r>
              <a:rPr sz="2200" spc="-15" dirty="0">
                <a:latin typeface="Calibri"/>
                <a:cs typeface="Calibri"/>
              </a:rPr>
              <a:t>.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chama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método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é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alterado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passando 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conter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apenas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não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estão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outro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conjunto.</a:t>
            </a:r>
            <a:endParaRPr sz="2200" dirty="0">
              <a:latin typeface="Calibri"/>
              <a:cs typeface="Calibri"/>
            </a:endParaRPr>
          </a:p>
          <a:p>
            <a:pPr marL="377825">
              <a:lnSpc>
                <a:spcPct val="100000"/>
              </a:lnSpc>
              <a:spcBef>
                <a:spcPts val="29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&lt;nome_conjunto1&gt;.removeAll(&lt;nome_conjunto2&gt;)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00" dirty="0">
              <a:latin typeface="Calibri"/>
              <a:cs typeface="Calibri"/>
            </a:endParaRPr>
          </a:p>
          <a:p>
            <a:pPr marL="364490" marR="239395" indent="-352425">
              <a:lnSpc>
                <a:spcPct val="100000"/>
              </a:lnSpc>
              <a:spcBef>
                <a:spcPts val="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200" b="1" spc="-10" dirty="0">
                <a:latin typeface="Calibri"/>
                <a:cs typeface="Calibri"/>
              </a:rPr>
              <a:t>containsAll: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Este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método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não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modifica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chama. Ele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0000"/>
                </a:solidFill>
                <a:latin typeface="Calibri"/>
                <a:cs typeface="Calibri"/>
              </a:rPr>
              <a:t>apenas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retorna</a:t>
            </a:r>
            <a:r>
              <a:rPr sz="2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conjunto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passado</a:t>
            </a:r>
            <a:r>
              <a:rPr sz="2200" spc="-15" dirty="0">
                <a:latin typeface="Calibri"/>
                <a:cs typeface="Calibri"/>
              </a:rPr>
              <a:t> como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argumento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está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contido</a:t>
            </a:r>
            <a:r>
              <a:rPr sz="22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libri"/>
                <a:cs typeface="Calibri"/>
              </a:rPr>
              <a:t>no </a:t>
            </a:r>
            <a:r>
              <a:rPr sz="2200" spc="-48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FF0000"/>
                </a:solidFill>
                <a:latin typeface="Calibri"/>
                <a:cs typeface="Calibri"/>
              </a:rPr>
              <a:t>conjunto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-5" dirty="0">
                <a:latin typeface="Calibri"/>
                <a:cs typeface="Calibri"/>
              </a:rPr>
              <a:t> chamou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método.</a:t>
            </a:r>
            <a:endParaRPr sz="2200" dirty="0">
              <a:latin typeface="Calibri"/>
              <a:cs typeface="Calibri"/>
            </a:endParaRPr>
          </a:p>
          <a:p>
            <a:pPr marL="374650">
              <a:lnSpc>
                <a:spcPct val="100000"/>
              </a:lnSpc>
              <a:spcBef>
                <a:spcPts val="119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&lt;nome_conjunto1&gt;.containsAll(&lt;nome_conjunto2&gt;)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3804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0" dirty="0"/>
              <a:t> </a:t>
            </a:r>
            <a:r>
              <a:rPr spc="-5" dirty="0"/>
              <a:t>e</a:t>
            </a:r>
            <a:r>
              <a:rPr spc="-2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205305"/>
            <a:ext cx="4257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15" dirty="0">
                <a:latin typeface="Calibri"/>
                <a:cs typeface="Calibri"/>
              </a:rPr>
              <a:t>Operação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 União –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Exemplo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08990" y="5428107"/>
            <a:ext cx="9093200" cy="799465"/>
            <a:chOff x="308990" y="5428107"/>
            <a:chExt cx="9093200" cy="7994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8515" y="5437632"/>
              <a:ext cx="9073896" cy="78028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13753" y="5432869"/>
              <a:ext cx="9083675" cy="789940"/>
            </a:xfrm>
            <a:custGeom>
              <a:avLst/>
              <a:gdLst/>
              <a:ahLst/>
              <a:cxnLst/>
              <a:rect l="l" t="t" r="r" b="b"/>
              <a:pathLst>
                <a:path w="9083675" h="789939">
                  <a:moveTo>
                    <a:pt x="0" y="789812"/>
                  </a:moveTo>
                  <a:lnTo>
                    <a:pt x="9083421" y="789812"/>
                  </a:lnTo>
                  <a:lnTo>
                    <a:pt x="9083421" y="0"/>
                  </a:lnTo>
                  <a:lnTo>
                    <a:pt x="0" y="0"/>
                  </a:lnTo>
                  <a:lnTo>
                    <a:pt x="0" y="7898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77545" y="1971611"/>
            <a:ext cx="9213850" cy="3120390"/>
            <a:chOff x="177545" y="1971611"/>
            <a:chExt cx="9213850" cy="312039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5" y="1981199"/>
              <a:ext cx="9070848" cy="31013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6133" y="1976373"/>
              <a:ext cx="9080500" cy="3110865"/>
            </a:xfrm>
            <a:custGeom>
              <a:avLst/>
              <a:gdLst/>
              <a:ahLst/>
              <a:cxnLst/>
              <a:rect l="l" t="t" r="r" b="b"/>
              <a:pathLst>
                <a:path w="9080500" h="3110865">
                  <a:moveTo>
                    <a:pt x="0" y="3110865"/>
                  </a:moveTo>
                  <a:lnTo>
                    <a:pt x="9080373" y="3110865"/>
                  </a:lnTo>
                  <a:lnTo>
                    <a:pt x="9080373" y="0"/>
                  </a:lnTo>
                  <a:lnTo>
                    <a:pt x="0" y="0"/>
                  </a:lnTo>
                  <a:lnTo>
                    <a:pt x="0" y="311086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77545" y="4357643"/>
              <a:ext cx="611505" cy="171450"/>
            </a:xfrm>
            <a:custGeom>
              <a:avLst/>
              <a:gdLst/>
              <a:ahLst/>
              <a:cxnLst/>
              <a:rect l="l" t="t" r="r" b="b"/>
              <a:pathLst>
                <a:path w="611505" h="171450">
                  <a:moveTo>
                    <a:pt x="535564" y="85578"/>
                  </a:moveTo>
                  <a:lnTo>
                    <a:pt x="449567" y="135743"/>
                  </a:lnTo>
                  <a:lnTo>
                    <a:pt x="443920" y="140795"/>
                  </a:lnTo>
                  <a:lnTo>
                    <a:pt x="440747" y="147395"/>
                  </a:lnTo>
                  <a:lnTo>
                    <a:pt x="440269" y="154709"/>
                  </a:lnTo>
                  <a:lnTo>
                    <a:pt x="442709" y="161905"/>
                  </a:lnTo>
                  <a:lnTo>
                    <a:pt x="447742" y="167513"/>
                  </a:lnTo>
                  <a:lnTo>
                    <a:pt x="454320" y="170668"/>
                  </a:lnTo>
                  <a:lnTo>
                    <a:pt x="461608" y="171156"/>
                  </a:lnTo>
                  <a:lnTo>
                    <a:pt x="468769" y="168763"/>
                  </a:lnTo>
                  <a:lnTo>
                    <a:pt x="578641" y="104628"/>
                  </a:lnTo>
                  <a:lnTo>
                    <a:pt x="573468" y="104628"/>
                  </a:lnTo>
                  <a:lnTo>
                    <a:pt x="573468" y="102088"/>
                  </a:lnTo>
                  <a:lnTo>
                    <a:pt x="563867" y="102088"/>
                  </a:lnTo>
                  <a:lnTo>
                    <a:pt x="535564" y="85578"/>
                  </a:lnTo>
                  <a:close/>
                </a:path>
                <a:path w="611505" h="171450">
                  <a:moveTo>
                    <a:pt x="502907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02907" y="104628"/>
                  </a:lnTo>
                  <a:lnTo>
                    <a:pt x="535564" y="85578"/>
                  </a:lnTo>
                  <a:lnTo>
                    <a:pt x="502907" y="66528"/>
                  </a:lnTo>
                  <a:close/>
                </a:path>
                <a:path w="611505" h="171450">
                  <a:moveTo>
                    <a:pt x="578641" y="66528"/>
                  </a:moveTo>
                  <a:lnTo>
                    <a:pt x="573468" y="66528"/>
                  </a:lnTo>
                  <a:lnTo>
                    <a:pt x="573468" y="104628"/>
                  </a:lnTo>
                  <a:lnTo>
                    <a:pt x="578641" y="104628"/>
                  </a:lnTo>
                  <a:lnTo>
                    <a:pt x="611276" y="85578"/>
                  </a:lnTo>
                  <a:lnTo>
                    <a:pt x="578641" y="66528"/>
                  </a:lnTo>
                  <a:close/>
                </a:path>
                <a:path w="611505" h="171450">
                  <a:moveTo>
                    <a:pt x="563867" y="69068"/>
                  </a:moveTo>
                  <a:lnTo>
                    <a:pt x="535564" y="85578"/>
                  </a:lnTo>
                  <a:lnTo>
                    <a:pt x="563867" y="102088"/>
                  </a:lnTo>
                  <a:lnTo>
                    <a:pt x="563867" y="69068"/>
                  </a:lnTo>
                  <a:close/>
                </a:path>
                <a:path w="611505" h="171450">
                  <a:moveTo>
                    <a:pt x="573468" y="69068"/>
                  </a:moveTo>
                  <a:lnTo>
                    <a:pt x="563867" y="69068"/>
                  </a:lnTo>
                  <a:lnTo>
                    <a:pt x="563867" y="102088"/>
                  </a:lnTo>
                  <a:lnTo>
                    <a:pt x="573468" y="102088"/>
                  </a:lnTo>
                  <a:lnTo>
                    <a:pt x="573468" y="69068"/>
                  </a:lnTo>
                  <a:close/>
                </a:path>
                <a:path w="611505" h="171450">
                  <a:moveTo>
                    <a:pt x="461608" y="0"/>
                  </a:moveTo>
                  <a:lnTo>
                    <a:pt x="454320" y="488"/>
                  </a:lnTo>
                  <a:lnTo>
                    <a:pt x="447742" y="3643"/>
                  </a:lnTo>
                  <a:lnTo>
                    <a:pt x="442709" y="9251"/>
                  </a:lnTo>
                  <a:lnTo>
                    <a:pt x="440269" y="16446"/>
                  </a:lnTo>
                  <a:lnTo>
                    <a:pt x="440747" y="23760"/>
                  </a:lnTo>
                  <a:lnTo>
                    <a:pt x="443920" y="30360"/>
                  </a:lnTo>
                  <a:lnTo>
                    <a:pt x="449567" y="35413"/>
                  </a:lnTo>
                  <a:lnTo>
                    <a:pt x="535564" y="85578"/>
                  </a:lnTo>
                  <a:lnTo>
                    <a:pt x="563867" y="69068"/>
                  </a:lnTo>
                  <a:lnTo>
                    <a:pt x="573468" y="69068"/>
                  </a:lnTo>
                  <a:lnTo>
                    <a:pt x="573468" y="66528"/>
                  </a:lnTo>
                  <a:lnTo>
                    <a:pt x="578641" y="66528"/>
                  </a:lnTo>
                  <a:lnTo>
                    <a:pt x="468769" y="2393"/>
                  </a:lnTo>
                  <a:lnTo>
                    <a:pt x="4616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970" y="1970087"/>
            <a:ext cx="9247505" cy="3115945"/>
            <a:chOff x="140970" y="1970087"/>
            <a:chExt cx="9247505" cy="3115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324" y="1979675"/>
              <a:ext cx="9072372" cy="309676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01561" y="1974850"/>
              <a:ext cx="9082405" cy="3106420"/>
            </a:xfrm>
            <a:custGeom>
              <a:avLst/>
              <a:gdLst/>
              <a:ahLst/>
              <a:cxnLst/>
              <a:rect l="l" t="t" r="r" b="b"/>
              <a:pathLst>
                <a:path w="9082405" h="3106420">
                  <a:moveTo>
                    <a:pt x="0" y="3106293"/>
                  </a:moveTo>
                  <a:lnTo>
                    <a:pt x="9081897" y="3106293"/>
                  </a:lnTo>
                  <a:lnTo>
                    <a:pt x="9081897" y="0"/>
                  </a:lnTo>
                  <a:lnTo>
                    <a:pt x="0" y="0"/>
                  </a:lnTo>
                  <a:lnTo>
                    <a:pt x="0" y="31062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0970" y="4371359"/>
              <a:ext cx="613410" cy="171450"/>
            </a:xfrm>
            <a:custGeom>
              <a:avLst/>
              <a:gdLst/>
              <a:ahLst/>
              <a:cxnLst/>
              <a:rect l="l" t="t" r="r" b="b"/>
              <a:pathLst>
                <a:path w="613410" h="171450">
                  <a:moveTo>
                    <a:pt x="537151" y="85578"/>
                  </a:moveTo>
                  <a:lnTo>
                    <a:pt x="451154" y="135743"/>
                  </a:lnTo>
                  <a:lnTo>
                    <a:pt x="445507" y="140795"/>
                  </a:lnTo>
                  <a:lnTo>
                    <a:pt x="442334" y="147395"/>
                  </a:lnTo>
                  <a:lnTo>
                    <a:pt x="441857" y="154709"/>
                  </a:lnTo>
                  <a:lnTo>
                    <a:pt x="444296" y="161905"/>
                  </a:lnTo>
                  <a:lnTo>
                    <a:pt x="449329" y="167512"/>
                  </a:lnTo>
                  <a:lnTo>
                    <a:pt x="455907" y="170668"/>
                  </a:lnTo>
                  <a:lnTo>
                    <a:pt x="463195" y="171156"/>
                  </a:lnTo>
                  <a:lnTo>
                    <a:pt x="470357" y="168763"/>
                  </a:lnTo>
                  <a:lnTo>
                    <a:pt x="580228" y="104628"/>
                  </a:lnTo>
                  <a:lnTo>
                    <a:pt x="575056" y="104628"/>
                  </a:lnTo>
                  <a:lnTo>
                    <a:pt x="575056" y="102088"/>
                  </a:lnTo>
                  <a:lnTo>
                    <a:pt x="565454" y="102088"/>
                  </a:lnTo>
                  <a:lnTo>
                    <a:pt x="537151" y="85578"/>
                  </a:lnTo>
                  <a:close/>
                </a:path>
                <a:path w="613410" h="171450">
                  <a:moveTo>
                    <a:pt x="504494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04494" y="104628"/>
                  </a:lnTo>
                  <a:lnTo>
                    <a:pt x="537151" y="85578"/>
                  </a:lnTo>
                  <a:lnTo>
                    <a:pt x="504494" y="66528"/>
                  </a:lnTo>
                  <a:close/>
                </a:path>
                <a:path w="613410" h="171450">
                  <a:moveTo>
                    <a:pt x="580228" y="66528"/>
                  </a:moveTo>
                  <a:lnTo>
                    <a:pt x="575056" y="66528"/>
                  </a:lnTo>
                  <a:lnTo>
                    <a:pt x="575056" y="104628"/>
                  </a:lnTo>
                  <a:lnTo>
                    <a:pt x="580228" y="104628"/>
                  </a:lnTo>
                  <a:lnTo>
                    <a:pt x="612863" y="85578"/>
                  </a:lnTo>
                  <a:lnTo>
                    <a:pt x="580228" y="66528"/>
                  </a:lnTo>
                  <a:close/>
                </a:path>
                <a:path w="613410" h="171450">
                  <a:moveTo>
                    <a:pt x="565454" y="69068"/>
                  </a:moveTo>
                  <a:lnTo>
                    <a:pt x="537151" y="85578"/>
                  </a:lnTo>
                  <a:lnTo>
                    <a:pt x="565454" y="102088"/>
                  </a:lnTo>
                  <a:lnTo>
                    <a:pt x="565454" y="69068"/>
                  </a:lnTo>
                  <a:close/>
                </a:path>
                <a:path w="613410" h="171450">
                  <a:moveTo>
                    <a:pt x="575056" y="69068"/>
                  </a:moveTo>
                  <a:lnTo>
                    <a:pt x="565454" y="69068"/>
                  </a:lnTo>
                  <a:lnTo>
                    <a:pt x="565454" y="102088"/>
                  </a:lnTo>
                  <a:lnTo>
                    <a:pt x="575056" y="102088"/>
                  </a:lnTo>
                  <a:lnTo>
                    <a:pt x="575056" y="69068"/>
                  </a:lnTo>
                  <a:close/>
                </a:path>
                <a:path w="613410" h="171450">
                  <a:moveTo>
                    <a:pt x="463195" y="0"/>
                  </a:moveTo>
                  <a:lnTo>
                    <a:pt x="455907" y="488"/>
                  </a:lnTo>
                  <a:lnTo>
                    <a:pt x="449329" y="3643"/>
                  </a:lnTo>
                  <a:lnTo>
                    <a:pt x="444296" y="9251"/>
                  </a:lnTo>
                  <a:lnTo>
                    <a:pt x="441857" y="16446"/>
                  </a:lnTo>
                  <a:lnTo>
                    <a:pt x="442334" y="23760"/>
                  </a:lnTo>
                  <a:lnTo>
                    <a:pt x="445507" y="30360"/>
                  </a:lnTo>
                  <a:lnTo>
                    <a:pt x="451154" y="35413"/>
                  </a:lnTo>
                  <a:lnTo>
                    <a:pt x="537151" y="85578"/>
                  </a:lnTo>
                  <a:lnTo>
                    <a:pt x="565454" y="69068"/>
                  </a:lnTo>
                  <a:lnTo>
                    <a:pt x="575056" y="69068"/>
                  </a:lnTo>
                  <a:lnTo>
                    <a:pt x="575056" y="66528"/>
                  </a:lnTo>
                  <a:lnTo>
                    <a:pt x="580228" y="66528"/>
                  </a:lnTo>
                  <a:lnTo>
                    <a:pt x="470357" y="2393"/>
                  </a:lnTo>
                  <a:lnTo>
                    <a:pt x="46319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3804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0" dirty="0"/>
              <a:t> </a:t>
            </a:r>
            <a:r>
              <a:rPr spc="-5" dirty="0"/>
              <a:t>e</a:t>
            </a:r>
            <a:r>
              <a:rPr spc="-2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1964" y="1205305"/>
            <a:ext cx="49752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15" dirty="0">
                <a:latin typeface="Calibri"/>
                <a:cs typeface="Calibri"/>
              </a:rPr>
              <a:t>Operação</a:t>
            </a:r>
            <a:r>
              <a:rPr sz="2500" spc="-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 </a:t>
            </a:r>
            <a:r>
              <a:rPr sz="2500" spc="-15" dirty="0">
                <a:latin typeface="Calibri"/>
                <a:cs typeface="Calibri"/>
              </a:rPr>
              <a:t>Intersecção</a:t>
            </a:r>
            <a:r>
              <a:rPr sz="2500" spc="4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– </a:t>
            </a:r>
            <a:r>
              <a:rPr sz="2500" spc="-15" dirty="0">
                <a:latin typeface="Calibri"/>
                <a:cs typeface="Calibri"/>
              </a:rPr>
              <a:t>Exemplo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81822" y="5454014"/>
            <a:ext cx="5973445" cy="811530"/>
            <a:chOff x="1881822" y="5454014"/>
            <a:chExt cx="5973445" cy="81153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1284" y="5463539"/>
              <a:ext cx="5954268" cy="7924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86585" y="5458777"/>
              <a:ext cx="5963920" cy="802005"/>
            </a:xfrm>
            <a:custGeom>
              <a:avLst/>
              <a:gdLst/>
              <a:ahLst/>
              <a:cxnLst/>
              <a:rect l="l" t="t" r="r" b="b"/>
              <a:pathLst>
                <a:path w="5963920" h="802004">
                  <a:moveTo>
                    <a:pt x="0" y="802005"/>
                  </a:moveTo>
                  <a:lnTo>
                    <a:pt x="5963793" y="802005"/>
                  </a:lnTo>
                  <a:lnTo>
                    <a:pt x="5963793" y="0"/>
                  </a:lnTo>
                  <a:lnTo>
                    <a:pt x="0" y="0"/>
                  </a:lnTo>
                  <a:lnTo>
                    <a:pt x="0" y="8020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3804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0" dirty="0"/>
              <a:t> </a:t>
            </a:r>
            <a:r>
              <a:rPr spc="-5" dirty="0"/>
              <a:t>e</a:t>
            </a:r>
            <a:r>
              <a:rPr spc="-2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215390"/>
            <a:ext cx="686879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15" dirty="0">
                <a:latin typeface="Calibri"/>
                <a:cs typeface="Calibri"/>
              </a:rPr>
              <a:t>Operação</a:t>
            </a:r>
            <a:r>
              <a:rPr sz="2500" spc="10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Diferença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entre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Conjuntos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–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Exemplo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94014" y="5458586"/>
            <a:ext cx="5885180" cy="810260"/>
            <a:chOff x="1894014" y="5458586"/>
            <a:chExt cx="5885180" cy="8102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03475" y="5468111"/>
              <a:ext cx="5865876" cy="7909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98776" y="5463349"/>
              <a:ext cx="5875655" cy="800735"/>
            </a:xfrm>
            <a:custGeom>
              <a:avLst/>
              <a:gdLst/>
              <a:ahLst/>
              <a:cxnLst/>
              <a:rect l="l" t="t" r="r" b="b"/>
              <a:pathLst>
                <a:path w="5875655" h="800735">
                  <a:moveTo>
                    <a:pt x="0" y="800481"/>
                  </a:moveTo>
                  <a:lnTo>
                    <a:pt x="5875401" y="800481"/>
                  </a:lnTo>
                  <a:lnTo>
                    <a:pt x="5875401" y="0"/>
                  </a:lnTo>
                  <a:lnTo>
                    <a:pt x="0" y="0"/>
                  </a:lnTo>
                  <a:lnTo>
                    <a:pt x="0" y="80048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42494" y="1970087"/>
            <a:ext cx="9246235" cy="3122295"/>
            <a:chOff x="142494" y="1970087"/>
            <a:chExt cx="9246235" cy="31222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23" y="1979675"/>
              <a:ext cx="9072372" cy="31028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01561" y="1974850"/>
              <a:ext cx="9082405" cy="3112770"/>
            </a:xfrm>
            <a:custGeom>
              <a:avLst/>
              <a:gdLst/>
              <a:ahLst/>
              <a:cxnLst/>
              <a:rect l="l" t="t" r="r" b="b"/>
              <a:pathLst>
                <a:path w="9082405" h="3112770">
                  <a:moveTo>
                    <a:pt x="0" y="3112389"/>
                  </a:moveTo>
                  <a:lnTo>
                    <a:pt x="9081897" y="3112389"/>
                  </a:lnTo>
                  <a:lnTo>
                    <a:pt x="9081897" y="0"/>
                  </a:lnTo>
                  <a:lnTo>
                    <a:pt x="0" y="0"/>
                  </a:lnTo>
                  <a:lnTo>
                    <a:pt x="0" y="311238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2494" y="4371359"/>
              <a:ext cx="611505" cy="171450"/>
            </a:xfrm>
            <a:custGeom>
              <a:avLst/>
              <a:gdLst/>
              <a:ahLst/>
              <a:cxnLst/>
              <a:rect l="l" t="t" r="r" b="b"/>
              <a:pathLst>
                <a:path w="611505" h="171450">
                  <a:moveTo>
                    <a:pt x="535564" y="85578"/>
                  </a:moveTo>
                  <a:lnTo>
                    <a:pt x="449567" y="135743"/>
                  </a:lnTo>
                  <a:lnTo>
                    <a:pt x="443920" y="140795"/>
                  </a:lnTo>
                  <a:lnTo>
                    <a:pt x="440747" y="147395"/>
                  </a:lnTo>
                  <a:lnTo>
                    <a:pt x="440269" y="154709"/>
                  </a:lnTo>
                  <a:lnTo>
                    <a:pt x="442709" y="161905"/>
                  </a:lnTo>
                  <a:lnTo>
                    <a:pt x="447742" y="167512"/>
                  </a:lnTo>
                  <a:lnTo>
                    <a:pt x="454320" y="170668"/>
                  </a:lnTo>
                  <a:lnTo>
                    <a:pt x="461608" y="171156"/>
                  </a:lnTo>
                  <a:lnTo>
                    <a:pt x="468769" y="168763"/>
                  </a:lnTo>
                  <a:lnTo>
                    <a:pt x="578641" y="104628"/>
                  </a:lnTo>
                  <a:lnTo>
                    <a:pt x="573468" y="104628"/>
                  </a:lnTo>
                  <a:lnTo>
                    <a:pt x="573468" y="102088"/>
                  </a:lnTo>
                  <a:lnTo>
                    <a:pt x="563867" y="102088"/>
                  </a:lnTo>
                  <a:lnTo>
                    <a:pt x="535564" y="85578"/>
                  </a:lnTo>
                  <a:close/>
                </a:path>
                <a:path w="611505" h="171450">
                  <a:moveTo>
                    <a:pt x="502907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02907" y="104628"/>
                  </a:lnTo>
                  <a:lnTo>
                    <a:pt x="535564" y="85578"/>
                  </a:lnTo>
                  <a:lnTo>
                    <a:pt x="502907" y="66528"/>
                  </a:lnTo>
                  <a:close/>
                </a:path>
                <a:path w="611505" h="171450">
                  <a:moveTo>
                    <a:pt x="578641" y="66528"/>
                  </a:moveTo>
                  <a:lnTo>
                    <a:pt x="573468" y="66528"/>
                  </a:lnTo>
                  <a:lnTo>
                    <a:pt x="573468" y="104628"/>
                  </a:lnTo>
                  <a:lnTo>
                    <a:pt x="578641" y="104628"/>
                  </a:lnTo>
                  <a:lnTo>
                    <a:pt x="611276" y="85578"/>
                  </a:lnTo>
                  <a:lnTo>
                    <a:pt x="578641" y="66528"/>
                  </a:lnTo>
                  <a:close/>
                </a:path>
                <a:path w="611505" h="171450">
                  <a:moveTo>
                    <a:pt x="563867" y="69068"/>
                  </a:moveTo>
                  <a:lnTo>
                    <a:pt x="535564" y="85578"/>
                  </a:lnTo>
                  <a:lnTo>
                    <a:pt x="563867" y="102088"/>
                  </a:lnTo>
                  <a:lnTo>
                    <a:pt x="563867" y="69068"/>
                  </a:lnTo>
                  <a:close/>
                </a:path>
                <a:path w="611505" h="171450">
                  <a:moveTo>
                    <a:pt x="573468" y="69068"/>
                  </a:moveTo>
                  <a:lnTo>
                    <a:pt x="563867" y="69068"/>
                  </a:lnTo>
                  <a:lnTo>
                    <a:pt x="563867" y="102088"/>
                  </a:lnTo>
                  <a:lnTo>
                    <a:pt x="573468" y="102088"/>
                  </a:lnTo>
                  <a:lnTo>
                    <a:pt x="573468" y="69068"/>
                  </a:lnTo>
                  <a:close/>
                </a:path>
                <a:path w="611505" h="171450">
                  <a:moveTo>
                    <a:pt x="461608" y="0"/>
                  </a:moveTo>
                  <a:lnTo>
                    <a:pt x="454320" y="488"/>
                  </a:lnTo>
                  <a:lnTo>
                    <a:pt x="447742" y="3643"/>
                  </a:lnTo>
                  <a:lnTo>
                    <a:pt x="442709" y="9251"/>
                  </a:lnTo>
                  <a:lnTo>
                    <a:pt x="440269" y="16446"/>
                  </a:lnTo>
                  <a:lnTo>
                    <a:pt x="440747" y="23760"/>
                  </a:lnTo>
                  <a:lnTo>
                    <a:pt x="443920" y="30360"/>
                  </a:lnTo>
                  <a:lnTo>
                    <a:pt x="449567" y="35413"/>
                  </a:lnTo>
                  <a:lnTo>
                    <a:pt x="535564" y="85578"/>
                  </a:lnTo>
                  <a:lnTo>
                    <a:pt x="563867" y="69068"/>
                  </a:lnTo>
                  <a:lnTo>
                    <a:pt x="573468" y="69068"/>
                  </a:lnTo>
                  <a:lnTo>
                    <a:pt x="573468" y="66528"/>
                  </a:lnTo>
                  <a:lnTo>
                    <a:pt x="578641" y="66528"/>
                  </a:lnTo>
                  <a:lnTo>
                    <a:pt x="468769" y="2393"/>
                  </a:lnTo>
                  <a:lnTo>
                    <a:pt x="4616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3642" y="2114867"/>
            <a:ext cx="9220200" cy="2922270"/>
            <a:chOff x="183642" y="2114867"/>
            <a:chExt cx="9220200" cy="2922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039" y="2124455"/>
              <a:ext cx="9073896" cy="290321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15277" y="2119629"/>
              <a:ext cx="9083675" cy="2912745"/>
            </a:xfrm>
            <a:custGeom>
              <a:avLst/>
              <a:gdLst/>
              <a:ahLst/>
              <a:cxnLst/>
              <a:rect l="l" t="t" r="r" b="b"/>
              <a:pathLst>
                <a:path w="9083675" h="2912745">
                  <a:moveTo>
                    <a:pt x="0" y="2912744"/>
                  </a:moveTo>
                  <a:lnTo>
                    <a:pt x="9083421" y="2912744"/>
                  </a:lnTo>
                  <a:lnTo>
                    <a:pt x="9083421" y="0"/>
                  </a:lnTo>
                  <a:lnTo>
                    <a:pt x="0" y="0"/>
                  </a:lnTo>
                  <a:lnTo>
                    <a:pt x="0" y="291274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3642" y="4298207"/>
              <a:ext cx="611505" cy="171450"/>
            </a:xfrm>
            <a:custGeom>
              <a:avLst/>
              <a:gdLst/>
              <a:ahLst/>
              <a:cxnLst/>
              <a:rect l="l" t="t" r="r" b="b"/>
              <a:pathLst>
                <a:path w="611505" h="171450">
                  <a:moveTo>
                    <a:pt x="535564" y="85578"/>
                  </a:moveTo>
                  <a:lnTo>
                    <a:pt x="449567" y="135743"/>
                  </a:lnTo>
                  <a:lnTo>
                    <a:pt x="443920" y="140795"/>
                  </a:lnTo>
                  <a:lnTo>
                    <a:pt x="440747" y="147395"/>
                  </a:lnTo>
                  <a:lnTo>
                    <a:pt x="440269" y="154709"/>
                  </a:lnTo>
                  <a:lnTo>
                    <a:pt x="442709" y="161905"/>
                  </a:lnTo>
                  <a:lnTo>
                    <a:pt x="447742" y="167513"/>
                  </a:lnTo>
                  <a:lnTo>
                    <a:pt x="454320" y="170668"/>
                  </a:lnTo>
                  <a:lnTo>
                    <a:pt x="461608" y="171156"/>
                  </a:lnTo>
                  <a:lnTo>
                    <a:pt x="468769" y="168763"/>
                  </a:lnTo>
                  <a:lnTo>
                    <a:pt x="578641" y="104628"/>
                  </a:lnTo>
                  <a:lnTo>
                    <a:pt x="573468" y="104628"/>
                  </a:lnTo>
                  <a:lnTo>
                    <a:pt x="573468" y="102088"/>
                  </a:lnTo>
                  <a:lnTo>
                    <a:pt x="563867" y="102088"/>
                  </a:lnTo>
                  <a:lnTo>
                    <a:pt x="535564" y="85578"/>
                  </a:lnTo>
                  <a:close/>
                </a:path>
                <a:path w="611505" h="171450">
                  <a:moveTo>
                    <a:pt x="502907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02907" y="104628"/>
                  </a:lnTo>
                  <a:lnTo>
                    <a:pt x="535564" y="85578"/>
                  </a:lnTo>
                  <a:lnTo>
                    <a:pt x="502907" y="66528"/>
                  </a:lnTo>
                  <a:close/>
                </a:path>
                <a:path w="611505" h="171450">
                  <a:moveTo>
                    <a:pt x="578641" y="66528"/>
                  </a:moveTo>
                  <a:lnTo>
                    <a:pt x="573468" y="66528"/>
                  </a:lnTo>
                  <a:lnTo>
                    <a:pt x="573468" y="104628"/>
                  </a:lnTo>
                  <a:lnTo>
                    <a:pt x="578641" y="104628"/>
                  </a:lnTo>
                  <a:lnTo>
                    <a:pt x="611276" y="85578"/>
                  </a:lnTo>
                  <a:lnTo>
                    <a:pt x="578641" y="66528"/>
                  </a:lnTo>
                  <a:close/>
                </a:path>
                <a:path w="611505" h="171450">
                  <a:moveTo>
                    <a:pt x="563867" y="69068"/>
                  </a:moveTo>
                  <a:lnTo>
                    <a:pt x="535564" y="85578"/>
                  </a:lnTo>
                  <a:lnTo>
                    <a:pt x="563867" y="102088"/>
                  </a:lnTo>
                  <a:lnTo>
                    <a:pt x="563867" y="69068"/>
                  </a:lnTo>
                  <a:close/>
                </a:path>
                <a:path w="611505" h="171450">
                  <a:moveTo>
                    <a:pt x="573468" y="69068"/>
                  </a:moveTo>
                  <a:lnTo>
                    <a:pt x="563867" y="69068"/>
                  </a:lnTo>
                  <a:lnTo>
                    <a:pt x="563867" y="102088"/>
                  </a:lnTo>
                  <a:lnTo>
                    <a:pt x="573468" y="102088"/>
                  </a:lnTo>
                  <a:lnTo>
                    <a:pt x="573468" y="69068"/>
                  </a:lnTo>
                  <a:close/>
                </a:path>
                <a:path w="611505" h="171450">
                  <a:moveTo>
                    <a:pt x="461608" y="0"/>
                  </a:moveTo>
                  <a:lnTo>
                    <a:pt x="454320" y="488"/>
                  </a:lnTo>
                  <a:lnTo>
                    <a:pt x="447742" y="3643"/>
                  </a:lnTo>
                  <a:lnTo>
                    <a:pt x="442709" y="9251"/>
                  </a:lnTo>
                  <a:lnTo>
                    <a:pt x="440269" y="16446"/>
                  </a:lnTo>
                  <a:lnTo>
                    <a:pt x="440747" y="23760"/>
                  </a:lnTo>
                  <a:lnTo>
                    <a:pt x="443920" y="30360"/>
                  </a:lnTo>
                  <a:lnTo>
                    <a:pt x="449567" y="35413"/>
                  </a:lnTo>
                  <a:lnTo>
                    <a:pt x="535564" y="85578"/>
                  </a:lnTo>
                  <a:lnTo>
                    <a:pt x="563867" y="69068"/>
                  </a:lnTo>
                  <a:lnTo>
                    <a:pt x="573468" y="69068"/>
                  </a:lnTo>
                  <a:lnTo>
                    <a:pt x="573468" y="66528"/>
                  </a:lnTo>
                  <a:lnTo>
                    <a:pt x="578641" y="66528"/>
                  </a:lnTo>
                  <a:lnTo>
                    <a:pt x="468769" y="2393"/>
                  </a:lnTo>
                  <a:lnTo>
                    <a:pt x="461608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3804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HashSet</a:t>
            </a:r>
            <a:r>
              <a:rPr spc="-20" dirty="0"/>
              <a:t> </a:t>
            </a:r>
            <a:r>
              <a:rPr spc="-5" dirty="0"/>
              <a:t>e</a:t>
            </a:r>
            <a:r>
              <a:rPr spc="-25" dirty="0"/>
              <a:t> </a:t>
            </a:r>
            <a:r>
              <a:rPr spc="-45" dirty="0"/>
              <a:t>TreeSet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1964" y="1219961"/>
            <a:ext cx="54089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20" dirty="0">
                <a:latin typeface="Calibri"/>
                <a:cs typeface="Calibri"/>
              </a:rPr>
              <a:t>Verificação</a:t>
            </a:r>
            <a:r>
              <a:rPr sz="2500" spc="1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de</a:t>
            </a:r>
            <a:r>
              <a:rPr sz="2500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Subconjuntos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5" dirty="0">
                <a:latin typeface="Calibri"/>
                <a:cs typeface="Calibri"/>
              </a:rPr>
              <a:t>–</a:t>
            </a:r>
            <a:r>
              <a:rPr sz="2500" spc="5" dirty="0">
                <a:latin typeface="Calibri"/>
                <a:cs typeface="Calibri"/>
              </a:rPr>
              <a:t> </a:t>
            </a:r>
            <a:r>
              <a:rPr sz="2500" spc="-15" dirty="0">
                <a:latin typeface="Calibri"/>
                <a:cs typeface="Calibri"/>
              </a:rPr>
              <a:t>Exemplo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4742" y="5428107"/>
            <a:ext cx="4822825" cy="808990"/>
            <a:chOff x="2384742" y="5428107"/>
            <a:chExt cx="4822825" cy="80899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4203" y="5437632"/>
              <a:ext cx="4803648" cy="7894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89504" y="5432869"/>
              <a:ext cx="4813300" cy="799465"/>
            </a:xfrm>
            <a:custGeom>
              <a:avLst/>
              <a:gdLst/>
              <a:ahLst/>
              <a:cxnLst/>
              <a:rect l="l" t="t" r="r" b="b"/>
              <a:pathLst>
                <a:path w="4813300" h="799464">
                  <a:moveTo>
                    <a:pt x="0" y="798956"/>
                  </a:moveTo>
                  <a:lnTo>
                    <a:pt x="4813173" y="798956"/>
                  </a:lnTo>
                  <a:lnTo>
                    <a:pt x="4813173" y="0"/>
                  </a:lnTo>
                  <a:lnTo>
                    <a:pt x="0" y="0"/>
                  </a:lnTo>
                  <a:lnTo>
                    <a:pt x="0" y="79895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811260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4490" marR="442595" indent="-352425">
              <a:lnSpc>
                <a:spcPct val="100000"/>
              </a:lnSpc>
              <a:spcBef>
                <a:spcPts val="9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Mapas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 </a:t>
            </a:r>
            <a:r>
              <a:rPr sz="2450" spc="-10" dirty="0">
                <a:latin typeface="Calibri"/>
                <a:cs typeface="Calibri"/>
              </a:rPr>
              <a:t>objetos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são</a:t>
            </a:r>
            <a:r>
              <a:rPr sz="2450" spc="-10" dirty="0">
                <a:latin typeface="Calibri"/>
                <a:cs typeface="Calibri"/>
              </a:rPr>
              <a:t> similiares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às </a:t>
            </a:r>
            <a:r>
              <a:rPr sz="2450" spc="-10" dirty="0">
                <a:latin typeface="Calibri"/>
                <a:cs typeface="Calibri"/>
              </a:rPr>
              <a:t>listas</a:t>
            </a:r>
            <a:r>
              <a:rPr sz="2450" spc="-5" dirty="0">
                <a:latin typeface="Calibri"/>
                <a:cs typeface="Calibri"/>
              </a:rPr>
              <a:t> 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objetos,</a:t>
            </a:r>
            <a:r>
              <a:rPr sz="2450" spc="-15" dirty="0">
                <a:latin typeface="Calibri"/>
                <a:cs typeface="Calibri"/>
              </a:rPr>
              <a:t> com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a 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20" dirty="0">
                <a:latin typeface="Calibri"/>
                <a:cs typeface="Calibri"/>
              </a:rPr>
              <a:t>diferença</a:t>
            </a:r>
            <a:r>
              <a:rPr sz="2450" spc="3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que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suas</a:t>
            </a:r>
            <a:r>
              <a:rPr sz="2450" spc="2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posições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não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precisam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ser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representadas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por</a:t>
            </a:r>
            <a:r>
              <a:rPr sz="2450" spc="-2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números</a:t>
            </a:r>
            <a:r>
              <a:rPr sz="2450" spc="-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inteiros.</a:t>
            </a:r>
            <a:endParaRPr sz="2450" dirty="0">
              <a:latin typeface="Calibri"/>
              <a:cs typeface="Calibri"/>
            </a:endParaRPr>
          </a:p>
          <a:p>
            <a:pPr marL="364490" marR="5080" indent="-352425">
              <a:lnSpc>
                <a:spcPct val="100000"/>
              </a:lnSpc>
              <a:spcBef>
                <a:spcPts val="1505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Cada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elemento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10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 mapa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é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representado</a:t>
            </a:r>
            <a:r>
              <a:rPr sz="2450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por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um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par</a:t>
            </a:r>
            <a:r>
              <a:rPr sz="2450" spc="-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0" dirty="0">
                <a:latin typeface="Calibri"/>
                <a:cs typeface="Calibri"/>
              </a:rPr>
              <a:t>objetos </a:t>
            </a:r>
            <a:r>
              <a:rPr sz="2450" spc="-53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denominados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b="1" spc="-20" dirty="0">
                <a:solidFill>
                  <a:srgbClr val="FF0000"/>
                </a:solidFill>
                <a:latin typeface="Calibri"/>
                <a:cs typeface="Calibri"/>
              </a:rPr>
              <a:t>chave</a:t>
            </a:r>
            <a:r>
              <a:rPr sz="2450" b="1" spc="15" dirty="0">
                <a:latin typeface="Calibri"/>
                <a:cs typeface="Calibri"/>
              </a:rPr>
              <a:t> </a:t>
            </a:r>
            <a:r>
              <a:rPr sz="2450" spc="-5" dirty="0">
                <a:latin typeface="Calibri"/>
                <a:cs typeface="Calibri"/>
              </a:rPr>
              <a:t>e</a:t>
            </a:r>
            <a:r>
              <a:rPr sz="2450" dirty="0">
                <a:latin typeface="Calibri"/>
                <a:cs typeface="Calibri"/>
              </a:rPr>
              <a:t> </a:t>
            </a:r>
            <a:r>
              <a:rPr sz="2450" b="1" spc="-5" dirty="0">
                <a:solidFill>
                  <a:srgbClr val="FF0000"/>
                </a:solidFill>
                <a:latin typeface="Calibri"/>
                <a:cs typeface="Calibri"/>
              </a:rPr>
              <a:t>valor</a:t>
            </a:r>
            <a:r>
              <a:rPr sz="2450" spc="-5" dirty="0">
                <a:latin typeface="Calibri"/>
                <a:cs typeface="Calibri"/>
              </a:rPr>
              <a:t>.</a:t>
            </a:r>
            <a:endParaRPr sz="2450" dirty="0">
              <a:latin typeface="Calibri"/>
              <a:cs typeface="Calibri"/>
            </a:endParaRPr>
          </a:p>
          <a:p>
            <a:pPr marL="364490" indent="-352425">
              <a:lnSpc>
                <a:spcPct val="100000"/>
              </a:lnSpc>
              <a:spcBef>
                <a:spcPts val="15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50" spc="-5" dirty="0">
                <a:latin typeface="Calibri"/>
                <a:cs typeface="Calibri"/>
              </a:rPr>
              <a:t>Principais</a:t>
            </a:r>
            <a:r>
              <a:rPr sz="2450" spc="5" dirty="0">
                <a:latin typeface="Calibri"/>
                <a:cs typeface="Calibri"/>
              </a:rPr>
              <a:t> </a:t>
            </a:r>
            <a:r>
              <a:rPr sz="2450" spc="-15" dirty="0">
                <a:latin typeface="Calibri"/>
                <a:cs typeface="Calibri"/>
              </a:rPr>
              <a:t>características:</a:t>
            </a:r>
            <a:endParaRPr sz="2450" dirty="0">
              <a:latin typeface="Calibri"/>
              <a:cs typeface="Calibri"/>
            </a:endParaRPr>
          </a:p>
          <a:p>
            <a:pPr marL="821690" marR="133350" lvl="1" indent="-352425">
              <a:lnSpc>
                <a:spcPct val="100000"/>
              </a:lnSpc>
              <a:spcBef>
                <a:spcPts val="12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dirty="0">
                <a:latin typeface="Calibri"/>
                <a:cs typeface="Calibri"/>
              </a:rPr>
              <a:t>Ao criar </a:t>
            </a:r>
            <a:r>
              <a:rPr sz="2400" spc="-5" dirty="0">
                <a:latin typeface="Calibri"/>
                <a:cs typeface="Calibri"/>
              </a:rPr>
              <a:t>um </a:t>
            </a:r>
            <a:r>
              <a:rPr sz="2400" dirty="0">
                <a:latin typeface="Calibri"/>
                <a:cs typeface="Calibri"/>
              </a:rPr>
              <a:t>mapa, </a:t>
            </a:r>
            <a:r>
              <a:rPr sz="2400" spc="-5" dirty="0">
                <a:latin typeface="Calibri"/>
                <a:cs typeface="Calibri"/>
              </a:rPr>
              <a:t>seu tamanho não </a:t>
            </a:r>
            <a:r>
              <a:rPr sz="2400" spc="-10" dirty="0">
                <a:latin typeface="Calibri"/>
                <a:cs typeface="Calibri"/>
              </a:rPr>
              <a:t>precisa </a:t>
            </a:r>
            <a:r>
              <a:rPr sz="2400" spc="-5" dirty="0">
                <a:latin typeface="Calibri"/>
                <a:cs typeface="Calibri"/>
              </a:rPr>
              <a:t>ser especificado, já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dirty="0">
                <a:latin typeface="Calibri"/>
                <a:cs typeface="Calibri"/>
              </a:rPr>
              <a:t>ele </a:t>
            </a:r>
            <a:r>
              <a:rPr sz="2400" spc="-10" dirty="0">
                <a:latin typeface="Calibri"/>
                <a:cs typeface="Calibri"/>
              </a:rPr>
              <a:t>aumenta </a:t>
            </a:r>
            <a:r>
              <a:rPr sz="2400" spc="-5" dirty="0">
                <a:latin typeface="Calibri"/>
                <a:cs typeface="Calibri"/>
              </a:rPr>
              <a:t>ou diminui </a:t>
            </a:r>
            <a:r>
              <a:rPr sz="2400" spc="-15" dirty="0">
                <a:latin typeface="Calibri"/>
                <a:cs typeface="Calibri"/>
              </a:rPr>
              <a:t>conforme </a:t>
            </a:r>
            <a:r>
              <a:rPr sz="2400" spc="-5" dirty="0">
                <a:latin typeface="Calibri"/>
                <a:cs typeface="Calibri"/>
              </a:rPr>
              <a:t>os elementos são </a:t>
            </a:r>
            <a:r>
              <a:rPr sz="2400" dirty="0">
                <a:latin typeface="Calibri"/>
                <a:cs typeface="Calibri"/>
              </a:rPr>
              <a:t> inseridos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ou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removidos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 </a:t>
            </a:r>
            <a:r>
              <a:rPr sz="2400" spc="-10" dirty="0">
                <a:latin typeface="Calibri"/>
                <a:cs typeface="Calibri"/>
              </a:rPr>
              <a:t>coleção.</a:t>
            </a:r>
            <a:endParaRPr sz="2400" dirty="0">
              <a:latin typeface="Calibri"/>
              <a:cs typeface="Calibri"/>
            </a:endParaRPr>
          </a:p>
          <a:p>
            <a:pPr marL="821690" marR="150495" lvl="1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400" spc="-5" dirty="0">
                <a:latin typeface="Calibri"/>
                <a:cs typeface="Calibri"/>
              </a:rPr>
              <a:t>Da mesma </a:t>
            </a:r>
            <a:r>
              <a:rPr sz="2400" spc="-15" dirty="0">
                <a:latin typeface="Calibri"/>
                <a:cs typeface="Calibri"/>
              </a:rPr>
              <a:t>forma </a:t>
            </a:r>
            <a:r>
              <a:rPr sz="2400" spc="-5" dirty="0">
                <a:latin typeface="Calibri"/>
                <a:cs typeface="Calibri"/>
              </a:rPr>
              <a:t>que nas </a:t>
            </a:r>
            <a:r>
              <a:rPr sz="2400" spc="-10" dirty="0">
                <a:latin typeface="Calibri"/>
                <a:cs typeface="Calibri"/>
              </a:rPr>
              <a:t>listas, </a:t>
            </a:r>
            <a:r>
              <a:rPr sz="2400" spc="-5" dirty="0">
                <a:latin typeface="Calibri"/>
                <a:cs typeface="Calibri"/>
              </a:rPr>
              <a:t>nos </a:t>
            </a:r>
            <a:r>
              <a:rPr sz="2400" dirty="0">
                <a:latin typeface="Calibri"/>
                <a:cs typeface="Calibri"/>
              </a:rPr>
              <a:t>mapas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objetos </a:t>
            </a:r>
            <a:r>
              <a:rPr sz="2400" spc="-5" dirty="0">
                <a:latin typeface="Calibri"/>
                <a:cs typeface="Calibri"/>
              </a:rPr>
              <a:t>os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chemeClr val="accent6">
                    <a:lumMod val="50000"/>
                  </a:schemeClr>
                </a:solidFill>
                <a:latin typeface="Calibri"/>
                <a:cs typeface="Calibri"/>
              </a:rPr>
              <a:t>elementos podem se </a:t>
            </a:r>
            <a:r>
              <a:rPr sz="2400" spc="-35" dirty="0">
                <a:solidFill>
                  <a:schemeClr val="accent6">
                    <a:lumMod val="50000"/>
                  </a:schemeClr>
                </a:solidFill>
                <a:latin typeface="Calibri"/>
                <a:cs typeface="Calibri"/>
              </a:rPr>
              <a:t>repetir</a:t>
            </a:r>
            <a:r>
              <a:rPr sz="2400" spc="-35" dirty="0">
                <a:latin typeface="Calibri"/>
                <a:cs typeface="Calibri"/>
              </a:rPr>
              <a:t>. </a:t>
            </a:r>
            <a:r>
              <a:rPr sz="2400" spc="-20" dirty="0">
                <a:latin typeface="Calibri"/>
                <a:cs typeface="Calibri"/>
              </a:rPr>
              <a:t>Porém,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não </a:t>
            </a:r>
            <a:r>
              <a:rPr sz="2400" spc="-5" dirty="0">
                <a:latin typeface="Calibri"/>
                <a:cs typeface="Calibri"/>
              </a:rPr>
              <a:t>são permitidas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chaves </a:t>
            </a:r>
            <a:r>
              <a:rPr sz="2400" spc="-5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Calibri"/>
                <a:cs typeface="Calibri"/>
              </a:rPr>
              <a:t>repetidas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49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Mapas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49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Mapas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45769E-C4EA-47D9-8BC6-B7AFAFEF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1007950"/>
            <a:ext cx="9222185" cy="569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0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8"/>
            <a:ext cx="8931910" cy="4964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4490" marR="83820" indent="-352425">
              <a:lnSpc>
                <a:spcPct val="100000"/>
              </a:lnSpc>
              <a:spcBef>
                <a:spcPts val="1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00" spc="-5" dirty="0">
                <a:latin typeface="Calibri"/>
                <a:cs typeface="Calibri"/>
              </a:rPr>
              <a:t>Os </a:t>
            </a:r>
            <a:r>
              <a:rPr sz="2400" dirty="0">
                <a:latin typeface="Calibri"/>
                <a:cs typeface="Calibri"/>
              </a:rPr>
              <a:t>mapas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objetos </a:t>
            </a:r>
            <a:r>
              <a:rPr sz="2400" spc="-5" dirty="0">
                <a:latin typeface="Calibri"/>
                <a:cs typeface="Calibri"/>
              </a:rPr>
              <a:t>são </a:t>
            </a:r>
            <a:r>
              <a:rPr sz="2400" spc="-10" dirty="0">
                <a:latin typeface="Calibri"/>
                <a:cs typeface="Calibri"/>
              </a:rPr>
              <a:t>definidos </a:t>
            </a:r>
            <a:r>
              <a:rPr sz="2400" spc="-5" dirty="0">
                <a:latin typeface="Calibri"/>
                <a:cs typeface="Calibri"/>
              </a:rPr>
              <a:t>por </a:t>
            </a:r>
            <a:r>
              <a:rPr sz="2400" dirty="0">
                <a:latin typeface="Calibri"/>
                <a:cs typeface="Calibri"/>
              </a:rPr>
              <a:t>classes </a:t>
            </a:r>
            <a:r>
              <a:rPr sz="2400" spc="-5" dirty="0">
                <a:latin typeface="Calibri"/>
                <a:cs typeface="Calibri"/>
              </a:rPr>
              <a:t>que implementam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interface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Map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qual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declara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métodos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específicos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para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manipulação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mapas.</a:t>
            </a:r>
          </a:p>
          <a:p>
            <a:pPr marL="364490" marR="836294" indent="-352425">
              <a:lnSpc>
                <a:spcPct val="100000"/>
              </a:lnSpc>
              <a:spcBef>
                <a:spcPts val="18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00" dirty="0">
                <a:latin typeface="Calibri"/>
                <a:cs typeface="Calibri"/>
              </a:rPr>
              <a:t>Principais </a:t>
            </a:r>
            <a:r>
              <a:rPr sz="2400" spc="-5" dirty="0">
                <a:latin typeface="Calibri"/>
                <a:cs typeface="Calibri"/>
              </a:rPr>
              <a:t>classes que implementam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interface </a:t>
            </a:r>
            <a:r>
              <a:rPr sz="2400" b="1" spc="-5" dirty="0">
                <a:latin typeface="Calibri"/>
                <a:cs typeface="Calibri"/>
              </a:rPr>
              <a:t>Map </a:t>
            </a:r>
            <a:r>
              <a:rPr sz="2400" spc="-5" dirty="0">
                <a:latin typeface="Calibri"/>
                <a:cs typeface="Calibri"/>
              </a:rPr>
              <a:t>visando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representação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mapas:</a:t>
            </a:r>
          </a:p>
          <a:p>
            <a:pPr marL="821690" lvl="1" indent="-352425">
              <a:lnSpc>
                <a:spcPct val="100000"/>
              </a:lnSpc>
              <a:spcBef>
                <a:spcPts val="90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300" b="1" dirty="0">
                <a:latin typeface="Calibri"/>
                <a:cs typeface="Calibri"/>
              </a:rPr>
              <a:t>HashMap</a:t>
            </a:r>
            <a:r>
              <a:rPr sz="2300" b="1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Possui</a:t>
            </a:r>
            <a:r>
              <a:rPr sz="2300" dirty="0">
                <a:latin typeface="Calibri"/>
                <a:cs typeface="Calibri"/>
              </a:rPr>
              <a:t> um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mecanismo </a:t>
            </a:r>
            <a:r>
              <a:rPr sz="2300" dirty="0">
                <a:latin typeface="Calibri"/>
                <a:cs typeface="Calibri"/>
              </a:rPr>
              <a:t>mais</a:t>
            </a:r>
            <a:r>
              <a:rPr sz="2300" spc="-5" dirty="0">
                <a:latin typeface="Calibri"/>
                <a:cs typeface="Calibri"/>
              </a:rPr>
              <a:t> rápido nas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operações</a:t>
            </a:r>
            <a:r>
              <a:rPr sz="2300" spc="-5" dirty="0">
                <a:latin typeface="Calibri"/>
                <a:cs typeface="Calibri"/>
              </a:rPr>
              <a:t> de</a:t>
            </a:r>
            <a:endParaRPr sz="2300" dirty="0">
              <a:latin typeface="Calibri"/>
              <a:cs typeface="Calibri"/>
            </a:endParaRPr>
          </a:p>
          <a:p>
            <a:pPr marL="821690">
              <a:lnSpc>
                <a:spcPct val="100000"/>
              </a:lnSpc>
            </a:pPr>
            <a:r>
              <a:rPr sz="23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inserção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u="heavy" spc="-10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recuperação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de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objetos.</a:t>
            </a:r>
            <a:endParaRPr sz="2300" dirty="0">
              <a:latin typeface="Calibri"/>
              <a:cs typeface="Calibri"/>
            </a:endParaRPr>
          </a:p>
          <a:p>
            <a:pPr marL="821690" marR="617220" lvl="1" indent="-352425">
              <a:lnSpc>
                <a:spcPct val="100000"/>
              </a:lnSpc>
              <a:spcBef>
                <a:spcPts val="90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300" b="1" spc="-25" dirty="0">
                <a:latin typeface="Calibri"/>
                <a:cs typeface="Calibri"/>
              </a:rPr>
              <a:t>TreeMap</a:t>
            </a:r>
            <a:r>
              <a:rPr sz="2300" b="1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– </a:t>
            </a:r>
            <a:r>
              <a:rPr sz="2300" spc="-10" dirty="0">
                <a:latin typeface="Calibri"/>
                <a:cs typeface="Calibri"/>
              </a:rPr>
              <a:t>Possui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um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mecanismo </a:t>
            </a:r>
            <a:r>
              <a:rPr sz="2300" dirty="0">
                <a:latin typeface="Calibri"/>
                <a:cs typeface="Calibri"/>
              </a:rPr>
              <a:t>mais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15" dirty="0">
                <a:latin typeface="Calibri"/>
                <a:cs typeface="Calibri"/>
              </a:rPr>
              <a:t>lento,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porém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mantém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ordem</a:t>
            </a:r>
            <a:r>
              <a:rPr sz="2300" spc="-5" dirty="0">
                <a:solidFill>
                  <a:srgbClr val="FF0000"/>
                </a:solidFill>
                <a:latin typeface="Calibri"/>
                <a:cs typeface="Calibri"/>
              </a:rPr>
              <a:t> das </a:t>
            </a:r>
            <a:r>
              <a:rPr sz="2300" spc="-10" dirty="0">
                <a:solidFill>
                  <a:srgbClr val="FF0000"/>
                </a:solidFill>
                <a:latin typeface="Calibri"/>
                <a:cs typeface="Calibri"/>
              </a:rPr>
              <a:t>chaves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de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seus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elementos.</a:t>
            </a:r>
            <a:endParaRPr sz="2300" dirty="0">
              <a:latin typeface="Calibri"/>
              <a:cs typeface="Calibri"/>
            </a:endParaRPr>
          </a:p>
          <a:p>
            <a:pPr marL="364490" marR="5080" indent="-352425">
              <a:lnSpc>
                <a:spcPct val="100000"/>
              </a:lnSpc>
              <a:spcBef>
                <a:spcPts val="120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400" dirty="0">
                <a:latin typeface="Calibri"/>
                <a:cs typeface="Calibri"/>
              </a:rPr>
              <a:t>Ao criar </a:t>
            </a:r>
            <a:r>
              <a:rPr sz="2400" spc="-5" dirty="0">
                <a:latin typeface="Calibri"/>
                <a:cs typeface="Calibri"/>
              </a:rPr>
              <a:t>uma </a:t>
            </a:r>
            <a:r>
              <a:rPr sz="2400" spc="-10" dirty="0">
                <a:latin typeface="Calibri"/>
                <a:cs typeface="Calibri"/>
              </a:rPr>
              <a:t>instância destas </a:t>
            </a:r>
            <a:r>
              <a:rPr sz="2400" dirty="0">
                <a:latin typeface="Calibri"/>
                <a:cs typeface="Calibri"/>
              </a:rPr>
              <a:t>classes, é </a:t>
            </a:r>
            <a:r>
              <a:rPr sz="2400" spc="-5" dirty="0">
                <a:latin typeface="Calibri"/>
                <a:cs typeface="Calibri"/>
              </a:rPr>
              <a:t>preciso </a:t>
            </a:r>
            <a:r>
              <a:rPr sz="2400" spc="-10" dirty="0">
                <a:latin typeface="Calibri"/>
                <a:cs typeface="Calibri"/>
              </a:rPr>
              <a:t>definir os </a:t>
            </a:r>
            <a:r>
              <a:rPr sz="2400" dirty="0">
                <a:latin typeface="Calibri"/>
                <a:cs typeface="Calibri"/>
              </a:rPr>
              <a:t>tipos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objetos </a:t>
            </a:r>
            <a:r>
              <a:rPr sz="2400" spc="-5" dirty="0">
                <a:latin typeface="Calibri"/>
                <a:cs typeface="Calibri"/>
              </a:rPr>
              <a:t>(dados) da </a:t>
            </a:r>
            <a:r>
              <a:rPr sz="2400" u="heavy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chave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 </a:t>
            </a: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serem </a:t>
            </a:r>
            <a:r>
              <a:rPr sz="2400" spc="-5" dirty="0">
                <a:latin typeface="Calibri"/>
                <a:cs typeface="Calibri"/>
              </a:rPr>
              <a:t>armazenados. </a:t>
            </a:r>
            <a:r>
              <a:rPr sz="2400" spc="-25" dirty="0">
                <a:latin typeface="Calibri"/>
                <a:cs typeface="Calibri"/>
              </a:rPr>
              <a:t>Por 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exemplo: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100" spc="-5" dirty="0">
                <a:solidFill>
                  <a:srgbClr val="003399"/>
                </a:solidFill>
                <a:latin typeface="Calibri"/>
                <a:cs typeface="Calibri"/>
              </a:rPr>
              <a:t>HashMap&lt;String,</a:t>
            </a:r>
            <a:r>
              <a:rPr sz="21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003399"/>
                </a:solidFill>
                <a:latin typeface="Calibri"/>
                <a:cs typeface="Calibri"/>
              </a:rPr>
              <a:t>Integer&gt;</a:t>
            </a:r>
            <a:r>
              <a:rPr sz="210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3399"/>
                </a:solidFill>
                <a:latin typeface="Calibri"/>
                <a:cs typeface="Calibri"/>
              </a:rPr>
              <a:t>mapa</a:t>
            </a:r>
            <a:r>
              <a:rPr sz="2100" spc="-2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003399"/>
                </a:solidFill>
                <a:latin typeface="Calibri"/>
                <a:cs typeface="Calibri"/>
              </a:rPr>
              <a:t>=</a:t>
            </a:r>
            <a:r>
              <a:rPr sz="2100" spc="-5" dirty="0">
                <a:solidFill>
                  <a:srgbClr val="003399"/>
                </a:solidFill>
                <a:latin typeface="Calibri"/>
                <a:cs typeface="Calibri"/>
              </a:rPr>
              <a:t> new</a:t>
            </a:r>
            <a:r>
              <a:rPr sz="2100" spc="10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100" spc="-5" dirty="0">
                <a:solidFill>
                  <a:srgbClr val="003399"/>
                </a:solidFill>
                <a:latin typeface="Calibri"/>
                <a:cs typeface="Calibri"/>
              </a:rPr>
              <a:t>HashMap&lt;String,</a:t>
            </a:r>
            <a:r>
              <a:rPr sz="2100" spc="5" dirty="0">
                <a:solidFill>
                  <a:srgbClr val="003399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003399"/>
                </a:solidFill>
                <a:latin typeface="Calibri"/>
                <a:cs typeface="Calibri"/>
              </a:rPr>
              <a:t>Integer&gt;();</a:t>
            </a:r>
            <a:endParaRPr sz="21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3849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Mapas</a:t>
            </a:r>
            <a:r>
              <a:rPr spc="-20" dirty="0"/>
              <a:t> </a:t>
            </a:r>
            <a:r>
              <a:rPr spc="-5" dirty="0"/>
              <a:t>de</a:t>
            </a:r>
            <a:r>
              <a:rPr spc="-30" dirty="0"/>
              <a:t> </a:t>
            </a:r>
            <a:r>
              <a:rPr spc="-15" dirty="0"/>
              <a:t>Objetos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4403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</a:t>
            </a:r>
            <a:r>
              <a:rPr spc="-10" dirty="0"/>
              <a:t> </a:t>
            </a:r>
            <a:r>
              <a:rPr spc="-5" dirty="0"/>
              <a:t>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023662"/>
            <a:ext cx="8516620" cy="551053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49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Principais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métodos:</a:t>
            </a:r>
            <a:endParaRPr sz="2500">
              <a:latin typeface="Calibri"/>
              <a:cs typeface="Calibri"/>
            </a:endParaRPr>
          </a:p>
          <a:p>
            <a:pPr marL="821690" lvl="1" indent="-352425">
              <a:lnSpc>
                <a:spcPts val="2625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put: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Adiciona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ou </a:t>
            </a:r>
            <a:r>
              <a:rPr sz="2200" spc="-10" dirty="0">
                <a:latin typeface="Calibri"/>
                <a:cs typeface="Calibri"/>
              </a:rPr>
              <a:t>substitui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 elemento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mapa.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ts val="262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40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&lt;nome_mapa&gt;.put(&lt;chave&gt;,</a:t>
            </a:r>
            <a:r>
              <a:rPr sz="2200" spc="4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&lt;valor&gt;)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ts val="2555"/>
              </a:lnSpc>
              <a:spcBef>
                <a:spcPts val="123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containsKey: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contém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determinada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chave.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ts val="255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6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&lt;nome_mapa&gt;.containsKey(&lt;chave&gt;)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ts val="2630"/>
              </a:lnSpc>
              <a:spcBef>
                <a:spcPts val="137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20" dirty="0">
                <a:latin typeface="Calibri"/>
                <a:cs typeface="Calibri"/>
              </a:rPr>
              <a:t>containsValue: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contém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determinado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45" dirty="0">
                <a:latin typeface="Calibri"/>
                <a:cs typeface="Calibri"/>
              </a:rPr>
              <a:t>valor.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ts val="263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60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&lt;nome_mapa&gt;.containsValue(&lt;valor&gt;)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3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get: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meio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sua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chave.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229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1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&lt;nome_mapa&gt;.get(&lt;chave&gt;)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ts val="2585"/>
              </a:lnSpc>
              <a:spcBef>
                <a:spcPts val="97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5" dirty="0">
                <a:latin typeface="Calibri"/>
                <a:cs typeface="Calibri"/>
              </a:rPr>
              <a:t>remove:</a:t>
            </a:r>
            <a:r>
              <a:rPr sz="2200" b="1" spc="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Remove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um </a:t>
            </a:r>
            <a:r>
              <a:rPr sz="2200" spc="-15" dirty="0">
                <a:latin typeface="Calibri"/>
                <a:cs typeface="Calibri"/>
              </a:rPr>
              <a:t>elemento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meio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sua </a:t>
            </a:r>
            <a:r>
              <a:rPr sz="2200" spc="-15" dirty="0">
                <a:latin typeface="Calibri"/>
                <a:cs typeface="Calibri"/>
              </a:rPr>
              <a:t>chave.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ts val="2585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&lt;nome_mapa&gt;.remove(&lt;chave&gt;)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ts val="2580"/>
              </a:lnSpc>
              <a:spcBef>
                <a:spcPts val="1310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clear:</a:t>
            </a:r>
            <a:r>
              <a:rPr sz="2200" b="1" spc="3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Remove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todos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 mapa.</a:t>
            </a:r>
            <a:endParaRPr sz="2200">
              <a:latin typeface="Calibri"/>
              <a:cs typeface="Calibri"/>
            </a:endParaRPr>
          </a:p>
          <a:p>
            <a:pPr marL="829944">
              <a:lnSpc>
                <a:spcPts val="2580"/>
              </a:lnSpc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&lt;nome_mapa&gt;.clear()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883" y="1232534"/>
            <a:ext cx="7578725" cy="5333365"/>
            <a:chOff x="206883" y="1232534"/>
            <a:chExt cx="7578725" cy="5333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6408" y="1242059"/>
              <a:ext cx="7415783" cy="44470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11645" y="1237297"/>
              <a:ext cx="7425690" cy="4457065"/>
            </a:xfrm>
            <a:custGeom>
              <a:avLst/>
              <a:gdLst/>
              <a:ahLst/>
              <a:cxnLst/>
              <a:rect l="l" t="t" r="r" b="b"/>
              <a:pathLst>
                <a:path w="7425690" h="4457065">
                  <a:moveTo>
                    <a:pt x="0" y="4456557"/>
                  </a:moveTo>
                  <a:lnTo>
                    <a:pt x="7425308" y="4456557"/>
                  </a:lnTo>
                  <a:lnTo>
                    <a:pt x="7425308" y="0"/>
                  </a:lnTo>
                  <a:lnTo>
                    <a:pt x="0" y="0"/>
                  </a:lnTo>
                  <a:lnTo>
                    <a:pt x="0" y="445655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6408" y="5855207"/>
              <a:ext cx="7415783" cy="70104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1645" y="5850445"/>
              <a:ext cx="7425690" cy="710565"/>
            </a:xfrm>
            <a:custGeom>
              <a:avLst/>
              <a:gdLst/>
              <a:ahLst/>
              <a:cxnLst/>
              <a:rect l="l" t="t" r="r" b="b"/>
              <a:pathLst>
                <a:path w="7425690" h="710565">
                  <a:moveTo>
                    <a:pt x="0" y="710564"/>
                  </a:moveTo>
                  <a:lnTo>
                    <a:pt x="7425308" y="710564"/>
                  </a:lnTo>
                  <a:lnTo>
                    <a:pt x="7425308" y="0"/>
                  </a:lnTo>
                  <a:lnTo>
                    <a:pt x="0" y="0"/>
                  </a:lnTo>
                  <a:lnTo>
                    <a:pt x="0" y="71056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02679" y="5453252"/>
              <a:ext cx="1570355" cy="528955"/>
            </a:xfrm>
            <a:custGeom>
              <a:avLst/>
              <a:gdLst/>
              <a:ahLst/>
              <a:cxnLst/>
              <a:rect l="l" t="t" r="r" b="b"/>
              <a:pathLst>
                <a:path w="1570354" h="528954">
                  <a:moveTo>
                    <a:pt x="1570227" y="1143"/>
                  </a:moveTo>
                  <a:lnTo>
                    <a:pt x="1565528" y="0"/>
                  </a:lnTo>
                  <a:lnTo>
                    <a:pt x="0" y="528396"/>
                  </a:lnTo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324992"/>
            <a:ext cx="44030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</a:t>
            </a:r>
            <a:r>
              <a:rPr spc="-10" dirty="0"/>
              <a:t> </a:t>
            </a:r>
            <a:r>
              <a:rPr spc="-5" dirty="0"/>
              <a:t>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86878" y="5077205"/>
            <a:ext cx="1691639" cy="792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92075" marR="105410">
              <a:lnSpc>
                <a:spcPct val="100000"/>
              </a:lnSpc>
              <a:spcBef>
                <a:spcPts val="140"/>
              </a:spcBef>
            </a:pPr>
            <a:r>
              <a:rPr sz="1600" spc="-5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chaves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não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são </a:t>
            </a:r>
            <a:r>
              <a:rPr sz="1600" spc="-3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armazenadas em 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ordem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crescente.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9274" y="5629275"/>
            <a:ext cx="5591175" cy="1062990"/>
            <a:chOff x="2069274" y="5629275"/>
            <a:chExt cx="5591175" cy="1062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8735" y="5638800"/>
              <a:ext cx="5571744" cy="10439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74036" y="5634037"/>
              <a:ext cx="5581650" cy="1053465"/>
            </a:xfrm>
            <a:custGeom>
              <a:avLst/>
              <a:gdLst/>
              <a:ahLst/>
              <a:cxnLst/>
              <a:rect l="l" t="t" r="r" b="b"/>
              <a:pathLst>
                <a:path w="5581650" h="1053465">
                  <a:moveTo>
                    <a:pt x="0" y="1053465"/>
                  </a:moveTo>
                  <a:lnTo>
                    <a:pt x="5581269" y="1053465"/>
                  </a:lnTo>
                  <a:lnTo>
                    <a:pt x="5581269" y="0"/>
                  </a:lnTo>
                  <a:lnTo>
                    <a:pt x="0" y="0"/>
                  </a:lnTo>
                  <a:lnTo>
                    <a:pt x="0" y="105346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485775" y="1028255"/>
            <a:ext cx="8730615" cy="4476750"/>
            <a:chOff x="485775" y="1028255"/>
            <a:chExt cx="8730615" cy="447675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300" y="1037843"/>
              <a:ext cx="8711184" cy="4457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90537" y="1033017"/>
              <a:ext cx="8721090" cy="4467225"/>
            </a:xfrm>
            <a:custGeom>
              <a:avLst/>
              <a:gdLst/>
              <a:ahLst/>
              <a:cxnLst/>
              <a:rect l="l" t="t" r="r" b="b"/>
              <a:pathLst>
                <a:path w="8721090" h="4467225">
                  <a:moveTo>
                    <a:pt x="0" y="4467225"/>
                  </a:moveTo>
                  <a:lnTo>
                    <a:pt x="8720709" y="4467225"/>
                  </a:lnTo>
                  <a:lnTo>
                    <a:pt x="8720709" y="0"/>
                  </a:lnTo>
                  <a:lnTo>
                    <a:pt x="0" y="0"/>
                  </a:lnTo>
                  <a:lnTo>
                    <a:pt x="0" y="44672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265886"/>
            <a:ext cx="440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440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1964" y="1168061"/>
            <a:ext cx="6659880" cy="4079875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64490" indent="-352425">
              <a:lnSpc>
                <a:spcPct val="100000"/>
              </a:lnSpc>
              <a:spcBef>
                <a:spcPts val="1490"/>
              </a:spcBef>
              <a:buClr>
                <a:srgbClr val="204F52"/>
              </a:buClr>
              <a:buFont typeface="Symbol"/>
              <a:buChar char=""/>
              <a:tabLst>
                <a:tab pos="364490" algn="l"/>
                <a:tab pos="365125" algn="l"/>
              </a:tabLst>
            </a:pPr>
            <a:r>
              <a:rPr sz="2500" spc="-5" dirty="0">
                <a:latin typeface="Calibri"/>
                <a:cs typeface="Calibri"/>
              </a:rPr>
              <a:t>Principais</a:t>
            </a:r>
            <a:r>
              <a:rPr sz="2500" spc="-1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métodos:</a:t>
            </a:r>
            <a:endParaRPr sz="250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2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size: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quantos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mapa </a:t>
            </a:r>
            <a:r>
              <a:rPr sz="2200" spc="-10" dirty="0">
                <a:latin typeface="Calibri"/>
                <a:cs typeface="Calibri"/>
              </a:rPr>
              <a:t>possui.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5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00CC"/>
                </a:solidFill>
                <a:latin typeface="Calibri"/>
                <a:cs typeface="Calibri"/>
              </a:rPr>
              <a:t>&lt;nome_mapa&gt;.size()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63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5" dirty="0">
                <a:latin typeface="Calibri"/>
                <a:cs typeface="Calibri"/>
              </a:rPr>
              <a:t>isEmpty: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um </a:t>
            </a:r>
            <a:r>
              <a:rPr sz="2200" spc="-5" dirty="0">
                <a:latin typeface="Calibri"/>
                <a:cs typeface="Calibri"/>
              </a:rPr>
              <a:t>mapa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está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vazio.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345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00CC"/>
                </a:solidFill>
                <a:latin typeface="Calibri"/>
                <a:cs typeface="Calibri"/>
              </a:rPr>
              <a:t>&lt;nome_mapa&gt;.isEmpty()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33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20" dirty="0">
                <a:latin typeface="Calibri"/>
                <a:cs typeface="Calibri"/>
              </a:rPr>
              <a:t>keyset: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Retorna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chaves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elementos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 mapa.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414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2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&lt;nome_mapa&gt;.keyset()</a:t>
            </a:r>
            <a:endParaRPr sz="2200">
              <a:latin typeface="Calibri"/>
              <a:cs typeface="Calibri"/>
            </a:endParaRPr>
          </a:p>
          <a:p>
            <a:pPr marL="821690" lvl="1" indent="-352425">
              <a:lnSpc>
                <a:spcPct val="100000"/>
              </a:lnSpc>
              <a:spcBef>
                <a:spcPts val="1265"/>
              </a:spcBef>
              <a:buClr>
                <a:srgbClr val="204F52"/>
              </a:buClr>
              <a:buFont typeface="Symbol"/>
              <a:buChar char=""/>
              <a:tabLst>
                <a:tab pos="821690" algn="l"/>
                <a:tab pos="822325" algn="l"/>
              </a:tabLst>
            </a:pPr>
            <a:r>
              <a:rPr sz="2200" b="1" spc="-10" dirty="0">
                <a:latin typeface="Calibri"/>
                <a:cs typeface="Calibri"/>
              </a:rPr>
              <a:t>values: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Retorna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os</a:t>
            </a:r>
            <a:r>
              <a:rPr sz="2200" spc="-10" dirty="0">
                <a:latin typeface="Calibri"/>
                <a:cs typeface="Calibri"/>
              </a:rPr>
              <a:t> valores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elementos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 mapa.</a:t>
            </a:r>
            <a:endParaRPr sz="2200">
              <a:latin typeface="Calibri"/>
              <a:cs typeface="Calibri"/>
            </a:endParaRPr>
          </a:p>
          <a:p>
            <a:pPr marL="823594">
              <a:lnSpc>
                <a:spcPct val="100000"/>
              </a:lnSpc>
              <a:spcBef>
                <a:spcPts val="140"/>
              </a:spcBef>
            </a:pPr>
            <a:r>
              <a:rPr sz="2200" b="1" spc="-20" dirty="0">
                <a:latin typeface="Calibri"/>
                <a:cs typeface="Calibri"/>
              </a:rPr>
              <a:t>Sintaxe:</a:t>
            </a:r>
            <a:r>
              <a:rPr sz="2200" b="1" spc="35" dirty="0"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0000CC"/>
                </a:solidFill>
                <a:latin typeface="Calibri"/>
                <a:cs typeface="Calibri"/>
              </a:rPr>
              <a:t>&lt;nome_mapa&gt;.values()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97646" y="5633846"/>
            <a:ext cx="5708650" cy="1062990"/>
            <a:chOff x="1997646" y="5633846"/>
            <a:chExt cx="5708650" cy="10629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7107" y="5643371"/>
              <a:ext cx="5689092" cy="10439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002408" y="5638609"/>
              <a:ext cx="5699125" cy="1053465"/>
            </a:xfrm>
            <a:custGeom>
              <a:avLst/>
              <a:gdLst/>
              <a:ahLst/>
              <a:cxnLst/>
              <a:rect l="l" t="t" r="r" b="b"/>
              <a:pathLst>
                <a:path w="5699125" h="1053465">
                  <a:moveTo>
                    <a:pt x="0" y="1053464"/>
                  </a:moveTo>
                  <a:lnTo>
                    <a:pt x="5698617" y="1053464"/>
                  </a:lnTo>
                  <a:lnTo>
                    <a:pt x="5698617" y="0"/>
                  </a:lnTo>
                  <a:lnTo>
                    <a:pt x="0" y="0"/>
                  </a:lnTo>
                  <a:lnTo>
                    <a:pt x="0" y="1053464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462722" y="1020635"/>
            <a:ext cx="6798309" cy="4484370"/>
            <a:chOff x="1462722" y="1020635"/>
            <a:chExt cx="6798309" cy="448437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72184" y="1030223"/>
              <a:ext cx="6778752" cy="44653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67485" y="1025397"/>
              <a:ext cx="6788784" cy="4474845"/>
            </a:xfrm>
            <a:custGeom>
              <a:avLst/>
              <a:gdLst/>
              <a:ahLst/>
              <a:cxnLst/>
              <a:rect l="l" t="t" r="r" b="b"/>
              <a:pathLst>
                <a:path w="6788784" h="4474845">
                  <a:moveTo>
                    <a:pt x="0" y="4474845"/>
                  </a:moveTo>
                  <a:lnTo>
                    <a:pt x="6788277" y="4474845"/>
                  </a:lnTo>
                  <a:lnTo>
                    <a:pt x="6788277" y="0"/>
                  </a:lnTo>
                  <a:lnTo>
                    <a:pt x="0" y="0"/>
                  </a:lnTo>
                  <a:lnTo>
                    <a:pt x="0" y="44748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265886"/>
            <a:ext cx="440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7850" y="0"/>
            <a:ext cx="77682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err="1"/>
              <a:t>Percorrer</a:t>
            </a:r>
            <a:r>
              <a:rPr lang="en-US" spc="-5" dirty="0"/>
              <a:t> </a:t>
            </a: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9C5B-E500-4648-279C-270808CEA766}"/>
              </a:ext>
            </a:extLst>
          </p:cNvPr>
          <p:cNvSpPr txBox="1"/>
          <p:nvPr/>
        </p:nvSpPr>
        <p:spPr>
          <a:xfrm>
            <a:off x="313740" y="570699"/>
            <a:ext cx="8991600" cy="624786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java.util.HashMap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import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java.util.Map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</a:p>
          <a:p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public class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mpa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lang="en-US" sz="2000" dirty="0"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(String[]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args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 {</a:t>
            </a:r>
            <a:b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    HashMap&lt;String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String&gt; </a:t>
            </a:r>
            <a:r>
              <a:rPr lang="en-US" sz="2000" dirty="0">
                <a:solidFill>
                  <a:srgbClr val="FF0000"/>
                </a:solidFill>
                <a:effectLst/>
                <a:latin typeface="JetBrains Mono"/>
              </a:rPr>
              <a:t>map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 = 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new 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HashMap&lt;&gt;()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"AC"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"Acre"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"AL"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"Alagoas"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"AP"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 err="1">
                <a:solidFill>
                  <a:srgbClr val="6A8759"/>
                </a:solidFill>
                <a:effectLst/>
                <a:latin typeface="JetBrains Mono"/>
              </a:rPr>
              <a:t>Amapá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"AM"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"Amazonas"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"BA"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"Bahia"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"CE"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 err="1">
                <a:solidFill>
                  <a:srgbClr val="6A8759"/>
                </a:solidFill>
                <a:effectLst/>
                <a:latin typeface="JetBrains Mono"/>
              </a:rPr>
              <a:t>Ceará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"DF"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"Distrito Federal"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"ES"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 err="1">
                <a:solidFill>
                  <a:srgbClr val="6A8759"/>
                </a:solidFill>
                <a:effectLst/>
                <a:latin typeface="JetBrains Mono"/>
              </a:rPr>
              <a:t>Espírito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 Santo"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map.put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"GO"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 err="1">
                <a:solidFill>
                  <a:srgbClr val="6A8759"/>
                </a:solidFill>
                <a:effectLst/>
                <a:latin typeface="JetBrains Mono"/>
              </a:rPr>
              <a:t>Goiás</a:t>
            </a:r>
            <a:r>
              <a:rPr lang="en-US" sz="2000" dirty="0">
                <a:solidFill>
                  <a:srgbClr val="6A8759"/>
                </a:solidFill>
                <a:effectLst/>
                <a:latin typeface="JetBrains Mono"/>
              </a:rPr>
              <a:t>"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lang="en-US" sz="2000" dirty="0">
                <a:solidFill>
                  <a:srgbClr val="808080"/>
                </a:solidFill>
                <a:effectLst/>
                <a:latin typeface="JetBrains Mono"/>
              </a:rPr>
              <a:t>//resto dos put() return map;   </a:t>
            </a:r>
            <a:br>
              <a:rPr lang="en-US" sz="2000" dirty="0">
                <a:solidFill>
                  <a:srgbClr val="808080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for 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Map.Entry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&lt;String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String&gt; entrada : </a:t>
            </a:r>
            <a:r>
              <a:rPr lang="en-US" sz="2000" dirty="0" err="1">
                <a:solidFill>
                  <a:srgbClr val="FF0000"/>
                </a:solidFill>
                <a:effectLst/>
                <a:latin typeface="JetBrains Mono"/>
              </a:rPr>
              <a:t>map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.entrySet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()) {</a:t>
            </a:r>
            <a:b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    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2000" i="1" dirty="0" err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.println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entrada.getKey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;//</a:t>
            </a:r>
            <a:r>
              <a:rPr lang="en-US" sz="2000" dirty="0" err="1">
                <a:solidFill>
                  <a:srgbClr val="CC7832"/>
                </a:solidFill>
                <a:effectLst/>
                <a:latin typeface="JetBrains Mono"/>
              </a:rPr>
              <a:t>imprime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lang="en-US" sz="2000" dirty="0" err="1">
                <a:solidFill>
                  <a:srgbClr val="CC7832"/>
                </a:solidFill>
                <a:effectLst/>
                <a:latin typeface="JetBrains Mono"/>
              </a:rPr>
              <a:t>chave</a:t>
            </a:r>
            <a:b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       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lang="en-US" sz="2000" i="1" dirty="0" err="1"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.println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US" sz="2000" dirty="0" err="1">
                <a:solidFill>
                  <a:srgbClr val="A9B7C6"/>
                </a:solidFill>
                <a:effectLst/>
                <a:latin typeface="JetBrains Mono"/>
              </a:rPr>
              <a:t>entrada.getValue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())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;//</a:t>
            </a:r>
            <a:r>
              <a:rPr lang="en-US" sz="2000" dirty="0" err="1">
                <a:solidFill>
                  <a:srgbClr val="CC7832"/>
                </a:solidFill>
                <a:effectLst/>
                <a:latin typeface="JetBrains Mono"/>
              </a:rPr>
              <a:t>imprime</a:t>
            </a:r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valor</a:t>
            </a:r>
          </a:p>
          <a:p>
            <a:r>
              <a:rPr lang="en-US" sz="2000" dirty="0"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</a:br>
            <a:r>
              <a:rPr lang="en-US" sz="2000" dirty="0">
                <a:solidFill>
                  <a:srgbClr val="A9B7C6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044499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81964" y="265886"/>
            <a:ext cx="440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718510D-9A0F-426D-9E9A-AD4DA3D36B98}"/>
              </a:ext>
            </a:extLst>
          </p:cNvPr>
          <p:cNvSpPr txBox="1"/>
          <p:nvPr/>
        </p:nvSpPr>
        <p:spPr>
          <a:xfrm>
            <a:off x="1187450" y="1365250"/>
            <a:ext cx="769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Em </a:t>
            </a:r>
            <a:r>
              <a:rPr lang="pt-BR" sz="3600" spc="-5" dirty="0" err="1"/>
              <a:t>HashMap</a:t>
            </a:r>
            <a:r>
              <a:rPr lang="pt-BR" sz="3600" spc="-5" dirty="0"/>
              <a:t> e</a:t>
            </a:r>
            <a:r>
              <a:rPr lang="pt-BR" sz="3600" spc="-30" dirty="0"/>
              <a:t> </a:t>
            </a:r>
            <a:r>
              <a:rPr lang="pt-BR" sz="3600" spc="-45" dirty="0" err="1"/>
              <a:t>TreeMap</a:t>
            </a:r>
            <a:r>
              <a:rPr lang="pt-BR" sz="3600" spc="-45" dirty="0"/>
              <a:t> pode-se criar:</a:t>
            </a:r>
          </a:p>
          <a:p>
            <a:endParaRPr lang="pt-BR" sz="3600" spc="-45" dirty="0"/>
          </a:p>
          <a:p>
            <a:r>
              <a:rPr lang="pt-BR" sz="3600" spc="-45" dirty="0" err="1"/>
              <a:t>Hash</a:t>
            </a:r>
            <a:r>
              <a:rPr lang="pt-BR" sz="3600" spc="-45" dirty="0"/>
              <a:t>&lt;</a:t>
            </a:r>
            <a:r>
              <a:rPr lang="pt-BR" sz="3600" spc="-45" dirty="0" err="1"/>
              <a:t>Integer</a:t>
            </a:r>
            <a:r>
              <a:rPr lang="pt-BR" sz="3600" spc="-45" dirty="0"/>
              <a:t>, </a:t>
            </a:r>
            <a:r>
              <a:rPr lang="pt-BR" sz="3600" spc="-45" dirty="0" err="1"/>
              <a:t>LinkedList</a:t>
            </a:r>
            <a:r>
              <a:rPr lang="pt-BR" sz="3600" spc="-45" dirty="0"/>
              <a:t>&lt;</a:t>
            </a:r>
            <a:r>
              <a:rPr lang="pt-BR" sz="3600" spc="-45" dirty="0" err="1"/>
              <a:t>Integer</a:t>
            </a:r>
            <a:r>
              <a:rPr lang="pt-BR" sz="3600" spc="-45" dirty="0"/>
              <a:t>&gt;&gt;()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409714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4F198-5F2C-14D6-2F03-5908C0B3A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>
            <a:extLst>
              <a:ext uri="{FF2B5EF4-FFF2-40B4-BE49-F238E27FC236}">
                <a16:creationId xmlns:a16="http://schemas.microsoft.com/office/drawing/2014/main" id="{A6F1EFD3-B81F-FA59-7F10-4FADB7D3E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964" y="265886"/>
            <a:ext cx="44018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HashMap e</a:t>
            </a:r>
            <a:r>
              <a:rPr spc="-30" dirty="0"/>
              <a:t> </a:t>
            </a:r>
            <a:r>
              <a:rPr spc="-45" dirty="0"/>
              <a:t>TreeMap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FCDC3-7667-1C03-54F7-39EE57FBF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74" y="983313"/>
            <a:ext cx="8843976" cy="5632311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class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Main {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public static void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main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(String[] args) {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HashMap&lt;Integer, LinkedList&lt;Integer&gt;&gt; mapa =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HashMap&lt;&gt;();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Adicionando uma lista para a chave 1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mapa.put(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LinkedList&lt;&gt;());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Adicionando valores na lista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mapa.get(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).add(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mapa.get(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).add(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20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mapa.get(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).add(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30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Outra chave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mapa.put(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new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LinkedList&lt;&gt;());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mapa.get(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).add(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40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mapa.get(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).add(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50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// Percorrendo o HashMap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(Map.Entry&lt;Integer, LinkedList&lt;Integer&gt;&gt; entry : mapa.entrySet()) {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Integer chave = entry.getKey();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LinkedList&lt;Integer&gt; lista = entry.getValue();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System.</a:t>
            </a: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"Chave: "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chave);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(Integer valor : lista) {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System.</a:t>
            </a:r>
            <a:r>
              <a:rPr kumimoji="0" lang="pt-BR" altLang="pt-BR" sz="1200" b="0" i="1" u="none" strike="noStrike" cap="none" normalizeH="0" baseline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out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.println(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  Valor: " </a:t>
            </a: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+ valor);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}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}</a:t>
            </a:r>
            <a:b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pt-BR" altLang="pt-BR" sz="12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}</a:t>
            </a:r>
            <a:endParaRPr kumimoji="0" lang="pt-BR" altLang="pt-BR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4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13740-D18A-408A-9D9B-F10BA2B1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64" y="396061"/>
            <a:ext cx="8526170" cy="615553"/>
          </a:xfrm>
        </p:spPr>
        <p:txBody>
          <a:bodyPr/>
          <a:lstStyle/>
          <a:p>
            <a:r>
              <a:rPr lang="pt-BR" dirty="0" err="1"/>
              <a:t>Iteradores</a:t>
            </a:r>
            <a:r>
              <a:rPr lang="pt-BR" dirty="0"/>
              <a:t> de coleções (</a:t>
            </a:r>
            <a:r>
              <a:rPr lang="pt-BR" dirty="0" err="1"/>
              <a:t>Iterators</a:t>
            </a:r>
            <a:r>
              <a:rPr lang="pt-BR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DB529-E88F-4511-B339-9E601932E16F}"/>
              </a:ext>
            </a:extLst>
          </p:cNvPr>
          <p:cNvSpPr txBox="1"/>
          <p:nvPr/>
        </p:nvSpPr>
        <p:spPr>
          <a:xfrm>
            <a:off x="882650" y="15938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E41761-505B-4E0F-95C7-4877053D57D8}"/>
              </a:ext>
            </a:extLst>
          </p:cNvPr>
          <p:cNvSpPr txBox="1"/>
          <p:nvPr/>
        </p:nvSpPr>
        <p:spPr>
          <a:xfrm>
            <a:off x="425450" y="1235395"/>
            <a:ext cx="91081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Um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(objeto </a:t>
            </a:r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Iterator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) percorre uma coleção, visitando os seus elementos.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FF0000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funciona como uma espécie de ponteiro para o próximo elemento.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pt-BR" sz="2400" b="0" i="0" u="none" strike="noStrike" baseline="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3333CD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Para usar um objeto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, deve-se realizar os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seguintes passos: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FF0000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1. Obtenha um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para a coleção usando o método </a:t>
            </a:r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iterator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()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da própria coleção.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3333CD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Esse método retorna um objeto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, posicionado antes do primeiro objeto da coleção.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883918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F13740-D18A-408A-9D9B-F10BA2B1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964" y="396061"/>
            <a:ext cx="8526170" cy="615553"/>
          </a:xfrm>
        </p:spPr>
        <p:txBody>
          <a:bodyPr/>
          <a:lstStyle/>
          <a:p>
            <a:r>
              <a:rPr lang="pt-BR" dirty="0" err="1"/>
              <a:t>Iteradores</a:t>
            </a:r>
            <a:r>
              <a:rPr lang="pt-BR" dirty="0"/>
              <a:t> de coleções (</a:t>
            </a:r>
            <a:r>
              <a:rPr lang="pt-BR" dirty="0" err="1"/>
              <a:t>Iterators</a:t>
            </a:r>
            <a:r>
              <a:rPr lang="pt-BR" dirty="0"/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FDB529-E88F-4511-B339-9E601932E16F}"/>
              </a:ext>
            </a:extLst>
          </p:cNvPr>
          <p:cNvSpPr txBox="1"/>
          <p:nvPr/>
        </p:nvSpPr>
        <p:spPr>
          <a:xfrm>
            <a:off x="882650" y="15938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3E41761-505B-4E0F-95C7-4877053D57D8}"/>
              </a:ext>
            </a:extLst>
          </p:cNvPr>
          <p:cNvSpPr txBox="1"/>
          <p:nvPr/>
        </p:nvSpPr>
        <p:spPr>
          <a:xfrm>
            <a:off x="425450" y="1235395"/>
            <a:ext cx="9108136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1800" b="0" i="0" u="none" strike="noStrike" baseline="0" dirty="0">
                <a:solidFill>
                  <a:srgbClr val="FF0000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2. Verifique se há mais elementos na coleção com uma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chamada ao método </a:t>
            </a:r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hasnext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()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do objeto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FF0000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3. Obtenha o próximo objeto na coleção com o método</a:t>
            </a:r>
          </a:p>
          <a:p>
            <a:pPr algn="l"/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next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()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do objeto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3333CD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 método 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remove()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apaga o último item retornado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pelo método </a:t>
            </a:r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next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().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sz="2400" b="0" i="0" u="none" strike="noStrike" baseline="0" dirty="0">
                <a:solidFill>
                  <a:srgbClr val="3333CD"/>
                </a:solidFill>
                <a:latin typeface="Wingdings" panose="05000000000000000000" pitchFamily="2" charset="2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 método </a:t>
            </a:r>
            <a:r>
              <a:rPr lang="pt-BR" sz="2400" b="1" i="0" u="none" strike="noStrike" baseline="0" dirty="0" err="1">
                <a:solidFill>
                  <a:srgbClr val="000000"/>
                </a:solidFill>
                <a:latin typeface="Courier"/>
              </a:rPr>
              <a:t>add</a:t>
            </a:r>
            <a:r>
              <a:rPr lang="pt-BR" sz="2400" b="1" i="0" u="none" strike="noStrike" baseline="0" dirty="0">
                <a:solidFill>
                  <a:srgbClr val="000000"/>
                </a:solidFill>
                <a:latin typeface="Courier"/>
              </a:rPr>
              <a:t>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adiciona um objeto após a posição</a:t>
            </a:r>
          </a:p>
          <a:p>
            <a:pPr algn="l"/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apontada pelo </a:t>
            </a:r>
            <a:r>
              <a:rPr lang="pt-BR" sz="24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.</a:t>
            </a:r>
          </a:p>
          <a:p>
            <a:pPr algn="l"/>
            <a:endParaRPr lang="pt-BR" sz="2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algn="l"/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Se uma </a:t>
            </a:r>
            <a:r>
              <a:rPr lang="pt-BR" sz="3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coleção for modificada por um de seus</a:t>
            </a:r>
          </a:p>
          <a:p>
            <a:pPr algn="l"/>
            <a:r>
              <a:rPr lang="pt-BR" sz="3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métodos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depois de um </a:t>
            </a:r>
            <a:r>
              <a:rPr lang="pt-BR" sz="3200" b="0" i="0" u="none" strike="noStrike" baseline="0" dirty="0" err="1">
                <a:solidFill>
                  <a:srgbClr val="FF0000"/>
                </a:solidFill>
                <a:latin typeface="Tahoma" panose="020B0604030504040204" pitchFamily="34" charset="0"/>
              </a:rPr>
              <a:t>iterador</a:t>
            </a:r>
            <a:r>
              <a:rPr lang="pt-BR" sz="3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 ter sido criado</a:t>
            </a:r>
          </a:p>
          <a:p>
            <a:pPr algn="l"/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para essa coleção:</a:t>
            </a:r>
          </a:p>
          <a:p>
            <a:pPr algn="l"/>
            <a:r>
              <a:rPr lang="pt-BR" sz="3200" b="0" i="0" u="none" strike="noStrike" baseline="0" dirty="0">
                <a:solidFill>
                  <a:srgbClr val="FF0000"/>
                </a:solidFill>
                <a:latin typeface="Wingdings" panose="05000000000000000000" pitchFamily="2" charset="2"/>
              </a:rPr>
              <a:t>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o 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Tahoma" panose="020B0604030504040204" pitchFamily="34" charset="0"/>
              </a:rPr>
              <a:t>iterador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 se torna imediatamente </a:t>
            </a:r>
            <a:r>
              <a:rPr lang="pt-BR" sz="3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inválido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Tahoma" panose="020B0604030504040204" pitchFamily="34" charset="0"/>
              </a:rPr>
              <a:t>!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4973511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850" y="69850"/>
            <a:ext cx="2453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1</a:t>
            </a:r>
            <a:endParaRPr spc="-1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1A95D4-D3BA-9F13-0B56-A46894532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1277888"/>
            <a:ext cx="902041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Enunciado: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programa em Java que: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Peça ao usuário para informar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nomes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armazene-os em 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uma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List&lt;String</a:t>
            </a:r>
            <a:r>
              <a:rPr kumimoji="0" lang="pt-BR" altLang="pt-BR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r>
              <a:rPr kumimoji="0" lang="pt-BR" altLang="pt-B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Mostre todos os nomes na ordem em que foram digitados.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Mostre todos os nomes em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ordem alfabética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Mostre apenas os nomes que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começam com a letra "A"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(maiúscula ou minúscula).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Peça ao usuário um nome e diga se ele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está na lista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 não.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8164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7850" y="908050"/>
            <a:ext cx="8631555" cy="5617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Fazer uma classe Aluno que possua as seguintes características: 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• dois atributos do tipo inteiro: primeira nota parcial (de 0 a 100) e Segunda nota parcial (de 0 a 100) 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• um atributo String representando o nome do aluno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• possua métodos para ler e escrever os atributos (ou uma construtora)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 Fazer uma classe Controle que: 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• pergunte ao usuário o nome e as duas notas parciais de um aluno. Caso o nome entrado seja “fim” isso </a:t>
            </a:r>
            <a:r>
              <a:rPr lang="pt-BR" sz="2400" dirty="0">
                <a:solidFill>
                  <a:srgbClr val="FF0000"/>
                </a:solidFill>
              </a:rPr>
              <a:t>significa que o usuário não quer inserir mais nenhum aluno</a:t>
            </a:r>
            <a:r>
              <a:rPr lang="pt-BR" sz="2400" dirty="0"/>
              <a:t>, do contrário deve ser instanciado um objeto da classe Aluno e armazenados os dados digitados.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 Dicas: usar um objeto da classe ArrayList/LinkedList de Java para armazenar as referências para os objetos instanciados). Usar o método </a:t>
            </a:r>
            <a:r>
              <a:rPr lang="pt-BR" sz="2400" dirty="0" err="1"/>
              <a:t>equals</a:t>
            </a:r>
            <a:r>
              <a:rPr lang="pt-BR" sz="2400" dirty="0"/>
              <a:t> da classe </a:t>
            </a:r>
            <a:r>
              <a:rPr lang="pt-BR" sz="2400" dirty="0" err="1"/>
              <a:t>String</a:t>
            </a:r>
            <a:r>
              <a:rPr lang="pt-BR" sz="2400" dirty="0"/>
              <a:t> para verificar se o valor do nome entrado é igual a “fim”.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7850" y="69850"/>
            <a:ext cx="2453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2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2043920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631555" cy="149079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dirty="0"/>
              <a:t>• Calcular, ao final da inserção de todos os alunos, a média da turma, quantos alunos foram aprovados, quantos foram para a final e quantos foram reprovados e mostrar os códigos de todos os alunos cujas notas ficaram abaixo da média da turma. </a:t>
            </a:r>
            <a:endParaRPr lang="pt-BR" sz="2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662528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2 - continuação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606709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835086" cy="30194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Crie um objeto chamado Cliente com os atributos: id, nome, idade, telefone. 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Faça um programa para solicitar os dados de vários clientes e armazenar em um ArrayList até que se digite um número de ID negativo. </a:t>
            </a: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endParaRPr lang="pt-BR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12065" marR="72390">
              <a:lnSpc>
                <a:spcPct val="100000"/>
              </a:lnSpc>
              <a:spcBef>
                <a:spcPts val="105"/>
              </a:spcBef>
              <a:buClr>
                <a:srgbClr val="204F52"/>
              </a:buClr>
              <a:tabLst>
                <a:tab pos="364490" algn="l"/>
                <a:tab pos="365125" algn="l"/>
              </a:tabLst>
            </a:pPr>
            <a:r>
              <a:rPr lang="pt-BR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Em seguida exiba os dados de todos os clientes.</a:t>
            </a:r>
            <a:endParaRPr lang="pt-BR" sz="240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2453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3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10394264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631555" cy="2968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 fontAlgn="base"/>
            <a:endParaRPr lang="pt-BR" sz="2400" b="0" i="0" dirty="0">
              <a:effectLst/>
              <a:latin typeface="Source Sans Pro" panose="020B0503030403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Source Sans Pro" panose="020B0503030403020204" pitchFamily="34" charset="0"/>
              </a:rPr>
              <a:t>Ler a data de nascimento e um nome e armazená-las em um HashMap usando como chave o nome;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pt-BR" sz="2400" b="0" i="0" dirty="0">
              <a:effectLst/>
              <a:latin typeface="Source Sans Pro" panose="020B0503030403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Source Sans Pro" panose="020B0503030403020204" pitchFamily="34" charset="0"/>
              </a:rPr>
              <a:t> Mostrar as datas digitadas;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pt-BR" sz="2400" b="0" i="0" dirty="0">
              <a:effectLst/>
              <a:latin typeface="Source Sans Pro" panose="020B0503030403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pt-BR" sz="2400" b="0" i="0" dirty="0">
                <a:effectLst/>
                <a:latin typeface="Source Sans Pro" panose="020B0503030403020204" pitchFamily="34" charset="0"/>
              </a:rPr>
              <a:t> Inserir um nome e mostrar a data de nascimento dele, ou “Aluno não encontrado” caso o nome não exista no map.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2453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4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9357070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964" y="1345437"/>
            <a:ext cx="863155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l" fontAlgn="base"/>
            <a:r>
              <a:rPr lang="pt-BR" sz="2400" dirty="0"/>
              <a:t>Faça um programa que leia uma frase e informe o número de ocorrências de cada palavra da frase – Use Map para fazer essa contagem.</a:t>
            </a:r>
            <a:endParaRPr lang="pt-BR" sz="2400" b="0" i="0" dirty="0">
              <a:solidFill>
                <a:srgbClr val="656E7F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1964" y="396061"/>
            <a:ext cx="2453640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pt-BR" spc="-75" dirty="0"/>
              <a:t>Exercício 5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406563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bc641a7-997f-4048-a412-d593c6319208">
      <Terms xmlns="http://schemas.microsoft.com/office/infopath/2007/PartnerControls"/>
    </lcf76f155ced4ddcb4097134ff3c332f>
    <TaxCatchAll xmlns="7e3d2bc7-1e8b-4412-b9e4-2111d76bd9c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3DA578DE33E44E8DD11C312C11F0C0" ma:contentTypeVersion="12" ma:contentTypeDescription="Crie um novo documento." ma:contentTypeScope="" ma:versionID="400a51d3146da8adaf905961ecd9d31a">
  <xsd:schema xmlns:xsd="http://www.w3.org/2001/XMLSchema" xmlns:xs="http://www.w3.org/2001/XMLSchema" xmlns:p="http://schemas.microsoft.com/office/2006/metadata/properties" xmlns:ns2="7bc641a7-997f-4048-a412-d593c6319208" xmlns:ns3="7e3d2bc7-1e8b-4412-b9e4-2111d76bd9c9" targetNamespace="http://schemas.microsoft.com/office/2006/metadata/properties" ma:root="true" ma:fieldsID="24526fc296497c6191b0ecfc68df541b" ns2:_="" ns3:_="">
    <xsd:import namespace="7bc641a7-997f-4048-a412-d593c6319208"/>
    <xsd:import namespace="7e3d2bc7-1e8b-4412-b9e4-2111d76bd9c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c641a7-997f-4048-a412-d593c631920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3d2bc7-1e8b-4412-b9e4-2111d76bd9c9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a9b893d-5a46-44fc-afd2-96a93a4139cb}" ma:internalName="TaxCatchAll" ma:showField="CatchAllData" ma:web="7e3d2bc7-1e8b-4412-b9e4-2111d76bd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33A225-F0A8-4CAF-83BB-BE9A8F02780B}">
  <ds:schemaRefs>
    <ds:schemaRef ds:uri="http://schemas.microsoft.com/office/2006/metadata/properties"/>
    <ds:schemaRef ds:uri="http://schemas.microsoft.com/office/infopath/2007/PartnerControls"/>
    <ds:schemaRef ds:uri="7bc641a7-997f-4048-a412-d593c6319208"/>
    <ds:schemaRef ds:uri="7e3d2bc7-1e8b-4412-b9e4-2111d76bd9c9"/>
  </ds:schemaRefs>
</ds:datastoreItem>
</file>

<file path=customXml/itemProps2.xml><?xml version="1.0" encoding="utf-8"?>
<ds:datastoreItem xmlns:ds="http://schemas.openxmlformats.org/officeDocument/2006/customXml" ds:itemID="{01B4B4EB-E33B-4BFB-83DA-7F87BEF9C5F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2927F-C91B-40D7-8A97-957A290629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c641a7-997f-4048-a412-d593c6319208"/>
    <ds:schemaRef ds:uri="7e3d2bc7-1e8b-4412-b9e4-2111d76bd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2906</TotalTime>
  <Words>5599</Words>
  <Application>Microsoft Office PowerPoint</Application>
  <PresentationFormat>Personalizar</PresentationFormat>
  <Paragraphs>440</Paragraphs>
  <Slides>65</Slides>
  <Notes>1</Notes>
  <HiddenSlides>15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7" baseType="lpstr">
      <vt:lpstr>Arial Unicode MS</vt:lpstr>
      <vt:lpstr>Arial</vt:lpstr>
      <vt:lpstr>Calibri</vt:lpstr>
      <vt:lpstr>Courier</vt:lpstr>
      <vt:lpstr>Courier New</vt:lpstr>
      <vt:lpstr>JetBrains Mono</vt:lpstr>
      <vt:lpstr>Source Sans Pro</vt:lpstr>
      <vt:lpstr>Source Serif Pro</vt:lpstr>
      <vt:lpstr>Symbol</vt:lpstr>
      <vt:lpstr>Tahoma</vt:lpstr>
      <vt:lpstr>Wingdings</vt:lpstr>
      <vt:lpstr>Office Theme</vt:lpstr>
      <vt:lpstr>Apresentação do PowerPoint</vt:lpstr>
      <vt:lpstr>Conteúdo</vt:lpstr>
      <vt:lpstr>Coleções de Objetos</vt:lpstr>
      <vt:lpstr>Coleções de Objetos</vt:lpstr>
      <vt:lpstr>Coleções de Objetos</vt:lpstr>
      <vt:lpstr>Coleções de Objetos</vt:lpstr>
      <vt:lpstr>Coleções de Objetos</vt:lpstr>
      <vt:lpstr>Listas de Objetos</vt:lpstr>
      <vt:lpstr>Listas de Objetos</vt:lpstr>
      <vt:lpstr>Listas de Objetos</vt:lpstr>
      <vt:lpstr>ArrayList e LinkedList</vt:lpstr>
      <vt:lpstr>ArrayList e LinkedList</vt:lpstr>
      <vt:lpstr>ArrayList e LinkedList</vt:lpstr>
      <vt:lpstr>ArrayList e LinkedList</vt:lpstr>
      <vt:lpstr>ArrayList e LinkedList</vt:lpstr>
      <vt:lpstr>ArrayList e LinkedList (percorrer) 4 formas</vt:lpstr>
      <vt:lpstr>Exemplo Classe Pessoa – usada nos próximos exemplos. </vt:lpstr>
      <vt:lpstr>LinkedList  - Percorrer Lista - forma 1</vt:lpstr>
      <vt:lpstr>LinkedList  - Percorrer Lista - forma 2</vt:lpstr>
      <vt:lpstr>LinkedList  - Percorrer Lista - forma 3</vt:lpstr>
      <vt:lpstr>LinkedList  - Interface comparable quando o elemento a comparar é um Integer</vt:lpstr>
      <vt:lpstr>LinkedList  - Interface comparable quando o elemento a comparar é um String</vt:lpstr>
      <vt:lpstr>LinkedList  - Interface comparable</vt:lpstr>
      <vt:lpstr>LinkedList  - Percorrer Lista - forma 3</vt:lpstr>
      <vt:lpstr>LinkedList  - Percorrer Lista - forma 3</vt:lpstr>
      <vt:lpstr>Exercício Lista</vt:lpstr>
      <vt:lpstr>Exercício Lista</vt:lpstr>
      <vt:lpstr>LinkedList – Filas e Pilhas</vt:lpstr>
      <vt:lpstr>LinkedList – Filas e Pilhas</vt:lpstr>
      <vt:lpstr>LinkedList – Fila</vt:lpstr>
      <vt:lpstr>LinkedList – Pilha</vt:lpstr>
      <vt:lpstr>Conjuntos de Objetos</vt:lpstr>
      <vt:lpstr>Conjuntos de Objetos</vt:lpstr>
      <vt:lpstr>HashSet e TreeSet</vt:lpstr>
      <vt:lpstr>HashSet</vt:lpstr>
      <vt:lpstr>TreeSet</vt:lpstr>
      <vt:lpstr>Set Formas de percorrer </vt:lpstr>
      <vt:lpstr>Exercício</vt:lpstr>
      <vt:lpstr>TreeSet da interface SortedSet </vt:lpstr>
      <vt:lpstr>TreeSet</vt:lpstr>
      <vt:lpstr>HashSet e TreeSet</vt:lpstr>
      <vt:lpstr>HashSet e TreeSet</vt:lpstr>
      <vt:lpstr>HashSet e TreeSet</vt:lpstr>
      <vt:lpstr>HashSet e TreeSet</vt:lpstr>
      <vt:lpstr>HashSet e TreeSet</vt:lpstr>
      <vt:lpstr>HashSet e TreeSet</vt:lpstr>
      <vt:lpstr>Mapas de Objetos</vt:lpstr>
      <vt:lpstr>Mapas de Objetos</vt:lpstr>
      <vt:lpstr>Mapas de Objetos</vt:lpstr>
      <vt:lpstr>HashMap e TreeMap</vt:lpstr>
      <vt:lpstr>HashMap e TreeMap</vt:lpstr>
      <vt:lpstr>HashMap e TreeMap</vt:lpstr>
      <vt:lpstr>HashMap e TreeMap</vt:lpstr>
      <vt:lpstr>HashMap e TreeMap</vt:lpstr>
      <vt:lpstr>Percorrer HashMap e TreeMap</vt:lpstr>
      <vt:lpstr>HashMap e TreeMap</vt:lpstr>
      <vt:lpstr>HashMap e TreeMap</vt:lpstr>
      <vt:lpstr>Iteradores de coleções (Iterators)</vt:lpstr>
      <vt:lpstr>Iteradores de coleções (Iterators)</vt:lpstr>
      <vt:lpstr>Exercício 1</vt:lpstr>
      <vt:lpstr>Exercício 2</vt:lpstr>
      <vt:lpstr>Exercício 2 - continuação</vt:lpstr>
      <vt:lpstr>Exercício 3</vt:lpstr>
      <vt:lpstr>Exercício 4</vt:lpstr>
      <vt:lpstr>Exercício 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I</dc:title>
  <dc:creator>Henrique Dias Pastor</dc:creator>
  <cp:lastModifiedBy>HENRIQUE DIAS PASTOR</cp:lastModifiedBy>
  <cp:revision>84</cp:revision>
  <dcterms:created xsi:type="dcterms:W3CDTF">2022-04-14T21:24:56Z</dcterms:created>
  <dcterms:modified xsi:type="dcterms:W3CDTF">2026-08-12T01:23:16Z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2022-04-14T00:00:00Z</vt:filetime>
  </property>
  <property fmtid="{D5CDD505-2E9C-101B-9397-08002B2CF9AE}" pid="3" name="MediaServiceImageTags">
    <vt:lpwstr/>
  </property>
  <property fmtid="{D5CDD505-2E9C-101B-9397-08002B2CF9AE}" pid="4" name="ContentTypeId">
    <vt:lpwstr>0x010100223DA578DE33E44E8DD11C312C11F0C0</vt:lpwstr>
  </property>
</Properties>
</file>